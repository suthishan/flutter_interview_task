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context</c:v>
                </c:pt>
              </c:strCache>
            </c:strRef>
          </c:tx>
          <c:spPr>
            <a:solidFill>
              <a:srgbClr val="D97757"/>
            </a:solidFill>
            <a:effectLst/>
          </c:spPr>
          <c:invertIfNegative val="0"/>
          <c:dLbls>
            <c:numFmt formatCode="0&quot;%&quot;" sourceLinked="0"/>
            <c:txPr>
              <a:bodyPr/>
              <a:lstStyle/>
              <a:p>
                <a:pPr>
                  <a:defRPr b="0" i="0" strike="noStrike" sz="1000" u="none">
                    <a:solidFill>
                      <a:srgbClr val="6E635C"/>
                    </a:solidFill>
                    <a:latin typeface="Calibri"/>
                  </a:defRPr>
                </a:pPr>
              </a:p>
            </c:txPr>
            <c:showLegendKey val="0"/>
            <c:showVal val="1"/>
            <c:showCatName val="0"/>
            <c:showSerName val="0"/>
            <c:showPercent val="0"/>
            <c:showBubbleSize val="0"/>
            <c:showLeaderLines val="0"/>
          </c:dLbls>
          <c:cat>
            <c:multiLvlStrRef>
              <c:f>Sheet1!$A$2:$A$8</c:f>
              <c:multiLvlStrCache>
                <c:ptCount val="7"/>
                <c:lvl>
                  <c:pt idx="0">
                    <c:v>Conversation history</c:v>
                  </c:pt>
                  <c:pt idx="1">
                    <c:v>Files Claude read</c:v>
                  </c:pt>
                  <c:pt idx="2">
                    <c:v>Tool results (tests, logs, git)</c:v>
                  </c:pt>
                  <c:pt idx="3">
                    <c:v>CLAUDE.md, skills, agents</c:v>
                  </c:pt>
                  <c:pt idx="4">
                    <c:v>System prompt + tool schemas</c:v>
                  </c:pt>
                  <c:pt idx="5">
                    <c:v>MCP server definitions</c:v>
                  </c:pt>
                  <c:pt idx="6">
                    <c:v>Your actual prompt</c:v>
                  </c:pt>
                </c:lvl>
              </c:multiLvlStrCache>
            </c:multiLvlStrRef>
          </c:cat>
          <c:val>
            <c:numRef>
              <c:f>Sheet1!$B$2:$B$8</c:f>
              <c:numCache>
                <c:formatCode>General</c:formatCode>
                <c:ptCount val="7"/>
                <c:pt idx="0">
                  <c:v>38</c:v>
                </c:pt>
                <c:pt idx="1">
                  <c:v>24</c:v>
                </c:pt>
                <c:pt idx="2">
                  <c:v>17</c:v>
                </c:pt>
                <c:pt idx="3">
                  <c:v>8</c:v>
                </c:pt>
                <c:pt idx="4">
                  <c:v>6</c:v>
                </c:pt>
                <c:pt idx="5">
                  <c:v>5</c:v>
                </c:pt>
                <c:pt idx="6">
                  <c:v>2</c:v>
                </c:pt>
              </c:numCache>
            </c:numRef>
          </c:val>
        </c:ser>
        <c:dLbls>
          <c:numFmt formatCode="0&quot;%&quot;" sourceLinked="0"/>
          <c:txPr>
            <a:bodyPr/>
            <a:lstStyle/>
            <a:p>
              <a:pPr>
                <a:defRPr b="0" i="0" strike="noStrike" sz="1000" u="none">
                  <a:solidFill>
                    <a:srgbClr val="6E635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C1917"/>
                </a:solidFill>
                <a:latin typeface="Calibri"/>
              </a:defRPr>
            </a:pPr>
            <a:endParaRPr lang="en-US"/>
          </a:p>
        </c:txPr>
        <c:crossAx val="2094734552"/>
        <c:crosses val="autoZero"/>
        <c:auto val="1"/>
        <c:lblAlgn val="ctr"/>
        <c:noMultiLvlLbl val="1"/>
      </c:catAx>
      <c:valAx>
        <c:axId val="2094734552"/>
        <c:scaling>
          <c:orientation val="minMax"/>
          <c:max val="46"/>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AF9F7"/>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One long session, never cleared</c:v>
                </c:pt>
              </c:strCache>
            </c:strRef>
          </c:tx>
          <c:spPr>
            <a:solidFill>
              <a:srgbClr val="A64B2A"/>
            </a:solidFill>
            <a:ln w="38100" cap="flat">
              <a:solidFill>
                <a:srgbClr val="A64B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4B2A"/>
              </a:solidFill>
              <a:ln w="9525" cap="flat">
                <a:solidFill>
                  <a:srgbClr val="A64B2A"/>
                </a:solidFill>
                <a:prstDash val="solid"/>
                <a:round/>
              </a:ln>
              <a:effectLst/>
            </c:spPr>
          </c:marker>
          <c:cat>
            <c:multiLvlStrRef>
              <c:f>Sheet1!$A$2:$A$10</c:f>
              <c:multiLvlStrCache>
                <c:ptCount val="9"/>
                <c:lvl>
                  <c:pt idx="0">
                    <c:v>1</c:v>
                  </c:pt>
                  <c:pt idx="1">
                    <c:v>5</c:v>
                  </c:pt>
                  <c:pt idx="2">
                    <c:v>10</c:v>
                  </c:pt>
                  <c:pt idx="3">
                    <c:v>15</c:v>
                  </c:pt>
                  <c:pt idx="4">
                    <c:v>20</c:v>
                  </c:pt>
                  <c:pt idx="5">
                    <c:v>25</c:v>
                  </c:pt>
                  <c:pt idx="6">
                    <c:v>30</c:v>
                  </c:pt>
                  <c:pt idx="7">
                    <c:v>35</c:v>
                  </c:pt>
                  <c:pt idx="8">
                    <c:v>40</c:v>
                  </c:pt>
                </c:lvl>
              </c:multiLvlStrCache>
            </c:multiLvlStrRef>
          </c:cat>
          <c:val>
            <c:numRef>
              <c:f>Sheet1!$B$2:$B$10</c:f>
              <c:numCache>
                <c:formatCode>General</c:formatCode>
                <c:ptCount val="9"/>
                <c:pt idx="0">
                  <c:v>18</c:v>
                </c:pt>
                <c:pt idx="1">
                  <c:v>46</c:v>
                </c:pt>
                <c:pt idx="2">
                  <c:v>82</c:v>
                </c:pt>
                <c:pt idx="3">
                  <c:v>124</c:v>
                </c:pt>
                <c:pt idx="4">
                  <c:v>171</c:v>
                </c:pt>
                <c:pt idx="5">
                  <c:v>223</c:v>
                </c:pt>
                <c:pt idx="6">
                  <c:v>280</c:v>
                </c:pt>
                <c:pt idx="7">
                  <c:v>342</c:v>
                </c:pt>
                <c:pt idx="8">
                  <c:v>409</c:v>
                </c:pt>
              </c:numCache>
            </c:numRef>
          </c:val>
          <c:smooth val="0"/>
        </c:ser>
        <c:ser>
          <c:idx val="1"/>
          <c:order val="1"/>
          <c:tx>
            <c:strRef>
              <c:f>Sheet1!$C$1</c:f>
              <c:strCache>
                <c:ptCount val="1"/>
                <c:pt idx="0">
                  <c:v>/clear between tasks</c:v>
                </c:pt>
              </c:strCache>
            </c:strRef>
          </c:tx>
          <c:spPr>
            <a:solidFill>
              <a:srgbClr val="4A6B5D"/>
            </a:solidFill>
            <a:ln w="38100" cap="flat">
              <a:solidFill>
                <a:srgbClr val="4A6B5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A6B5D"/>
              </a:solidFill>
              <a:ln w="9525" cap="flat">
                <a:solidFill>
                  <a:srgbClr val="4A6B5D"/>
                </a:solidFill>
                <a:prstDash val="solid"/>
                <a:round/>
              </a:ln>
              <a:effectLst/>
            </c:spPr>
          </c:marker>
          <c:cat>
            <c:multiLvlStrRef>
              <c:f>Sheet1!$A$2:$A$10</c:f>
              <c:multiLvlStrCache>
                <c:ptCount val="9"/>
                <c:lvl>
                  <c:pt idx="0">
                    <c:v>1</c:v>
                  </c:pt>
                  <c:pt idx="1">
                    <c:v>5</c:v>
                  </c:pt>
                  <c:pt idx="2">
                    <c:v>10</c:v>
                  </c:pt>
                  <c:pt idx="3">
                    <c:v>15</c:v>
                  </c:pt>
                  <c:pt idx="4">
                    <c:v>20</c:v>
                  </c:pt>
                  <c:pt idx="5">
                    <c:v>25</c:v>
                  </c:pt>
                  <c:pt idx="6">
                    <c:v>30</c:v>
                  </c:pt>
                  <c:pt idx="7">
                    <c:v>35</c:v>
                  </c:pt>
                  <c:pt idx="8">
                    <c:v>40</c:v>
                  </c:pt>
                </c:lvl>
              </c:multiLvlStrCache>
            </c:multiLvlStrRef>
          </c:cat>
          <c:val>
            <c:numRef>
              <c:f>Sheet1!$C$2:$C$10</c:f>
              <c:numCache>
                <c:formatCode>General</c:formatCode>
                <c:ptCount val="9"/>
                <c:pt idx="0">
                  <c:v>18</c:v>
                </c:pt>
                <c:pt idx="1">
                  <c:v>46</c:v>
                </c:pt>
                <c:pt idx="2">
                  <c:v>82</c:v>
                </c:pt>
                <c:pt idx="3">
                  <c:v>22</c:v>
                </c:pt>
                <c:pt idx="4">
                  <c:v>58</c:v>
                </c:pt>
                <c:pt idx="5">
                  <c:v>96</c:v>
                </c:pt>
                <c:pt idx="6">
                  <c:v>30</c:v>
                </c:pt>
                <c:pt idx="7">
                  <c:v>66</c:v>
                </c:pt>
                <c:pt idx="8">
                  <c:v>104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E635C"/>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0DA"/>
              </a:solidFill>
              <a:prstDash val="solid"/>
              <a:round/>
            </a:ln>
          </c:spPr>
        </c:majorGridlines>
        <c:title>
          <c:tx>
            <c:rich>
              <a:bodyPr/>
              <a:lstStyle/>
              <a:p>
                <a:pPr>
                  <a:defRPr sz="1000" b="0" i="0" u="none" strike="noStrike">
                    <a:solidFill>
                      <a:srgbClr val="6E635C"/>
                    </a:solidFill>
                    <a:latin typeface="Calibri"/>
                  </a:defRPr>
                </a:pPr>
                <a:r>
                  <a:rPr sz="1000" b="0" i="0" u="none" strike="noStrike">
                    <a:solidFill>
                      <a:srgbClr val="6E635C"/>
                    </a:solidFill>
                    <a:latin typeface="Calibri"/>
                  </a:rPr>
                  <a:t>Thousands of tokens per turn</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6E635C"/>
                </a:solidFill>
                <a:latin typeface="Calibri"/>
              </a:defRPr>
            </a:pPr>
            <a:endParaRPr lang="en-US"/>
          </a:p>
        </c:txPr>
        <c:crossAx val="2094734554"/>
        <c:crosses val="autoZero"/>
        <c:crossBetween val="between"/>
      </c:valAx>
      <c:spPr>
        <a:solidFill>
          <a:srgbClr val="FAF9F7"/>
        </a:solidFill>
        <a:ln>
          <a:noFill/>
        </a:ln>
        <a:effectLst/>
      </c:spPr>
    </c:plotArea>
    <c:legend>
      <c:legendPos val="t"/>
      <c:overlay val="0"/>
      <c:txPr>
        <a:bodyPr/>
        <a:lstStyle/>
        <a:p>
          <a:pPr>
            <a:defRPr sz="1100">
              <a:solidFill>
                <a:srgbClr val="6E635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Relative capacity</c:v>
                </c:pt>
              </c:strCache>
            </c:strRef>
          </c:tx>
          <c:spPr>
            <a:solidFill>
              <a:srgbClr val="4A6B5D"/>
            </a:solidFill>
            <a:effectLst/>
          </c:spPr>
          <c:invertIfNegative val="0"/>
          <c:dLbls>
            <c:numFmt formatCode="0.##&quot;×&quot;" sourceLinked="0"/>
            <c:txPr>
              <a:bodyPr/>
              <a:lstStyle/>
              <a:p>
                <a:pPr>
                  <a:defRPr b="1" i="0" strike="noStrike" sz="1200" u="none">
                    <a:solidFill>
                      <a:srgbClr val="1C1917"/>
                    </a:solidFill>
                    <a:latin typeface="Calibri"/>
                  </a:defRPr>
                </a:pPr>
              </a:p>
            </c:txPr>
            <c:showLegendKey val="0"/>
            <c:showVal val="1"/>
            <c:showCatName val="0"/>
            <c:showSerName val="0"/>
            <c:showPercent val="0"/>
            <c:showBubbleSize val="0"/>
            <c:showLeaderLines val="0"/>
          </c:dLbls>
          <c:dPt>
            <c:idx val="0"/>
            <c:invertIfNegative val="0"/>
            <c:bubble3D val="0"/>
            <c:spPr>
              <a:solidFill>
                <a:srgbClr val="4A6B5D"/>
              </a:solidFill>
              <a:effectLst/>
            </c:spPr>
          </c:dPt>
          <c:dPt>
            <c:idx val="1"/>
            <c:invertIfNegative val="0"/>
            <c:bubble3D val="0"/>
            <c:spPr>
              <a:solidFill>
                <a:srgbClr val="4A6B5D"/>
              </a:solidFill>
              <a:effectLst/>
            </c:spPr>
          </c:dPt>
          <c:dPt>
            <c:idx val="2"/>
            <c:invertIfNegative val="0"/>
            <c:bubble3D val="0"/>
            <c:spPr>
              <a:solidFill>
                <a:srgbClr val="D97757"/>
              </a:solidFill>
              <a:effectLst/>
            </c:spPr>
          </c:dPt>
          <c:dPt>
            <c:idx val="3"/>
            <c:invertIfNegative val="0"/>
            <c:bubble3D val="0"/>
            <c:spPr>
              <a:solidFill>
                <a:srgbClr val="D97757"/>
              </a:solidFill>
              <a:effectLst/>
            </c:spPr>
          </c:dPt>
          <c:dPt>
            <c:idx val="4"/>
            <c:invertIfNegative val="0"/>
            <c:bubble3D val="0"/>
            <c:spPr>
              <a:solidFill>
                <a:srgbClr val="A64B2A"/>
              </a:solidFill>
              <a:effectLst/>
            </c:spPr>
          </c:dPt>
          <c:cat>
            <c:multiLvlStrRef>
              <c:f>Sheet1!$A$2:$A$6</c:f>
              <c:multiLvlStrCache>
                <c:ptCount val="5"/>
                <c:lvl>
                  <c:pt idx="0">
                    <c:v>Pro</c:v>
                  </c:pt>
                  <c:pt idx="1">
                    <c:v>Team
Standard</c:v>
                  </c:pt>
                  <c:pt idx="2">
                    <c:v>Max 5×</c:v>
                  </c:pt>
                  <c:pt idx="3">
                    <c:v>Team
Premium</c:v>
                  </c:pt>
                  <c:pt idx="4">
                    <c:v>Max 20×</c:v>
                  </c:pt>
                </c:lvl>
              </c:multiLvlStrCache>
            </c:multiLvlStrRef>
          </c:cat>
          <c:val>
            <c:numRef>
              <c:f>Sheet1!$B$2:$B$6</c:f>
              <c:numCache>
                <c:formatCode>General</c:formatCode>
                <c:ptCount val="5"/>
                <c:pt idx="0">
                  <c:v>1</c:v>
                </c:pt>
                <c:pt idx="1">
                  <c:v>1.25</c:v>
                </c:pt>
                <c:pt idx="2">
                  <c:v>5</c:v>
                </c:pt>
                <c:pt idx="3">
                  <c:v>6.25</c:v>
                </c:pt>
                <c:pt idx="4">
                  <c:v>10</c:v>
                </c:pt>
              </c:numCache>
            </c:numRef>
          </c:val>
        </c:ser>
        <c:dLbls>
          <c:numFmt formatCode="0.##&quot;×&quot;" sourceLinked="0"/>
          <c:txPr>
            <a:bodyPr/>
            <a:lstStyle/>
            <a:p>
              <a:pPr>
                <a:defRPr b="1" i="0" strike="noStrike" sz="1200" u="none">
                  <a:solidFill>
                    <a:srgbClr val="1C1917"/>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C1917"/>
                </a:solidFill>
                <a:latin typeface="Calibri"/>
              </a:defRPr>
            </a:pPr>
            <a:endParaRPr lang="en-US"/>
          </a:p>
        </c:txPr>
        <c:crossAx val="2094734552"/>
        <c:crosses val="autoZero"/>
        <c:auto val="1"/>
        <c:lblAlgn val="ctr"/>
        <c:noMultiLvlLbl val="1"/>
      </c:catAx>
      <c:valAx>
        <c:axId val="2094734552"/>
        <c:scaling>
          <c:orientation val="minMax"/>
          <c:max val="11.5"/>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AF9F7"/>
        </a:solid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Input</c:v>
                </c:pt>
              </c:strCache>
            </c:strRef>
          </c:tx>
          <c:spPr>
            <a:solidFill>
              <a:srgbClr val="4A6B5D"/>
            </a:solidFill>
            <a:effectLst/>
          </c:spPr>
          <c:invertIfNegative val="0"/>
          <c:dLbls>
            <c:numFmt formatCode="&quot;$&quot;0" sourceLinked="0"/>
            <c:txPr>
              <a:bodyPr/>
              <a:lstStyle/>
              <a:p>
                <a:pPr>
                  <a:defRPr b="0" i="0" strike="noStrike" sz="1100" u="none">
                    <a:solidFill>
                      <a:srgbClr val="1C191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Opus 5</c:v>
                  </c:pt>
                  <c:pt idx="1">
                    <c:v>Sonnet 5</c:v>
                  </c:pt>
                  <c:pt idx="2">
                    <c:v>Haiku 4.5</c:v>
                  </c:pt>
                </c:lvl>
              </c:multiLvlStrCache>
            </c:multiLvlStrRef>
          </c:cat>
          <c:val>
            <c:numRef>
              <c:f>Sheet1!$B$2:$B$4</c:f>
              <c:numCache>
                <c:formatCode>General</c:formatCode>
                <c:ptCount val="3"/>
                <c:pt idx="0">
                  <c:v>5</c:v>
                </c:pt>
                <c:pt idx="1">
                  <c:v>2</c:v>
                </c:pt>
                <c:pt idx="2">
                  <c:v>1</c:v>
                </c:pt>
              </c:numCache>
            </c:numRef>
          </c:val>
        </c:ser>
        <c:ser>
          <c:idx val="1"/>
          <c:order val="1"/>
          <c:tx>
            <c:strRef>
              <c:f>Sheet1!$C$1</c:f>
              <c:strCache>
                <c:ptCount val="1"/>
                <c:pt idx="0">
                  <c:v>Output</c:v>
                </c:pt>
              </c:strCache>
            </c:strRef>
          </c:tx>
          <c:spPr>
            <a:solidFill>
              <a:srgbClr val="D97757"/>
            </a:solidFill>
            <a:effectLst/>
          </c:spPr>
          <c:invertIfNegative val="0"/>
          <c:dLbls>
            <c:numFmt formatCode="&quot;$&quot;0" sourceLinked="0"/>
            <c:txPr>
              <a:bodyPr/>
              <a:lstStyle/>
              <a:p>
                <a:pPr>
                  <a:defRPr b="0" i="0" strike="noStrike" sz="1100" u="none">
                    <a:solidFill>
                      <a:srgbClr val="1C191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Opus 5</c:v>
                  </c:pt>
                  <c:pt idx="1">
                    <c:v>Sonnet 5</c:v>
                  </c:pt>
                  <c:pt idx="2">
                    <c:v>Haiku 4.5</c:v>
                  </c:pt>
                </c:lvl>
              </c:multiLvlStrCache>
            </c:multiLvlStrRef>
          </c:cat>
          <c:val>
            <c:numRef>
              <c:f>Sheet1!$C$2:$C$4</c:f>
              <c:numCache>
                <c:formatCode>General</c:formatCode>
                <c:ptCount val="3"/>
                <c:pt idx="0">
                  <c:v>25</c:v>
                </c:pt>
                <c:pt idx="1">
                  <c:v>10</c:v>
                </c:pt>
                <c:pt idx="2">
                  <c:v>5</c:v>
                </c:pt>
              </c:numCache>
            </c:numRef>
          </c:val>
        </c:ser>
        <c:dLbls>
          <c:numFmt formatCode="&quot;$&quot;0" sourceLinked="0"/>
          <c:txPr>
            <a:bodyPr/>
            <a:lstStyle/>
            <a:p>
              <a:pPr>
                <a:defRPr b="0" i="0" strike="noStrike" sz="1100" u="none">
                  <a:solidFill>
                    <a:srgbClr val="1C1917"/>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C1917"/>
                </a:solidFill>
                <a:latin typeface="Calibri"/>
              </a:defRPr>
            </a:pPr>
            <a:endParaRPr lang="en-US"/>
          </a:p>
        </c:txPr>
        <c:crossAx val="2094734552"/>
        <c:crosses val="autoZero"/>
        <c:auto val="1"/>
        <c:lblAlgn val="ctr"/>
        <c:noMultiLvlLbl val="1"/>
      </c:catAx>
      <c:valAx>
        <c:axId val="2094734552"/>
        <c:scaling>
          <c:orientation val="minMax"/>
          <c:max val="29"/>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AF9F7"/>
        </a:solidFill>
        <a:ln>
          <a:noFill/>
        </a:ln>
        <a:effectLst/>
      </c:spPr>
    </c:plotArea>
    <c:legend>
      <c:legendPos val="t"/>
      <c:overlay val="0"/>
      <c:txPr>
        <a:bodyPr/>
        <a:lstStyle/>
        <a:p>
          <a:pPr>
            <a:defRPr sz="1100">
              <a:solidFill>
                <a:srgbClr val="6E635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session: move from ad-hoc use of Claude to a repeatable working method. Six parts: tokens, plan limits, prompting, code sessions, testing, and SAP-specific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are independent — you can revisit any one of them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Anchoring the deck in the real project makes every later example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people only remember one section, make it this one — it explains the behaviour of every other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'resent every turn' point is the single most useful idea in the deck. Everything about /clear, /compact and caching follows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Cache read is the reason a warm session is cheap and a cold restart is expensive. On a subscription the cache stays warm for an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MCP tool definitions are deferred by default now, so the cost is mostly names and instructions, not full schemas.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/compact summarises and keeps continuity but is itself a large request; /clear is free. Use /rename before clearing so you can /resume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common misconception early: paying more does not give you a smarter Claude, it gives you more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seats can be mixed: standard for functional consultants, premium for the ABAP and Flutter 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upgrade decision as a diagnosis, not a default: check whether the ceiling or the habit is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Distinguishing a model limit from a plan limit saves a lot of wasted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Pro or Max subscription these dollar figures are informational only — the /usage session cost is not what you are billed.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closing point: the discipline is the same, premium just makes a bad day survivable rather than fatal.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recurring theme: you are not writing a search query, you are writing a brief for a capable new colleague.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is the one most often skipped and the most valuable in a code session — naming files stops Claude searching.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'tell me where it is wrong, then fix it' shape is worth calling out — you get a checkpoint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3 is the highest-leverage habit for reducing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the mental model from 'chatbot' to 'pair working in your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mode is the highest-return habit for anyone new to Claude Code — it prevents expensive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run /context once — most people are surprised by how little of it is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everyone to run /init in their own repo this week — it drafts the file from the codebase and you edit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is entirely in how the request is framed — this section shows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 is untestable' question consistently surfaces design smells worth fixing.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'Write these as failing Flutter tests, confirm they fail, and only then change lib/ to make them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honestly up front: this accelerates the paperwork and the code, it does not read your client's SPRO.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consultant remains accountable. Claude removes blank-page time, not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saving the ones that work as custom slash commands or skills so the whole team reuses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review use case for ABAP — reviewing existing code is often higher value than generating new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abapGit is the practical unlock — without a repository Claude Code is working blind on ABAP.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organisation has an AI usage policy, this is the slide to replace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 reviewing progress at the end of the month with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each person to name the one habit they will start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8732520" y="-1371600"/>
            <a:ext cx="5669280" cy="5669280"/>
          </a:xfrm>
          <a:prstGeom prst="ellipse">
            <a:avLst/>
          </a:prstGeom>
          <a:solidFill>
            <a:srgbClr val="2B2320"/>
          </a:solidFill>
          <a:ln/>
        </p:spPr>
      </p:sp>
      <p:sp>
        <p:nvSpPr>
          <p:cNvPr id="3" name="Shape 1"/>
          <p:cNvSpPr/>
          <p:nvPr/>
        </p:nvSpPr>
        <p:spPr>
          <a:xfrm>
            <a:off x="10149840" y="4160520"/>
            <a:ext cx="3108960" cy="3108960"/>
          </a:xfrm>
          <a:prstGeom prst="ellipse">
            <a:avLst/>
          </a:prstGeom>
          <a:solidFill>
            <a:srgbClr val="A64B2A"/>
          </a:solidFill>
          <a:ln/>
        </p:spPr>
      </p:sp>
      <p:sp>
        <p:nvSpPr>
          <p:cNvPr id="4" name="Text 2"/>
          <p:cNvSpPr txBox="1"/>
          <p:nvPr/>
        </p:nvSpPr>
        <p:spPr>
          <a:xfrm>
            <a:off x="566928" y="1481328"/>
            <a:ext cx="7680960" cy="274320"/>
          </a:xfrm>
          <a:prstGeom prst="rect">
            <a:avLst/>
          </a:prstGeom>
          <a:noFill/>
          <a:ln/>
        </p:spPr>
        <p:txBody>
          <a:bodyPr wrap="square" lIns="0" tIns="0" rIns="0" bIns="0" rtlCol="0" anchor="ctr"/>
          <a:lstStyle/>
          <a:p>
            <a:pPr indent="0" marL="0">
              <a:buNone/>
            </a:pPr>
            <a:r>
              <a:rPr lang="en-US" sz="1150" b="1" spc="260" kern="0" dirty="0">
                <a:solidFill>
                  <a:srgbClr val="D97757"/>
                </a:solidFill>
                <a:latin typeface="Calibri" pitchFamily="34" charset="0"/>
                <a:ea typeface="Calibri" pitchFamily="34" charset="-122"/>
                <a:cs typeface="Calibri" pitchFamily="34" charset="-120"/>
              </a:rPr>
              <a:t>A PRACTICAL WORKING GUIDE</a:t>
            </a:r>
            <a:endParaRPr lang="en-US" sz="1150" dirty="0"/>
          </a:p>
        </p:txBody>
      </p:sp>
      <p:sp>
        <p:nvSpPr>
          <p:cNvPr id="5" name="Text 3"/>
          <p:cNvSpPr txBox="1"/>
          <p:nvPr/>
        </p:nvSpPr>
        <p:spPr>
          <a:xfrm>
            <a:off x="566928" y="1847088"/>
            <a:ext cx="7863840" cy="1737360"/>
          </a:xfrm>
          <a:prstGeom prst="rect">
            <a:avLst/>
          </a:prstGeom>
          <a:noFill/>
          <a:ln/>
        </p:spPr>
        <p:txBody>
          <a:bodyPr wrap="square" lIns="0" tIns="0" rIns="0" bIns="0" rtlCol="0" anchor="ctr"/>
          <a:lstStyle/>
          <a:p>
            <a:pPr indent="0" marL="0">
              <a:lnSpc>
                <a:spcPts val="5200"/>
              </a:lnSpc>
              <a:buNone/>
            </a:pPr>
            <a:r>
              <a:rPr lang="en-US" sz="4600" b="1" dirty="0">
                <a:solidFill>
                  <a:srgbClr val="FAF9F7"/>
                </a:solidFill>
                <a:latin typeface="Cambria" pitchFamily="34" charset="0"/>
                <a:ea typeface="Cambria" pitchFamily="34" charset="-122"/>
                <a:cs typeface="Cambria" pitchFamily="34" charset="-120"/>
              </a:rPr>
              <a:t>Working with Claude</a:t>
            </a:r>
            <a:endParaRPr lang="en-US" sz="4600" dirty="0"/>
          </a:p>
          <a:p>
            <a:pPr indent="0" marL="0">
              <a:lnSpc>
                <a:spcPts val="5200"/>
              </a:lnSpc>
              <a:buNone/>
            </a:pPr>
            <a:r>
              <a:rPr lang="en-US" sz="4600" b="1" dirty="0">
                <a:solidFill>
                  <a:srgbClr val="FAF9F7"/>
                </a:solidFill>
                <a:latin typeface="Cambria" pitchFamily="34" charset="0"/>
                <a:ea typeface="Cambria" pitchFamily="34" charset="-122"/>
                <a:cs typeface="Cambria" pitchFamily="34" charset="-120"/>
              </a:rPr>
              <a:t>and Claude Code</a:t>
            </a:r>
            <a:endParaRPr lang="en-US" sz="4600" dirty="0"/>
          </a:p>
        </p:txBody>
      </p:sp>
      <p:sp>
        <p:nvSpPr>
          <p:cNvPr id="6" name="Text 4"/>
          <p:cNvSpPr txBox="1"/>
          <p:nvPr/>
        </p:nvSpPr>
        <p:spPr>
          <a:xfrm>
            <a:off x="566928" y="3675888"/>
            <a:ext cx="7863840" cy="822960"/>
          </a:xfrm>
          <a:prstGeom prst="rect">
            <a:avLst/>
          </a:prstGeom>
          <a:noFill/>
          <a:ln/>
        </p:spPr>
        <p:txBody>
          <a:bodyPr wrap="square" lIns="0" tIns="0" rIns="0" bIns="0" rtlCol="0" anchor="ctr"/>
          <a:lstStyle/>
          <a:p>
            <a:pPr indent="0" marL="0">
              <a:lnSpc>
                <a:spcPts val="2400"/>
              </a:lnSpc>
              <a:buNone/>
            </a:pPr>
            <a:r>
              <a:rPr lang="en-US" sz="1500" dirty="0">
                <a:solidFill>
                  <a:srgbClr val="B8ADA6"/>
                </a:solidFill>
                <a:latin typeface="Calibri" pitchFamily="34" charset="0"/>
                <a:ea typeface="Calibri" pitchFamily="34" charset="-122"/>
                <a:cs typeface="Calibri" pitchFamily="34" charset="-120"/>
              </a:rPr>
              <a:t>Tokens · plan limits · prompting · code sessions · testing</a:t>
            </a:r>
            <a:endParaRPr lang="en-US" sz="1500" dirty="0"/>
          </a:p>
          <a:p>
            <a:pPr indent="0" marL="0">
              <a:lnSpc>
                <a:spcPts val="2400"/>
              </a:lnSpc>
              <a:buNone/>
            </a:pPr>
            <a:r>
              <a:rPr lang="en-US" sz="1500" dirty="0">
                <a:solidFill>
                  <a:srgbClr val="B8ADA6"/>
                </a:solidFill>
                <a:latin typeface="Calibri" pitchFamily="34" charset="0"/>
                <a:ea typeface="Calibri" pitchFamily="34" charset="-122"/>
                <a:cs typeface="Calibri" pitchFamily="34" charset="-120"/>
              </a:rPr>
              <a:t>SAP functional work · ABAP, BTP and OData services</a:t>
            </a:r>
            <a:endParaRPr lang="en-US" sz="1500" dirty="0"/>
          </a:p>
        </p:txBody>
      </p:sp>
      <p:sp>
        <p:nvSpPr>
          <p:cNvPr id="7" name="Shape 5"/>
          <p:cNvSpPr/>
          <p:nvPr/>
        </p:nvSpPr>
        <p:spPr>
          <a:xfrm>
            <a:off x="566928" y="4828032"/>
            <a:ext cx="2788920" cy="45720"/>
          </a:xfrm>
          <a:prstGeom prst="roundRect">
            <a:avLst>
              <a:gd name="adj" fmla="val 40000"/>
            </a:avLst>
          </a:prstGeom>
          <a:solidFill>
            <a:srgbClr val="D97757"/>
          </a:solidFill>
          <a:ln/>
        </p:spPr>
      </p:sp>
      <p:sp>
        <p:nvSpPr>
          <p:cNvPr id="8" name="Text 6"/>
          <p:cNvSpPr txBox="1"/>
          <p:nvPr/>
        </p:nvSpPr>
        <p:spPr>
          <a:xfrm>
            <a:off x="566928" y="5047488"/>
            <a:ext cx="7863840" cy="274320"/>
          </a:xfrm>
          <a:prstGeom prst="rect">
            <a:avLst/>
          </a:prstGeom>
          <a:noFill/>
          <a:ln/>
        </p:spPr>
        <p:txBody>
          <a:bodyPr wrap="square" lIns="0" tIns="0" rIns="0" bIns="0" rtlCol="0" anchor="ctr"/>
          <a:lstStyle/>
          <a:p>
            <a:pPr indent="0" marL="0">
              <a:buNone/>
            </a:pPr>
            <a:r>
              <a:rPr lang="en-US" sz="1200" dirty="0">
                <a:solidFill>
                  <a:srgbClr val="8A7E77"/>
                </a:solidFill>
                <a:latin typeface="Calibri" pitchFamily="34" charset="0"/>
                <a:ea typeface="Calibri" pitchFamily="34" charset="-122"/>
                <a:cs typeface="Calibri" pitchFamily="34" charset="-120"/>
              </a:rPr>
              <a:t>Prepared for Suthishan  ·  31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WHAT WE WILL COVER</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Six parts, six habits to take away</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Each section ends with something you can apply the same day.</a:t>
            </a:r>
            <a:endParaRPr lang="en-US" sz="1350" dirty="0"/>
          </a:p>
        </p:txBody>
      </p:sp>
      <p:sp>
        <p:nvSpPr>
          <p:cNvPr id="5" name="Shape 3"/>
          <p:cNvSpPr/>
          <p:nvPr/>
        </p:nvSpPr>
        <p:spPr>
          <a:xfrm>
            <a:off x="566928" y="1792224"/>
            <a:ext cx="3478682" cy="1993392"/>
          </a:xfrm>
          <a:prstGeom prst="roundRect">
            <a:avLst>
              <a:gd name="adj" fmla="val 4128"/>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804672" y="2029968"/>
            <a:ext cx="457200" cy="457200"/>
          </a:xfrm>
          <a:prstGeom prst="ellipse">
            <a:avLst/>
          </a:prstGeom>
          <a:solidFill>
            <a:srgbClr val="D97757"/>
          </a:solidFill>
          <a:ln w="12700">
            <a:solidFill>
              <a:srgbClr val="D97757"/>
            </a:solidFill>
            <a:prstDash val="solid"/>
          </a:ln>
        </p:spPr>
      </p:sp>
      <p:sp>
        <p:nvSpPr>
          <p:cNvPr id="7" name="Text 5"/>
          <p:cNvSpPr txBox="1"/>
          <p:nvPr/>
        </p:nvSpPr>
        <p:spPr>
          <a:xfrm>
            <a:off x="804672" y="20299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txBox="1"/>
          <p:nvPr/>
        </p:nvSpPr>
        <p:spPr>
          <a:xfrm>
            <a:off x="804672" y="2578608"/>
            <a:ext cx="3003194" cy="274320"/>
          </a:xfrm>
          <a:prstGeom prst="rect">
            <a:avLst/>
          </a:prstGeom>
          <a:noFill/>
          <a:ln/>
        </p:spPr>
        <p:txBody>
          <a:bodyPr wrap="square" lIns="0" tIns="0" rIns="0" bIns="0" rtlCol="0" anchor="ctr"/>
          <a:lstStyle/>
          <a:p>
            <a:pPr indent="0" marL="0">
              <a:buNone/>
            </a:pPr>
            <a:r>
              <a:rPr lang="en-US" sz="1500" b="1" dirty="0">
                <a:solidFill>
                  <a:srgbClr val="1C1917"/>
                </a:solidFill>
                <a:latin typeface="Calibri" pitchFamily="34" charset="0"/>
                <a:ea typeface="Calibri" pitchFamily="34" charset="-122"/>
                <a:cs typeface="Calibri" pitchFamily="34" charset="-120"/>
              </a:rPr>
              <a:t>Tokens</a:t>
            </a:r>
            <a:endParaRPr lang="en-US" sz="1500" dirty="0"/>
          </a:p>
        </p:txBody>
      </p:sp>
      <p:sp>
        <p:nvSpPr>
          <p:cNvPr id="9" name="Text 7"/>
          <p:cNvSpPr txBox="1"/>
          <p:nvPr/>
        </p:nvSpPr>
        <p:spPr>
          <a:xfrm>
            <a:off x="804672" y="2862072"/>
            <a:ext cx="3003194" cy="530352"/>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What they are, the four kinds you pay for, and what silently fills your context.</a:t>
            </a:r>
            <a:endParaRPr lang="en-US" sz="1150" dirty="0"/>
          </a:p>
        </p:txBody>
      </p:sp>
      <p:sp>
        <p:nvSpPr>
          <p:cNvPr id="10" name="Shape 8"/>
          <p:cNvSpPr/>
          <p:nvPr/>
        </p:nvSpPr>
        <p:spPr>
          <a:xfrm>
            <a:off x="4356506" y="1792224"/>
            <a:ext cx="3478682" cy="1993392"/>
          </a:xfrm>
          <a:prstGeom prst="roundRect">
            <a:avLst>
              <a:gd name="adj" fmla="val 4128"/>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1" name="Shape 9"/>
          <p:cNvSpPr/>
          <p:nvPr/>
        </p:nvSpPr>
        <p:spPr>
          <a:xfrm>
            <a:off x="4594250" y="2029968"/>
            <a:ext cx="457200" cy="457200"/>
          </a:xfrm>
          <a:prstGeom prst="ellipse">
            <a:avLst/>
          </a:prstGeom>
          <a:solidFill>
            <a:srgbClr val="D97757"/>
          </a:solidFill>
          <a:ln w="12700">
            <a:solidFill>
              <a:srgbClr val="D97757"/>
            </a:solidFill>
            <a:prstDash val="solid"/>
          </a:ln>
        </p:spPr>
      </p:sp>
      <p:sp>
        <p:nvSpPr>
          <p:cNvPr id="12" name="Text 10"/>
          <p:cNvSpPr txBox="1"/>
          <p:nvPr/>
        </p:nvSpPr>
        <p:spPr>
          <a:xfrm>
            <a:off x="4594250" y="20299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1"/>
          <p:cNvSpPr txBox="1"/>
          <p:nvPr/>
        </p:nvSpPr>
        <p:spPr>
          <a:xfrm>
            <a:off x="4594250" y="2578608"/>
            <a:ext cx="3003194" cy="274320"/>
          </a:xfrm>
          <a:prstGeom prst="rect">
            <a:avLst/>
          </a:prstGeom>
          <a:noFill/>
          <a:ln/>
        </p:spPr>
        <p:txBody>
          <a:bodyPr wrap="square" lIns="0" tIns="0" rIns="0" bIns="0" rtlCol="0" anchor="ctr"/>
          <a:lstStyle/>
          <a:p>
            <a:pPr indent="0" marL="0">
              <a:buNone/>
            </a:pPr>
            <a:r>
              <a:rPr lang="en-US" sz="1500" b="1" dirty="0">
                <a:solidFill>
                  <a:srgbClr val="1C1917"/>
                </a:solidFill>
                <a:latin typeface="Calibri" pitchFamily="34" charset="0"/>
                <a:ea typeface="Calibri" pitchFamily="34" charset="-122"/>
                <a:cs typeface="Calibri" pitchFamily="34" charset="-120"/>
              </a:rPr>
              <a:t>Standard vs premium</a:t>
            </a:r>
            <a:endParaRPr lang="en-US" sz="1500" dirty="0"/>
          </a:p>
        </p:txBody>
      </p:sp>
      <p:sp>
        <p:nvSpPr>
          <p:cNvPr id="14" name="Text 12"/>
          <p:cNvSpPr txBox="1"/>
          <p:nvPr/>
        </p:nvSpPr>
        <p:spPr>
          <a:xfrm>
            <a:off x="4594250" y="2862072"/>
            <a:ext cx="3003194" cy="530352"/>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How the five-hour and weekly windows work, and what more capacity actually buys.</a:t>
            </a:r>
            <a:endParaRPr lang="en-US" sz="1150" dirty="0"/>
          </a:p>
        </p:txBody>
      </p:sp>
      <p:sp>
        <p:nvSpPr>
          <p:cNvPr id="15" name="Shape 13"/>
          <p:cNvSpPr/>
          <p:nvPr/>
        </p:nvSpPr>
        <p:spPr>
          <a:xfrm>
            <a:off x="8146085" y="1792224"/>
            <a:ext cx="3478682" cy="1993392"/>
          </a:xfrm>
          <a:prstGeom prst="roundRect">
            <a:avLst>
              <a:gd name="adj" fmla="val 4128"/>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6" name="Shape 14"/>
          <p:cNvSpPr/>
          <p:nvPr/>
        </p:nvSpPr>
        <p:spPr>
          <a:xfrm>
            <a:off x="8383829" y="2029968"/>
            <a:ext cx="457200" cy="457200"/>
          </a:xfrm>
          <a:prstGeom prst="ellipse">
            <a:avLst/>
          </a:prstGeom>
          <a:solidFill>
            <a:srgbClr val="D97757"/>
          </a:solidFill>
          <a:ln w="12700">
            <a:solidFill>
              <a:srgbClr val="D97757"/>
            </a:solidFill>
            <a:prstDash val="solid"/>
          </a:ln>
        </p:spPr>
      </p:sp>
      <p:sp>
        <p:nvSpPr>
          <p:cNvPr id="17" name="Text 15"/>
          <p:cNvSpPr txBox="1"/>
          <p:nvPr/>
        </p:nvSpPr>
        <p:spPr>
          <a:xfrm>
            <a:off x="8383829" y="20299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8" name="Text 16"/>
          <p:cNvSpPr txBox="1"/>
          <p:nvPr/>
        </p:nvSpPr>
        <p:spPr>
          <a:xfrm>
            <a:off x="8383829" y="2578608"/>
            <a:ext cx="3003194" cy="274320"/>
          </a:xfrm>
          <a:prstGeom prst="rect">
            <a:avLst/>
          </a:prstGeom>
          <a:noFill/>
          <a:ln/>
        </p:spPr>
        <p:txBody>
          <a:bodyPr wrap="square" lIns="0" tIns="0" rIns="0" bIns="0" rtlCol="0" anchor="ctr"/>
          <a:lstStyle/>
          <a:p>
            <a:pPr indent="0" marL="0">
              <a:buNone/>
            </a:pPr>
            <a:r>
              <a:rPr lang="en-US" sz="1500" b="1" dirty="0">
                <a:solidFill>
                  <a:srgbClr val="1C1917"/>
                </a:solidFill>
                <a:latin typeface="Calibri" pitchFamily="34" charset="0"/>
                <a:ea typeface="Calibri" pitchFamily="34" charset="-122"/>
                <a:cs typeface="Calibri" pitchFamily="34" charset="-120"/>
              </a:rPr>
              <a:t>Prompting</a:t>
            </a:r>
            <a:endParaRPr lang="en-US" sz="1500" dirty="0"/>
          </a:p>
        </p:txBody>
      </p:sp>
      <p:sp>
        <p:nvSpPr>
          <p:cNvPr id="19" name="Text 17"/>
          <p:cNvSpPr txBox="1"/>
          <p:nvPr/>
        </p:nvSpPr>
        <p:spPr>
          <a:xfrm>
            <a:off x="8383829" y="2862072"/>
            <a:ext cx="3003194" cy="530352"/>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The five-part prompt, and the patterns that beat one-line requests.</a:t>
            </a:r>
            <a:endParaRPr lang="en-US" sz="1150" dirty="0"/>
          </a:p>
        </p:txBody>
      </p:sp>
      <p:sp>
        <p:nvSpPr>
          <p:cNvPr id="20" name="Shape 18"/>
          <p:cNvSpPr/>
          <p:nvPr/>
        </p:nvSpPr>
        <p:spPr>
          <a:xfrm>
            <a:off x="566928" y="4114800"/>
            <a:ext cx="3478682" cy="1993392"/>
          </a:xfrm>
          <a:prstGeom prst="roundRect">
            <a:avLst>
              <a:gd name="adj" fmla="val 4128"/>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1" name="Shape 19"/>
          <p:cNvSpPr/>
          <p:nvPr/>
        </p:nvSpPr>
        <p:spPr>
          <a:xfrm>
            <a:off x="804672" y="4352544"/>
            <a:ext cx="457200" cy="457200"/>
          </a:xfrm>
          <a:prstGeom prst="ellipse">
            <a:avLst/>
          </a:prstGeom>
          <a:solidFill>
            <a:srgbClr val="D97757"/>
          </a:solidFill>
          <a:ln w="12700">
            <a:solidFill>
              <a:srgbClr val="D97757"/>
            </a:solidFill>
            <a:prstDash val="solid"/>
          </a:ln>
        </p:spPr>
      </p:sp>
      <p:sp>
        <p:nvSpPr>
          <p:cNvPr id="22" name="Text 20"/>
          <p:cNvSpPr txBox="1"/>
          <p:nvPr/>
        </p:nvSpPr>
        <p:spPr>
          <a:xfrm>
            <a:off x="804672" y="43525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3" name="Text 21"/>
          <p:cNvSpPr txBox="1"/>
          <p:nvPr/>
        </p:nvSpPr>
        <p:spPr>
          <a:xfrm>
            <a:off x="804672" y="4901184"/>
            <a:ext cx="3003194" cy="274320"/>
          </a:xfrm>
          <a:prstGeom prst="rect">
            <a:avLst/>
          </a:prstGeom>
          <a:noFill/>
          <a:ln/>
        </p:spPr>
        <p:txBody>
          <a:bodyPr wrap="square" lIns="0" tIns="0" rIns="0" bIns="0" rtlCol="0" anchor="ctr"/>
          <a:lstStyle/>
          <a:p>
            <a:pPr indent="0" marL="0">
              <a:buNone/>
            </a:pPr>
            <a:r>
              <a:rPr lang="en-US" sz="1500" b="1" dirty="0">
                <a:solidFill>
                  <a:srgbClr val="1C1917"/>
                </a:solidFill>
                <a:latin typeface="Calibri" pitchFamily="34" charset="0"/>
                <a:ea typeface="Calibri" pitchFamily="34" charset="-122"/>
                <a:cs typeface="Calibri" pitchFamily="34" charset="-120"/>
              </a:rPr>
              <a:t>Code sessions</a:t>
            </a:r>
            <a:endParaRPr lang="en-US" sz="1500" dirty="0"/>
          </a:p>
        </p:txBody>
      </p:sp>
      <p:sp>
        <p:nvSpPr>
          <p:cNvPr id="24" name="Text 22"/>
          <p:cNvSpPr txBox="1"/>
          <p:nvPr/>
        </p:nvSpPr>
        <p:spPr>
          <a:xfrm>
            <a:off x="804672" y="5184648"/>
            <a:ext cx="3003194" cy="530352"/>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Explore → plan → build → verify, plus the commands that keep a session cheap.</a:t>
            </a:r>
            <a:endParaRPr lang="en-US" sz="1150" dirty="0"/>
          </a:p>
        </p:txBody>
      </p:sp>
      <p:sp>
        <p:nvSpPr>
          <p:cNvPr id="25" name="Shape 23"/>
          <p:cNvSpPr/>
          <p:nvPr/>
        </p:nvSpPr>
        <p:spPr>
          <a:xfrm>
            <a:off x="4356506" y="4114800"/>
            <a:ext cx="3478682" cy="1993392"/>
          </a:xfrm>
          <a:prstGeom prst="roundRect">
            <a:avLst>
              <a:gd name="adj" fmla="val 4128"/>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6" name="Shape 24"/>
          <p:cNvSpPr/>
          <p:nvPr/>
        </p:nvSpPr>
        <p:spPr>
          <a:xfrm>
            <a:off x="4594250" y="4352544"/>
            <a:ext cx="457200" cy="457200"/>
          </a:xfrm>
          <a:prstGeom prst="ellipse">
            <a:avLst/>
          </a:prstGeom>
          <a:solidFill>
            <a:srgbClr val="D97757"/>
          </a:solidFill>
          <a:ln w="12700">
            <a:solidFill>
              <a:srgbClr val="D97757"/>
            </a:solidFill>
            <a:prstDash val="solid"/>
          </a:ln>
        </p:spPr>
      </p:sp>
      <p:sp>
        <p:nvSpPr>
          <p:cNvPr id="27" name="Text 25"/>
          <p:cNvSpPr txBox="1"/>
          <p:nvPr/>
        </p:nvSpPr>
        <p:spPr>
          <a:xfrm>
            <a:off x="4594250" y="43525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8" name="Text 26"/>
          <p:cNvSpPr txBox="1"/>
          <p:nvPr/>
        </p:nvSpPr>
        <p:spPr>
          <a:xfrm>
            <a:off x="4594250" y="4901184"/>
            <a:ext cx="3003194" cy="274320"/>
          </a:xfrm>
          <a:prstGeom prst="rect">
            <a:avLst/>
          </a:prstGeom>
          <a:noFill/>
          <a:ln/>
        </p:spPr>
        <p:txBody>
          <a:bodyPr wrap="square" lIns="0" tIns="0" rIns="0" bIns="0" rtlCol="0" anchor="ctr"/>
          <a:lstStyle/>
          <a:p>
            <a:pPr indent="0" marL="0">
              <a:buNone/>
            </a:pPr>
            <a:r>
              <a:rPr lang="en-US" sz="1500" b="1" dirty="0">
                <a:solidFill>
                  <a:srgbClr val="1C1917"/>
                </a:solidFill>
                <a:latin typeface="Calibri" pitchFamily="34" charset="0"/>
                <a:ea typeface="Calibri" pitchFamily="34" charset="-122"/>
                <a:cs typeface="Calibri" pitchFamily="34" charset="-120"/>
              </a:rPr>
              <a:t>Testing</a:t>
            </a:r>
            <a:endParaRPr lang="en-US" sz="1500" dirty="0"/>
          </a:p>
        </p:txBody>
      </p:sp>
      <p:sp>
        <p:nvSpPr>
          <p:cNvPr id="29" name="Text 27"/>
          <p:cNvSpPr txBox="1"/>
          <p:nvPr/>
        </p:nvSpPr>
        <p:spPr>
          <a:xfrm>
            <a:off x="4594250" y="5184648"/>
            <a:ext cx="3003194" cy="530352"/>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Getting Claude to write tests that catch real defects, not tests that mirror the code.</a:t>
            </a:r>
            <a:endParaRPr lang="en-US" sz="1150" dirty="0"/>
          </a:p>
        </p:txBody>
      </p:sp>
      <p:sp>
        <p:nvSpPr>
          <p:cNvPr id="30" name="Shape 28"/>
          <p:cNvSpPr/>
          <p:nvPr/>
        </p:nvSpPr>
        <p:spPr>
          <a:xfrm>
            <a:off x="8146085" y="4114800"/>
            <a:ext cx="3478682" cy="1993392"/>
          </a:xfrm>
          <a:prstGeom prst="roundRect">
            <a:avLst>
              <a:gd name="adj" fmla="val 4128"/>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31" name="Shape 29"/>
          <p:cNvSpPr/>
          <p:nvPr/>
        </p:nvSpPr>
        <p:spPr>
          <a:xfrm>
            <a:off x="8383829" y="4352544"/>
            <a:ext cx="457200" cy="457200"/>
          </a:xfrm>
          <a:prstGeom prst="ellipse">
            <a:avLst/>
          </a:prstGeom>
          <a:solidFill>
            <a:srgbClr val="D97757"/>
          </a:solidFill>
          <a:ln w="12700">
            <a:solidFill>
              <a:srgbClr val="D97757"/>
            </a:solidFill>
            <a:prstDash val="solid"/>
          </a:ln>
        </p:spPr>
      </p:sp>
      <p:sp>
        <p:nvSpPr>
          <p:cNvPr id="32" name="Text 30"/>
          <p:cNvSpPr txBox="1"/>
          <p:nvPr/>
        </p:nvSpPr>
        <p:spPr>
          <a:xfrm>
            <a:off x="8383829" y="43525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3" name="Text 31"/>
          <p:cNvSpPr txBox="1"/>
          <p:nvPr/>
        </p:nvSpPr>
        <p:spPr>
          <a:xfrm>
            <a:off x="8383829" y="4901184"/>
            <a:ext cx="3003194" cy="274320"/>
          </a:xfrm>
          <a:prstGeom prst="rect">
            <a:avLst/>
          </a:prstGeom>
          <a:noFill/>
          <a:ln/>
        </p:spPr>
        <p:txBody>
          <a:bodyPr wrap="square" lIns="0" tIns="0" rIns="0" bIns="0" rtlCol="0" anchor="ctr"/>
          <a:lstStyle/>
          <a:p>
            <a:pPr indent="0" marL="0">
              <a:buNone/>
            </a:pPr>
            <a:r>
              <a:rPr lang="en-US" sz="1500" b="1" dirty="0">
                <a:solidFill>
                  <a:srgbClr val="1C1917"/>
                </a:solidFill>
                <a:latin typeface="Calibri" pitchFamily="34" charset="0"/>
                <a:ea typeface="Calibri" pitchFamily="34" charset="-122"/>
                <a:cs typeface="Calibri" pitchFamily="34" charset="-120"/>
              </a:rPr>
              <a:t>SAP work</a:t>
            </a:r>
            <a:endParaRPr lang="en-US" sz="1500" dirty="0"/>
          </a:p>
        </p:txBody>
      </p:sp>
      <p:sp>
        <p:nvSpPr>
          <p:cNvPr id="34" name="Text 32"/>
          <p:cNvSpPr txBox="1"/>
          <p:nvPr/>
        </p:nvSpPr>
        <p:spPr>
          <a:xfrm>
            <a:off x="8383829" y="5184648"/>
            <a:ext cx="3003194" cy="530352"/>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Functional consulting deliverables, and ABAP / BTP / OData development.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STARTING POINT</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What your current usage looks like</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Observed from this session — the examples in this deck are built on it.</a:t>
            </a:r>
            <a:endParaRPr lang="en-US" sz="1350" dirty="0"/>
          </a:p>
        </p:txBody>
      </p:sp>
      <p:sp>
        <p:nvSpPr>
          <p:cNvPr id="5" name="Shape 3"/>
          <p:cNvSpPr/>
          <p:nvPr/>
        </p:nvSpPr>
        <p:spPr>
          <a:xfrm>
            <a:off x="566928" y="1810512"/>
            <a:ext cx="6309360" cy="4114800"/>
          </a:xfrm>
          <a:prstGeom prst="roundRect">
            <a:avLst>
              <a:gd name="adj" fmla="val 200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Text 4"/>
          <p:cNvSpPr txBox="1"/>
          <p:nvPr/>
        </p:nvSpPr>
        <p:spPr>
          <a:xfrm>
            <a:off x="859536" y="2011680"/>
            <a:ext cx="5724144" cy="256032"/>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This session</a:t>
            </a:r>
            <a:endParaRPr lang="en-US" sz="1350" dirty="0"/>
          </a:p>
        </p:txBody>
      </p:sp>
      <p:sp>
        <p:nvSpPr>
          <p:cNvPr id="7" name="Text 5"/>
          <p:cNvSpPr txBox="1"/>
          <p:nvPr/>
        </p:nvSpPr>
        <p:spPr>
          <a:xfrm>
            <a:off x="859536" y="2340864"/>
            <a:ext cx="5724144" cy="3291840"/>
          </a:xfrm>
          <a:prstGeom prst="rect">
            <a:avLst/>
          </a:prstGeom>
          <a:noFill/>
          <a:ln/>
        </p:spPr>
        <p:txBody>
          <a:bodyPr wrap="square" lIns="0" tIns="0" rIns="0" bIns="0" rtlCol="0" anchor="ctr"/>
          <a:lstStyle/>
          <a:p>
            <a:pPr marL="342900" indent="-342900">
              <a:lnSpc>
                <a:spcPts val="1800"/>
              </a:lnSpc>
              <a:spcAft>
                <a:spcPts val="900"/>
              </a:spcAft>
              <a:buSzPct val="100000"/>
              <a:buChar char="•"/>
            </a:pPr>
            <a:r>
              <a:rPr lang="en-US" sz="1250" dirty="0">
                <a:solidFill>
                  <a:srgbClr val="6E635C"/>
                </a:solidFill>
                <a:latin typeface="Calibri" pitchFamily="34" charset="0"/>
                <a:ea typeface="Calibri" pitchFamily="34" charset="-122"/>
                <a:cs typeface="Calibri" pitchFamily="34" charset="-120"/>
              </a:rPr>
              <a:t>Claude Code running remotely from the web app, not a local terminal</a:t>
            </a:r>
            <a:endParaRPr lang="en-US" sz="1250" dirty="0"/>
          </a:p>
          <a:p>
            <a:pPr marL="342900" indent="-342900">
              <a:lnSpc>
                <a:spcPts val="1800"/>
              </a:lnSpc>
              <a:spcAft>
                <a:spcPts val="900"/>
              </a:spcAft>
              <a:buSzPct val="100000"/>
              <a:buChar char="•"/>
            </a:pPr>
            <a:r>
              <a:rPr lang="en-US" sz="1250" dirty="0">
                <a:solidFill>
                  <a:srgbClr val="6E635C"/>
                </a:solidFill>
                <a:latin typeface="Calibri" pitchFamily="34" charset="0"/>
                <a:ea typeface="Calibri" pitchFamily="34" charset="-122"/>
                <a:cs typeface="Calibri" pitchFamily="34" charset="-120"/>
              </a:rPr>
              <a:t>Repo: flutter_interview_task — CRM Pocket Feed, a Flutter 3 / Dart field-sales app</a:t>
            </a:r>
            <a:endParaRPr lang="en-US" sz="1250" dirty="0"/>
          </a:p>
          <a:p>
            <a:pPr marL="342900" indent="-342900">
              <a:lnSpc>
                <a:spcPts val="1800"/>
              </a:lnSpc>
              <a:spcAft>
                <a:spcPts val="900"/>
              </a:spcAft>
              <a:buSzPct val="100000"/>
              <a:buChar char="•"/>
            </a:pPr>
            <a:r>
              <a:rPr lang="en-US" sz="1250" dirty="0">
                <a:solidFill>
                  <a:srgbClr val="6E635C"/>
                </a:solidFill>
                <a:latin typeface="Calibri" pitchFamily="34" charset="0"/>
                <a:ea typeface="Calibri" pitchFamily="34" charset="-122"/>
                <a:cs typeface="Calibri" pitchFamily="34" charset="-120"/>
              </a:rPr>
              <a:t>Riverpod 2 for state, GoRouter 17 for navigation, Material 3, mock data only</a:t>
            </a:r>
            <a:endParaRPr lang="en-US" sz="1250" dirty="0"/>
          </a:p>
          <a:p>
            <a:pPr marL="342900" indent="-342900">
              <a:lnSpc>
                <a:spcPts val="1800"/>
              </a:lnSpc>
              <a:spcAft>
                <a:spcPts val="900"/>
              </a:spcAft>
              <a:buSzPct val="100000"/>
              <a:buChar char="•"/>
            </a:pPr>
            <a:r>
              <a:rPr lang="en-US" sz="1250" dirty="0">
                <a:solidFill>
                  <a:srgbClr val="6E635C"/>
                </a:solidFill>
                <a:latin typeface="Calibri" pitchFamily="34" charset="0"/>
                <a:ea typeface="Calibri" pitchFamily="34" charset="-122"/>
                <a:cs typeface="Calibri" pitchFamily="34" charset="-120"/>
              </a:rPr>
              <a:t>Work committed to a dedicated branch, never straight to main</a:t>
            </a:r>
            <a:endParaRPr lang="en-US" sz="1250" dirty="0"/>
          </a:p>
          <a:p>
            <a:pPr marL="342900" indent="-342900">
              <a:lnSpc>
                <a:spcPts val="1800"/>
              </a:lnSpc>
              <a:spcAft>
                <a:spcPts val="900"/>
              </a:spcAft>
              <a:buSzPct val="100000"/>
              <a:buChar char="•"/>
            </a:pPr>
            <a:r>
              <a:rPr lang="en-US" sz="1250" dirty="0">
                <a:solidFill>
                  <a:srgbClr val="6E635C"/>
                </a:solidFill>
                <a:latin typeface="Calibri" pitchFamily="34" charset="0"/>
                <a:ea typeface="Calibri" pitchFamily="34" charset="-122"/>
                <a:cs typeface="Calibri" pitchFamily="34" charset="-120"/>
              </a:rPr>
              <a:t>One test file in test/ — widget_test.dart — against ~50 source files</a:t>
            </a:r>
            <a:endParaRPr lang="en-US" sz="1250" dirty="0"/>
          </a:p>
          <a:p>
            <a:pPr marL="342900" indent="-342900">
              <a:lnSpc>
                <a:spcPts val="1800"/>
              </a:lnSpc>
              <a:spcAft>
                <a:spcPts val="900"/>
              </a:spcAft>
              <a:buSzPct val="100000"/>
              <a:buChar char="•"/>
            </a:pPr>
            <a:r>
              <a:rPr lang="en-US" sz="1250" dirty="0">
                <a:solidFill>
                  <a:srgbClr val="6E635C"/>
                </a:solidFill>
                <a:latin typeface="Calibri" pitchFamily="34" charset="0"/>
                <a:ea typeface="Calibri" pitchFamily="34" charset="-122"/>
                <a:cs typeface="Calibri" pitchFamily="34" charset="-120"/>
              </a:rPr>
              <a:t>MCP connectors attached: GitHub, Atlassian, Google Drive, Gamma and others</a:t>
            </a:r>
            <a:endParaRPr lang="en-US" sz="1250" dirty="0"/>
          </a:p>
        </p:txBody>
      </p:sp>
      <p:sp>
        <p:nvSpPr>
          <p:cNvPr id="8" name="Shape 6"/>
          <p:cNvSpPr/>
          <p:nvPr/>
        </p:nvSpPr>
        <p:spPr>
          <a:xfrm>
            <a:off x="7187184" y="1810512"/>
            <a:ext cx="4437583" cy="1956816"/>
          </a:xfrm>
          <a:prstGeom prst="roundRect">
            <a:avLst>
              <a:gd name="adj" fmla="val 4206"/>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9" name="Text 7"/>
          <p:cNvSpPr txBox="1"/>
          <p:nvPr/>
        </p:nvSpPr>
        <p:spPr>
          <a:xfrm>
            <a:off x="7443216" y="1993392"/>
            <a:ext cx="3925519" cy="256032"/>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What that implies</a:t>
            </a:r>
            <a:endParaRPr lang="en-US" sz="1350" dirty="0"/>
          </a:p>
        </p:txBody>
      </p:sp>
      <p:sp>
        <p:nvSpPr>
          <p:cNvPr id="10" name="Text 8"/>
          <p:cNvSpPr txBox="1"/>
          <p:nvPr/>
        </p:nvSpPr>
        <p:spPr>
          <a:xfrm>
            <a:off x="7443216" y="2304288"/>
            <a:ext cx="3925519" cy="1316736"/>
          </a:xfrm>
          <a:prstGeom prst="rect">
            <a:avLst/>
          </a:prstGeom>
          <a:noFill/>
          <a:ln/>
        </p:spPr>
        <p:txBody>
          <a:bodyPr wrap="square" lIns="0" tIns="0" rIns="0" bIns="0" rtlCol="0" anchor="t"/>
          <a:lstStyle/>
          <a:p>
            <a:pPr indent="0" marL="0">
              <a:lnSpc>
                <a:spcPts val="1700"/>
              </a:lnSpc>
              <a:buNone/>
            </a:pPr>
            <a:r>
              <a:rPr lang="en-US" sz="1200" dirty="0">
                <a:solidFill>
                  <a:srgbClr val="6E635C"/>
                </a:solidFill>
                <a:latin typeface="Calibri" pitchFamily="34" charset="0"/>
                <a:ea typeface="Calibri" pitchFamily="34" charset="-122"/>
                <a:cs typeface="Calibri" pitchFamily="34" charset="-120"/>
              </a:rPr>
              <a:t>A remote coding session with many connectors is a context-heavy setup. Most of your spend is not the question you type — it is the repo, the tool results and the conversation being resent on every turn.</a:t>
            </a:r>
            <a:endParaRPr lang="en-US" sz="1200" dirty="0"/>
          </a:p>
        </p:txBody>
      </p:sp>
      <p:sp>
        <p:nvSpPr>
          <p:cNvPr id="11" name="Shape 9"/>
          <p:cNvSpPr/>
          <p:nvPr/>
        </p:nvSpPr>
        <p:spPr>
          <a:xfrm>
            <a:off x="7187184" y="3931920"/>
            <a:ext cx="4437583" cy="1993392"/>
          </a:xfrm>
          <a:prstGeom prst="roundRect">
            <a:avLst>
              <a:gd name="adj" fmla="val 4128"/>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2" name="Text 10"/>
          <p:cNvSpPr txBox="1"/>
          <p:nvPr/>
        </p:nvSpPr>
        <p:spPr>
          <a:xfrm>
            <a:off x="7443216" y="4114800"/>
            <a:ext cx="3925519" cy="256032"/>
          </a:xfrm>
          <a:prstGeom prst="rect">
            <a:avLst/>
          </a:prstGeom>
          <a:noFill/>
          <a:ln/>
        </p:spPr>
        <p:txBody>
          <a:bodyPr wrap="square" lIns="0" tIns="0" rIns="0" bIns="0" rtlCol="0" anchor="ctr"/>
          <a:lstStyle/>
          <a:p>
            <a:pPr indent="0" marL="0">
              <a:buNone/>
            </a:pPr>
            <a:r>
              <a:rPr lang="en-US" sz="1350" b="1" dirty="0">
                <a:solidFill>
                  <a:srgbClr val="A64B2A"/>
                </a:solidFill>
                <a:latin typeface="Calibri" pitchFamily="34" charset="0"/>
                <a:ea typeface="Calibri" pitchFamily="34" charset="-122"/>
                <a:cs typeface="Calibri" pitchFamily="34" charset="-120"/>
              </a:rPr>
              <a:t>Biggest single gap</a:t>
            </a:r>
            <a:endParaRPr lang="en-US" sz="1350" dirty="0"/>
          </a:p>
        </p:txBody>
      </p:sp>
      <p:sp>
        <p:nvSpPr>
          <p:cNvPr id="13" name="Text 11"/>
          <p:cNvSpPr txBox="1"/>
          <p:nvPr/>
        </p:nvSpPr>
        <p:spPr>
          <a:xfrm>
            <a:off x="7443216" y="4425696"/>
            <a:ext cx="3925519" cy="1371600"/>
          </a:xfrm>
          <a:prstGeom prst="rect">
            <a:avLst/>
          </a:prstGeom>
          <a:noFill/>
          <a:ln/>
        </p:spPr>
        <p:txBody>
          <a:bodyPr wrap="square" lIns="0" tIns="0" rIns="0" bIns="0" rtlCol="0" anchor="t"/>
          <a:lstStyle/>
          <a:p>
            <a:pPr indent="0" marL="0">
              <a:lnSpc>
                <a:spcPts val="1700"/>
              </a:lnSpc>
              <a:buNone/>
            </a:pPr>
            <a:r>
              <a:rPr lang="en-US" sz="1200" dirty="0">
                <a:solidFill>
                  <a:srgbClr val="6E635C"/>
                </a:solidFill>
                <a:latin typeface="Calibri" pitchFamily="34" charset="0"/>
                <a:ea typeface="Calibri" pitchFamily="34" charset="-122"/>
                <a:cs typeface="Calibri" pitchFamily="34" charset="-120"/>
              </a:rPr>
              <a:t>Test coverage. One widget test for five feature modules — geofenced check-in, lead capture, KYC upload, visit planning and the manager dashboard. Section 05 turns that into a concrete test plan.</a:t>
            </a:r>
            <a:endParaRPr lang="en-US" sz="1200" dirty="0"/>
          </a:p>
        </p:txBody>
      </p:sp>
      <p:sp>
        <p:nvSpPr>
          <p:cNvPr id="14" name="Text 12"/>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900" i="1" dirty="0">
                <a:solidFill>
                  <a:srgbClr val="9C918A"/>
                </a:solidFill>
                <a:latin typeface="Calibri" pitchFamily="34" charset="0"/>
                <a:ea typeface="Calibri" pitchFamily="34" charset="-122"/>
                <a:cs typeface="Calibri" pitchFamily="34" charset="-120"/>
              </a:rPr>
              <a:t>Observed 31 Aug 2026 from the repository and session configuration.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566928" y="2075688"/>
            <a:ext cx="1371600" cy="1371600"/>
          </a:xfrm>
          <a:prstGeom prst="ellipse">
            <a:avLst/>
          </a:prstGeom>
          <a:solidFill>
            <a:srgbClr val="D97757"/>
          </a:solidFill>
          <a:ln/>
        </p:spPr>
      </p:sp>
      <p:sp>
        <p:nvSpPr>
          <p:cNvPr id="3" name="Text 1"/>
          <p:cNvSpPr txBox="1"/>
          <p:nvPr/>
        </p:nvSpPr>
        <p:spPr>
          <a:xfrm>
            <a:off x="566928" y="2075688"/>
            <a:ext cx="1371600" cy="1371600"/>
          </a:xfrm>
          <a:prstGeom prst="rect">
            <a:avLst/>
          </a:prstGeom>
          <a:noFill/>
          <a:ln/>
        </p:spPr>
        <p:txBody>
          <a:bodyPr wrap="square" lIns="0" tIns="0" rIns="0" bIns="0" rtlCol="0" anchor="ctr"/>
          <a:lstStyle/>
          <a:p>
            <a:pPr algn="ctr" indent="0" marL="0">
              <a:buNone/>
            </a:pPr>
            <a:r>
              <a:rPr lang="en-US" sz="5200" b="1" dirty="0">
                <a:solidFill>
                  <a:srgbClr val="1C1917"/>
                </a:solidFill>
                <a:latin typeface="Cambria" pitchFamily="34" charset="0"/>
                <a:ea typeface="Cambria" pitchFamily="34" charset="-122"/>
                <a:cs typeface="Cambria" pitchFamily="34" charset="-120"/>
              </a:rPr>
              <a:t>01</a:t>
            </a:r>
            <a:endParaRPr lang="en-US" sz="5200" dirty="0"/>
          </a:p>
        </p:txBody>
      </p:sp>
      <p:sp>
        <p:nvSpPr>
          <p:cNvPr id="4" name="Text 2"/>
          <p:cNvSpPr txBox="1"/>
          <p:nvPr/>
        </p:nvSpPr>
        <p:spPr>
          <a:xfrm>
            <a:off x="2286000" y="1901952"/>
            <a:ext cx="8778240" cy="237744"/>
          </a:xfrm>
          <a:prstGeom prst="rect">
            <a:avLst/>
          </a:prstGeom>
          <a:noFill/>
          <a:ln/>
        </p:spPr>
        <p:txBody>
          <a:bodyPr wrap="square" lIns="0" tIns="0" rIns="0" bIns="0" rtlCol="0" anchor="ctr"/>
          <a:lstStyle/>
          <a:p>
            <a:pPr indent="0" marL="0">
              <a:buNone/>
            </a:pPr>
            <a:r>
              <a:rPr lang="en-US" sz="1100" b="1" spc="240" kern="0" dirty="0">
                <a:solidFill>
                  <a:srgbClr val="D97757"/>
                </a:solidFill>
                <a:latin typeface="Calibri" pitchFamily="34" charset="0"/>
                <a:ea typeface="Calibri" pitchFamily="34" charset="-122"/>
                <a:cs typeface="Calibri" pitchFamily="34" charset="-120"/>
              </a:rPr>
              <a:t>FOUNDATIONS</a:t>
            </a:r>
            <a:endParaRPr lang="en-US" sz="1100" dirty="0"/>
          </a:p>
        </p:txBody>
      </p:sp>
      <p:sp>
        <p:nvSpPr>
          <p:cNvPr id="5" name="Text 3"/>
          <p:cNvSpPr txBox="1"/>
          <p:nvPr/>
        </p:nvSpPr>
        <p:spPr>
          <a:xfrm>
            <a:off x="2286000" y="2176272"/>
            <a:ext cx="8778240" cy="1188720"/>
          </a:xfrm>
          <a:prstGeom prst="rect">
            <a:avLst/>
          </a:prstGeom>
          <a:noFill/>
          <a:ln/>
        </p:spPr>
        <p:txBody>
          <a:bodyPr wrap="square" lIns="0" tIns="0" rIns="0" bIns="0" rtlCol="0" anchor="t"/>
          <a:lstStyle/>
          <a:p>
            <a:pPr indent="0" marL="0">
              <a:lnSpc>
                <a:spcPts val="4000"/>
              </a:lnSpc>
              <a:buNone/>
            </a:pPr>
            <a:r>
              <a:rPr lang="en-US" sz="3400" b="1" dirty="0">
                <a:solidFill>
                  <a:srgbClr val="FAF9F7"/>
                </a:solidFill>
                <a:latin typeface="Cambria" pitchFamily="34" charset="0"/>
                <a:ea typeface="Cambria" pitchFamily="34" charset="-122"/>
                <a:cs typeface="Cambria" pitchFamily="34" charset="-120"/>
              </a:rPr>
              <a:t>What a token is, and where yours go</a:t>
            </a:r>
            <a:endParaRPr lang="en-US" sz="3400" dirty="0"/>
          </a:p>
        </p:txBody>
      </p:sp>
      <p:sp>
        <p:nvSpPr>
          <p:cNvPr id="6" name="Text 4"/>
          <p:cNvSpPr txBox="1"/>
          <p:nvPr/>
        </p:nvSpPr>
        <p:spPr>
          <a:xfrm>
            <a:off x="2286000" y="3474720"/>
            <a:ext cx="8412480" cy="914400"/>
          </a:xfrm>
          <a:prstGeom prst="rect">
            <a:avLst/>
          </a:prstGeom>
          <a:noFill/>
          <a:ln/>
        </p:spPr>
        <p:txBody>
          <a:bodyPr wrap="square" lIns="0" tIns="0" rIns="0" bIns="0" rtlCol="0" anchor="t"/>
          <a:lstStyle/>
          <a:p>
            <a:pPr indent="0" marL="0">
              <a:lnSpc>
                <a:spcPts val="2200"/>
              </a:lnSpc>
              <a:buNone/>
            </a:pPr>
            <a:r>
              <a:rPr lang="en-US" sz="1450" dirty="0">
                <a:solidFill>
                  <a:srgbClr val="B8ADA6"/>
                </a:solidFill>
                <a:latin typeface="Calibri" pitchFamily="34" charset="0"/>
                <a:ea typeface="Calibri" pitchFamily="34" charset="-122"/>
                <a:cs typeface="Calibri" pitchFamily="34" charset="-120"/>
              </a:rPr>
              <a:t>Every limit, every price and every slowdown you meet is denominated in tokens. Understanding them makes the rest of this deck obvious.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TOKENS 101</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A token is a fragment of text, not a word</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Models read and write in these fragments, and both reading and writing are metered.</a:t>
            </a:r>
            <a:endParaRPr lang="en-US" sz="1350" dirty="0"/>
          </a:p>
        </p:txBody>
      </p:sp>
      <p:sp>
        <p:nvSpPr>
          <p:cNvPr id="5" name="Shape 3"/>
          <p:cNvSpPr/>
          <p:nvPr/>
        </p:nvSpPr>
        <p:spPr>
          <a:xfrm>
            <a:off x="566928" y="1792224"/>
            <a:ext cx="2558720" cy="1481328"/>
          </a:xfrm>
          <a:prstGeom prst="roundRect">
            <a:avLst>
              <a:gd name="adj" fmla="val 5556"/>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Text 4"/>
          <p:cNvSpPr txBox="1"/>
          <p:nvPr/>
        </p:nvSpPr>
        <p:spPr>
          <a:xfrm>
            <a:off x="713232" y="1938528"/>
            <a:ext cx="2266112" cy="658368"/>
          </a:xfrm>
          <a:prstGeom prst="rect">
            <a:avLst/>
          </a:prstGeom>
          <a:noFill/>
          <a:ln/>
        </p:spPr>
        <p:txBody>
          <a:bodyPr wrap="square" lIns="0" tIns="0" rIns="0" bIns="0" rtlCol="0" anchor="ctr"/>
          <a:lstStyle/>
          <a:p>
            <a:pPr algn="l" indent="0" marL="0">
              <a:buNone/>
            </a:pPr>
            <a:r>
              <a:rPr lang="en-US" sz="3200" b="1" dirty="0">
                <a:solidFill>
                  <a:srgbClr val="A64B2A"/>
                </a:solidFill>
                <a:latin typeface="Cambria" pitchFamily="34" charset="0"/>
                <a:ea typeface="Cambria" pitchFamily="34" charset="-122"/>
                <a:cs typeface="Cambria" pitchFamily="34" charset="-120"/>
              </a:rPr>
              <a:t>~4</a:t>
            </a:r>
            <a:endParaRPr lang="en-US" sz="3200" dirty="0"/>
          </a:p>
        </p:txBody>
      </p:sp>
      <p:sp>
        <p:nvSpPr>
          <p:cNvPr id="7" name="Text 5"/>
          <p:cNvSpPr txBox="1"/>
          <p:nvPr/>
        </p:nvSpPr>
        <p:spPr>
          <a:xfrm>
            <a:off x="713232" y="2578608"/>
            <a:ext cx="2266112" cy="566928"/>
          </a:xfrm>
          <a:prstGeom prst="rect">
            <a:avLst/>
          </a:prstGeom>
          <a:noFill/>
          <a:ln/>
        </p:spPr>
        <p:txBody>
          <a:bodyPr wrap="square" lIns="0" tIns="0" rIns="0" bIns="0" rtlCol="0" anchor="ctr"/>
          <a:lstStyle/>
          <a:p>
            <a:pPr indent="0" marL="0">
              <a:lnSpc>
                <a:spcPts val="1400"/>
              </a:lnSpc>
              <a:buNone/>
            </a:pPr>
            <a:r>
              <a:rPr lang="en-US" sz="1100" dirty="0">
                <a:solidFill>
                  <a:srgbClr val="6E635C"/>
                </a:solidFill>
                <a:latin typeface="Calibri" pitchFamily="34" charset="0"/>
                <a:ea typeface="Calibri" pitchFamily="34" charset="-122"/>
                <a:cs typeface="Calibri" pitchFamily="34" charset="-120"/>
              </a:rPr>
              <a:t>characters of English per token, on average</a:t>
            </a:r>
            <a:endParaRPr lang="en-US" sz="1100" dirty="0"/>
          </a:p>
        </p:txBody>
      </p:sp>
      <p:sp>
        <p:nvSpPr>
          <p:cNvPr id="8" name="Shape 6"/>
          <p:cNvSpPr/>
          <p:nvPr/>
        </p:nvSpPr>
        <p:spPr>
          <a:xfrm>
            <a:off x="3399968" y="1792224"/>
            <a:ext cx="2558720" cy="1481328"/>
          </a:xfrm>
          <a:prstGeom prst="roundRect">
            <a:avLst>
              <a:gd name="adj" fmla="val 5556"/>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9" name="Text 7"/>
          <p:cNvSpPr txBox="1"/>
          <p:nvPr/>
        </p:nvSpPr>
        <p:spPr>
          <a:xfrm>
            <a:off x="3546272" y="1938528"/>
            <a:ext cx="2266112" cy="658368"/>
          </a:xfrm>
          <a:prstGeom prst="rect">
            <a:avLst/>
          </a:prstGeom>
          <a:noFill/>
          <a:ln/>
        </p:spPr>
        <p:txBody>
          <a:bodyPr wrap="square" lIns="0" tIns="0" rIns="0" bIns="0" rtlCol="0" anchor="ctr"/>
          <a:lstStyle/>
          <a:p>
            <a:pPr algn="l" indent="0" marL="0">
              <a:buNone/>
            </a:pPr>
            <a:r>
              <a:rPr lang="en-US" sz="3200" b="1" dirty="0">
                <a:solidFill>
                  <a:srgbClr val="4A6B5D"/>
                </a:solidFill>
                <a:latin typeface="Cambria" pitchFamily="34" charset="0"/>
                <a:ea typeface="Cambria" pitchFamily="34" charset="-122"/>
                <a:cs typeface="Cambria" pitchFamily="34" charset="-120"/>
              </a:rPr>
              <a:t>~750</a:t>
            </a:r>
            <a:endParaRPr lang="en-US" sz="3200" dirty="0"/>
          </a:p>
        </p:txBody>
      </p:sp>
      <p:sp>
        <p:nvSpPr>
          <p:cNvPr id="10" name="Text 8"/>
          <p:cNvSpPr txBox="1"/>
          <p:nvPr/>
        </p:nvSpPr>
        <p:spPr>
          <a:xfrm>
            <a:off x="3546272" y="2578608"/>
            <a:ext cx="2266112" cy="566928"/>
          </a:xfrm>
          <a:prstGeom prst="rect">
            <a:avLst/>
          </a:prstGeom>
          <a:noFill/>
          <a:ln/>
        </p:spPr>
        <p:txBody>
          <a:bodyPr wrap="square" lIns="0" tIns="0" rIns="0" bIns="0" rtlCol="0" anchor="ctr"/>
          <a:lstStyle/>
          <a:p>
            <a:pPr indent="0" marL="0">
              <a:lnSpc>
                <a:spcPts val="1400"/>
              </a:lnSpc>
              <a:buNone/>
            </a:pPr>
            <a:r>
              <a:rPr lang="en-US" sz="1100" dirty="0">
                <a:solidFill>
                  <a:srgbClr val="6E635C"/>
                </a:solidFill>
                <a:latin typeface="Calibri" pitchFamily="34" charset="0"/>
                <a:ea typeface="Calibri" pitchFamily="34" charset="-122"/>
                <a:cs typeface="Calibri" pitchFamily="34" charset="-120"/>
              </a:rPr>
              <a:t>words in roughly 1,000 tokens</a:t>
            </a:r>
            <a:endParaRPr lang="en-US" sz="1100" dirty="0"/>
          </a:p>
        </p:txBody>
      </p:sp>
      <p:sp>
        <p:nvSpPr>
          <p:cNvPr id="11" name="Shape 9"/>
          <p:cNvSpPr/>
          <p:nvPr/>
        </p:nvSpPr>
        <p:spPr>
          <a:xfrm>
            <a:off x="6233008" y="1792224"/>
            <a:ext cx="2558720" cy="1481328"/>
          </a:xfrm>
          <a:prstGeom prst="roundRect">
            <a:avLst>
              <a:gd name="adj" fmla="val 5556"/>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2" name="Text 10"/>
          <p:cNvSpPr txBox="1"/>
          <p:nvPr/>
        </p:nvSpPr>
        <p:spPr>
          <a:xfrm>
            <a:off x="6379312" y="1938528"/>
            <a:ext cx="2266112" cy="658368"/>
          </a:xfrm>
          <a:prstGeom prst="rect">
            <a:avLst/>
          </a:prstGeom>
          <a:noFill/>
          <a:ln/>
        </p:spPr>
        <p:txBody>
          <a:bodyPr wrap="square" lIns="0" tIns="0" rIns="0" bIns="0" rtlCol="0" anchor="ctr"/>
          <a:lstStyle/>
          <a:p>
            <a:pPr algn="l" indent="0" marL="0">
              <a:buNone/>
            </a:pPr>
            <a:r>
              <a:rPr lang="en-US" sz="3200" b="1" dirty="0">
                <a:solidFill>
                  <a:srgbClr val="A64B2A"/>
                </a:solidFill>
                <a:latin typeface="Cambria" pitchFamily="34" charset="0"/>
                <a:ea typeface="Cambria" pitchFamily="34" charset="-122"/>
                <a:cs typeface="Cambria" pitchFamily="34" charset="-120"/>
              </a:rPr>
              <a:t>1M</a:t>
            </a:r>
            <a:endParaRPr lang="en-US" sz="3200" dirty="0"/>
          </a:p>
        </p:txBody>
      </p:sp>
      <p:sp>
        <p:nvSpPr>
          <p:cNvPr id="13" name="Text 11"/>
          <p:cNvSpPr txBox="1"/>
          <p:nvPr/>
        </p:nvSpPr>
        <p:spPr>
          <a:xfrm>
            <a:off x="6379312" y="2578608"/>
            <a:ext cx="2266112" cy="566928"/>
          </a:xfrm>
          <a:prstGeom prst="rect">
            <a:avLst/>
          </a:prstGeom>
          <a:noFill/>
          <a:ln/>
        </p:spPr>
        <p:txBody>
          <a:bodyPr wrap="square" lIns="0" tIns="0" rIns="0" bIns="0" rtlCol="0" anchor="ctr"/>
          <a:lstStyle/>
          <a:p>
            <a:pPr indent="0" marL="0">
              <a:lnSpc>
                <a:spcPts val="1400"/>
              </a:lnSpc>
              <a:buNone/>
            </a:pPr>
            <a:r>
              <a:rPr lang="en-US" sz="1100" dirty="0">
                <a:solidFill>
                  <a:srgbClr val="6E635C"/>
                </a:solidFill>
                <a:latin typeface="Calibri" pitchFamily="34" charset="0"/>
                <a:ea typeface="Calibri" pitchFamily="34" charset="-122"/>
                <a:cs typeface="Calibri" pitchFamily="34" charset="-120"/>
              </a:rPr>
              <a:t>token context window on Opus 5 and Sonnet 5</a:t>
            </a:r>
            <a:endParaRPr lang="en-US" sz="1100" dirty="0"/>
          </a:p>
        </p:txBody>
      </p:sp>
      <p:sp>
        <p:nvSpPr>
          <p:cNvPr id="14" name="Shape 12"/>
          <p:cNvSpPr/>
          <p:nvPr/>
        </p:nvSpPr>
        <p:spPr>
          <a:xfrm>
            <a:off x="9066047" y="1792224"/>
            <a:ext cx="2558720" cy="1481328"/>
          </a:xfrm>
          <a:prstGeom prst="roundRect">
            <a:avLst>
              <a:gd name="adj" fmla="val 5556"/>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5" name="Text 13"/>
          <p:cNvSpPr txBox="1"/>
          <p:nvPr/>
        </p:nvSpPr>
        <p:spPr>
          <a:xfrm>
            <a:off x="9212351" y="1938528"/>
            <a:ext cx="2266112" cy="658368"/>
          </a:xfrm>
          <a:prstGeom prst="rect">
            <a:avLst/>
          </a:prstGeom>
          <a:noFill/>
          <a:ln/>
        </p:spPr>
        <p:txBody>
          <a:bodyPr wrap="square" lIns="0" tIns="0" rIns="0" bIns="0" rtlCol="0" anchor="ctr"/>
          <a:lstStyle/>
          <a:p>
            <a:pPr algn="l" indent="0" marL="0">
              <a:buNone/>
            </a:pPr>
            <a:r>
              <a:rPr lang="en-US" sz="3200" b="1" dirty="0">
                <a:solidFill>
                  <a:srgbClr val="B08324"/>
                </a:solidFill>
                <a:latin typeface="Cambria" pitchFamily="34" charset="0"/>
                <a:ea typeface="Cambria" pitchFamily="34" charset="-122"/>
                <a:cs typeface="Cambria" pitchFamily="34" charset="-120"/>
              </a:rPr>
              <a:t>200K</a:t>
            </a:r>
            <a:endParaRPr lang="en-US" sz="3200" dirty="0"/>
          </a:p>
        </p:txBody>
      </p:sp>
      <p:sp>
        <p:nvSpPr>
          <p:cNvPr id="16" name="Text 14"/>
          <p:cNvSpPr txBox="1"/>
          <p:nvPr/>
        </p:nvSpPr>
        <p:spPr>
          <a:xfrm>
            <a:off x="9212351" y="2578608"/>
            <a:ext cx="2266112" cy="566928"/>
          </a:xfrm>
          <a:prstGeom prst="rect">
            <a:avLst/>
          </a:prstGeom>
          <a:noFill/>
          <a:ln/>
        </p:spPr>
        <p:txBody>
          <a:bodyPr wrap="square" lIns="0" tIns="0" rIns="0" bIns="0" rtlCol="0" anchor="ctr"/>
          <a:lstStyle/>
          <a:p>
            <a:pPr indent="0" marL="0">
              <a:lnSpc>
                <a:spcPts val="1400"/>
              </a:lnSpc>
              <a:buNone/>
            </a:pPr>
            <a:r>
              <a:rPr lang="en-US" sz="1100" dirty="0">
                <a:solidFill>
                  <a:srgbClr val="6E635C"/>
                </a:solidFill>
                <a:latin typeface="Calibri" pitchFamily="34" charset="0"/>
                <a:ea typeface="Calibri" pitchFamily="34" charset="-122"/>
                <a:cs typeface="Calibri" pitchFamily="34" charset="-120"/>
              </a:rPr>
              <a:t>token window on Haiku 4.5</a:t>
            </a:r>
            <a:endParaRPr lang="en-US" sz="1100" dirty="0"/>
          </a:p>
        </p:txBody>
      </p:sp>
      <p:sp>
        <p:nvSpPr>
          <p:cNvPr id="17" name="Shape 15"/>
          <p:cNvSpPr/>
          <p:nvPr/>
        </p:nvSpPr>
        <p:spPr>
          <a:xfrm>
            <a:off x="566928" y="3474720"/>
            <a:ext cx="11057839" cy="1481328"/>
          </a:xfrm>
          <a:prstGeom prst="roundRect">
            <a:avLst>
              <a:gd name="adj" fmla="val 5556"/>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8" name="Text 16"/>
          <p:cNvSpPr txBox="1"/>
          <p:nvPr/>
        </p:nvSpPr>
        <p:spPr>
          <a:xfrm>
            <a:off x="841248" y="3639312"/>
            <a:ext cx="10509199" cy="256032"/>
          </a:xfrm>
          <a:prstGeom prst="rect">
            <a:avLst/>
          </a:prstGeom>
          <a:noFill/>
          <a:ln/>
        </p:spPr>
        <p:txBody>
          <a:bodyPr wrap="square" lIns="0" tIns="0" rIns="0" bIns="0" rtlCol="0" anchor="ctr"/>
          <a:lstStyle/>
          <a:p>
            <a:pPr indent="0" marL="0">
              <a:buNone/>
            </a:pPr>
            <a:r>
              <a:rPr lang="en-US" sz="1300" b="1" dirty="0">
                <a:solidFill>
                  <a:srgbClr val="1C1917"/>
                </a:solidFill>
                <a:latin typeface="Calibri" pitchFamily="34" charset="0"/>
                <a:ea typeface="Calibri" pitchFamily="34" charset="-122"/>
                <a:cs typeface="Calibri" pitchFamily="34" charset="-120"/>
              </a:rPr>
              <a:t>How a line of your own code gets split</a:t>
            </a:r>
            <a:endParaRPr lang="en-US" sz="1300" dirty="0"/>
          </a:p>
        </p:txBody>
      </p:sp>
      <p:sp>
        <p:nvSpPr>
          <p:cNvPr id="19" name="Text 17"/>
          <p:cNvSpPr txBox="1"/>
          <p:nvPr/>
        </p:nvSpPr>
        <p:spPr>
          <a:xfrm>
            <a:off x="841248" y="3950208"/>
            <a:ext cx="10509199" cy="292608"/>
          </a:xfrm>
          <a:prstGeom prst="rect">
            <a:avLst/>
          </a:prstGeom>
          <a:noFill/>
          <a:ln/>
        </p:spPr>
        <p:txBody>
          <a:bodyPr wrap="square" lIns="0" tIns="0" rIns="0" bIns="0" rtlCol="0" anchor="ctr"/>
          <a:lstStyle/>
          <a:p>
            <a:pPr indent="0" marL="0">
              <a:buNone/>
            </a:pPr>
            <a:r>
              <a:rPr lang="en-US" sz="1400" b="1" dirty="0">
                <a:solidFill>
                  <a:srgbClr val="A64B2A"/>
                </a:solidFill>
                <a:latin typeface="Consolas" pitchFamily="34" charset="0"/>
                <a:ea typeface="Consolas" pitchFamily="34" charset="-122"/>
                <a:cs typeface="Consolas" pitchFamily="34" charset="-120"/>
              </a:rPr>
              <a:t>static const </a:t>
            </a:r>
            <a:pPr indent="0" marL="0">
              <a:buNone/>
            </a:pPr>
            <a:r>
              <a:rPr lang="en-US" sz="1400" b="1" dirty="0">
                <a:solidFill>
                  <a:srgbClr val="4A6B5D"/>
                </a:solidFill>
                <a:latin typeface="Consolas" pitchFamily="34" charset="0"/>
                <a:ea typeface="Consolas" pitchFamily="34" charset="-122"/>
                <a:cs typeface="Consolas" pitchFamily="34" charset="-120"/>
              </a:rPr>
              <a:t>double </a:t>
            </a:r>
            <a:pPr indent="0" marL="0">
              <a:buNone/>
            </a:pPr>
            <a:r>
              <a:rPr lang="en-US" sz="1400" dirty="0">
                <a:solidFill>
                  <a:srgbClr val="1C1917"/>
                </a:solidFill>
                <a:latin typeface="Consolas" pitchFamily="34" charset="0"/>
                <a:ea typeface="Consolas" pitchFamily="34" charset="-122"/>
                <a:cs typeface="Consolas" pitchFamily="34" charset="-120"/>
              </a:rPr>
              <a:t>geofenceRadius = 100.0;  // metres</a:t>
            </a:r>
            <a:endParaRPr lang="en-US" sz="1400" dirty="0"/>
          </a:p>
        </p:txBody>
      </p:sp>
      <p:sp>
        <p:nvSpPr>
          <p:cNvPr id="20" name="Text 18"/>
          <p:cNvSpPr txBox="1"/>
          <p:nvPr/>
        </p:nvSpPr>
        <p:spPr>
          <a:xfrm>
            <a:off x="841248" y="4315968"/>
            <a:ext cx="10509199" cy="566928"/>
          </a:xfrm>
          <a:prstGeom prst="rect">
            <a:avLst/>
          </a:prstGeom>
          <a:noFill/>
          <a:ln/>
        </p:spPr>
        <p:txBody>
          <a:bodyPr wrap="square" lIns="0" tIns="0" rIns="0" bIns="0" rtlCol="0" anchor="t"/>
          <a:lstStyle/>
          <a:p>
            <a:pPr indent="0" marL="0">
              <a:lnSpc>
                <a:spcPts val="1700"/>
              </a:lnSpc>
              <a:buNone/>
            </a:pPr>
            <a:r>
              <a:rPr lang="en-US" sz="1200" dirty="0">
                <a:solidFill>
                  <a:srgbClr val="6E635C"/>
                </a:solidFill>
                <a:latin typeface="Calibri" pitchFamily="34" charset="0"/>
                <a:ea typeface="Calibri" pitchFamily="34" charset="-122"/>
                <a:cs typeface="Calibri" pitchFamily="34" charset="-120"/>
              </a:rPr>
              <a:t>≈ 16 tokens. A 300-line Dart file is roughly 3,000–4,000 tokens. Reading ten such files costs more than a long conversation — which is why what Claude reads matters more than what you type.</a:t>
            </a:r>
            <a:endParaRPr lang="en-US" sz="1200" dirty="0"/>
          </a:p>
        </p:txBody>
      </p:sp>
      <p:sp>
        <p:nvSpPr>
          <p:cNvPr id="21" name="Shape 19"/>
          <p:cNvSpPr/>
          <p:nvPr/>
        </p:nvSpPr>
        <p:spPr>
          <a:xfrm>
            <a:off x="566928" y="5102352"/>
            <a:ext cx="11057839" cy="1005840"/>
          </a:xfrm>
          <a:prstGeom prst="roundRect">
            <a:avLst>
              <a:gd name="adj" fmla="val 8182"/>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2" name="Text 20"/>
          <p:cNvSpPr txBox="1"/>
          <p:nvPr/>
        </p:nvSpPr>
        <p:spPr>
          <a:xfrm>
            <a:off x="841248" y="5248656"/>
            <a:ext cx="3017520" cy="256032"/>
          </a:xfrm>
          <a:prstGeom prst="rect">
            <a:avLst/>
          </a:prstGeom>
          <a:noFill/>
          <a:ln/>
        </p:spPr>
        <p:txBody>
          <a:bodyPr wrap="square" lIns="0" tIns="0" rIns="0" bIns="0" rtlCol="0" anchor="ctr"/>
          <a:lstStyle/>
          <a:p>
            <a:pPr indent="0" marL="0">
              <a:buNone/>
            </a:pPr>
            <a:r>
              <a:rPr lang="en-US" sz="1300" b="1" dirty="0">
                <a:solidFill>
                  <a:srgbClr val="1C1917"/>
                </a:solidFill>
                <a:latin typeface="Calibri" pitchFamily="34" charset="0"/>
                <a:ea typeface="Calibri" pitchFamily="34" charset="-122"/>
                <a:cs typeface="Calibri" pitchFamily="34" charset="-120"/>
              </a:rPr>
              <a:t>The rule that matters</a:t>
            </a:r>
            <a:endParaRPr lang="en-US" sz="1300" dirty="0"/>
          </a:p>
        </p:txBody>
      </p:sp>
      <p:sp>
        <p:nvSpPr>
          <p:cNvPr id="23" name="Text 21"/>
          <p:cNvSpPr txBox="1"/>
          <p:nvPr/>
        </p:nvSpPr>
        <p:spPr>
          <a:xfrm>
            <a:off x="3950208" y="5230368"/>
            <a:ext cx="7400239" cy="658368"/>
          </a:xfrm>
          <a:prstGeom prst="rect">
            <a:avLst/>
          </a:prstGeom>
          <a:noFill/>
          <a:ln/>
        </p:spPr>
        <p:txBody>
          <a:bodyPr wrap="square" lIns="0" tIns="0" rIns="0" bIns="0" rtlCol="0" anchor="t"/>
          <a:lstStyle/>
          <a:p>
            <a:pPr indent="0" marL="0">
              <a:lnSpc>
                <a:spcPts val="1800"/>
              </a:lnSpc>
              <a:buNone/>
            </a:pPr>
            <a:r>
              <a:rPr lang="en-US" sz="1250" dirty="0">
                <a:solidFill>
                  <a:srgbClr val="1C1917"/>
                </a:solidFill>
                <a:latin typeface="Calibri" pitchFamily="34" charset="0"/>
                <a:ea typeface="Calibri" pitchFamily="34" charset="-122"/>
                <a:cs typeface="Calibri" pitchFamily="34" charset="-120"/>
              </a:rPr>
              <a:t>You are not billed per message. You are billed for the entire conversation, re-sent on every single turn. Turn 40 costs far more than turn 1 even if you typed the same sentence.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ANATOMY OF A REQUEST</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Four kinds of token, priced very differently</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Claude Code shows all four in /usage. Knowing which one is growing tells you what to fix.</a:t>
            </a:r>
            <a:endParaRPr lang="en-US" sz="1350" dirty="0"/>
          </a:p>
        </p:txBody>
      </p:sp>
      <p:sp>
        <p:nvSpPr>
          <p:cNvPr id="5" name="Shape 3"/>
          <p:cNvSpPr/>
          <p:nvPr/>
        </p:nvSpPr>
        <p:spPr>
          <a:xfrm>
            <a:off x="566928" y="1755648"/>
            <a:ext cx="11057839" cy="841248"/>
          </a:xfrm>
          <a:prstGeom prst="roundRect">
            <a:avLst>
              <a:gd name="adj" fmla="val 9783"/>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786384" y="1956816"/>
            <a:ext cx="1298448" cy="493776"/>
          </a:xfrm>
          <a:prstGeom prst="roundRect">
            <a:avLst>
              <a:gd name="adj" fmla="val 16667"/>
            </a:avLst>
          </a:prstGeom>
          <a:solidFill>
            <a:srgbClr val="D97757"/>
          </a:solidFill>
          <a:ln/>
        </p:spPr>
      </p:sp>
      <p:sp>
        <p:nvSpPr>
          <p:cNvPr id="7" name="Text 5"/>
          <p:cNvSpPr txBox="1"/>
          <p:nvPr/>
        </p:nvSpPr>
        <p:spPr>
          <a:xfrm>
            <a:off x="786384" y="1956816"/>
            <a:ext cx="1298448"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Input</a:t>
            </a:r>
            <a:endParaRPr lang="en-US" sz="1200" dirty="0"/>
          </a:p>
        </p:txBody>
      </p:sp>
      <p:sp>
        <p:nvSpPr>
          <p:cNvPr id="8" name="Text 6"/>
          <p:cNvSpPr txBox="1"/>
          <p:nvPr/>
        </p:nvSpPr>
        <p:spPr>
          <a:xfrm>
            <a:off x="2304288" y="1911096"/>
            <a:ext cx="9046159" cy="548640"/>
          </a:xfrm>
          <a:prstGeom prst="rect">
            <a:avLst/>
          </a:prstGeom>
          <a:noFill/>
          <a:ln/>
        </p:spPr>
        <p:txBody>
          <a:bodyPr wrap="square" lIns="0" tIns="0" rIns="0" bIns="0" rtlCol="0" anchor="ctr"/>
          <a:lstStyle/>
          <a:p>
            <a:pPr indent="0" marL="0">
              <a:lnSpc>
                <a:spcPts val="1600"/>
              </a:lnSpc>
              <a:buNone/>
            </a:pPr>
            <a:r>
              <a:rPr lang="en-US" sz="1200" dirty="0">
                <a:solidFill>
                  <a:srgbClr val="1C1917"/>
                </a:solidFill>
                <a:latin typeface="Calibri" pitchFamily="34" charset="0"/>
                <a:ea typeface="Calibri" pitchFamily="34" charset="-122"/>
                <a:cs typeface="Calibri" pitchFamily="34" charset="-120"/>
              </a:rPr>
              <a:t>Everything sent to the model: system prompt, tools, CLAUDE.md, files read, tool output and the whole conversation so far. Almost always the largest number.</a:t>
            </a:r>
            <a:endParaRPr lang="en-US" sz="1200" dirty="0"/>
          </a:p>
        </p:txBody>
      </p:sp>
      <p:sp>
        <p:nvSpPr>
          <p:cNvPr id="9" name="Shape 7"/>
          <p:cNvSpPr/>
          <p:nvPr/>
        </p:nvSpPr>
        <p:spPr>
          <a:xfrm>
            <a:off x="566928" y="2706624"/>
            <a:ext cx="11057839" cy="841248"/>
          </a:xfrm>
          <a:prstGeom prst="roundRect">
            <a:avLst>
              <a:gd name="adj" fmla="val 9783"/>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0" name="Shape 8"/>
          <p:cNvSpPr/>
          <p:nvPr/>
        </p:nvSpPr>
        <p:spPr>
          <a:xfrm>
            <a:off x="786384" y="2907792"/>
            <a:ext cx="1298448" cy="493776"/>
          </a:xfrm>
          <a:prstGeom prst="roundRect">
            <a:avLst>
              <a:gd name="adj" fmla="val 16667"/>
            </a:avLst>
          </a:prstGeom>
          <a:solidFill>
            <a:srgbClr val="A64B2A"/>
          </a:solidFill>
          <a:ln/>
        </p:spPr>
      </p:sp>
      <p:sp>
        <p:nvSpPr>
          <p:cNvPr id="11" name="Text 9"/>
          <p:cNvSpPr txBox="1"/>
          <p:nvPr/>
        </p:nvSpPr>
        <p:spPr>
          <a:xfrm>
            <a:off x="786384" y="2907792"/>
            <a:ext cx="1298448"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Output</a:t>
            </a:r>
            <a:endParaRPr lang="en-US" sz="1200" dirty="0"/>
          </a:p>
        </p:txBody>
      </p:sp>
      <p:sp>
        <p:nvSpPr>
          <p:cNvPr id="12" name="Text 10"/>
          <p:cNvSpPr txBox="1"/>
          <p:nvPr/>
        </p:nvSpPr>
        <p:spPr>
          <a:xfrm>
            <a:off x="2304288" y="2862072"/>
            <a:ext cx="9046159" cy="548640"/>
          </a:xfrm>
          <a:prstGeom prst="rect">
            <a:avLst/>
          </a:prstGeom>
          <a:noFill/>
          <a:ln/>
        </p:spPr>
        <p:txBody>
          <a:bodyPr wrap="square" lIns="0" tIns="0" rIns="0" bIns="0" rtlCol="0" anchor="ctr"/>
          <a:lstStyle/>
          <a:p>
            <a:pPr indent="0" marL="0">
              <a:lnSpc>
                <a:spcPts val="1600"/>
              </a:lnSpc>
              <a:buNone/>
            </a:pPr>
            <a:r>
              <a:rPr lang="en-US" sz="1200" dirty="0">
                <a:solidFill>
                  <a:srgbClr val="1C1917"/>
                </a:solidFill>
                <a:latin typeface="Calibri" pitchFamily="34" charset="0"/>
                <a:ea typeface="Calibri" pitchFamily="34" charset="-122"/>
                <a:cs typeface="Calibri" pitchFamily="34" charset="-120"/>
              </a:rPr>
              <a:t>What Claude writes back — explanations, code, edits. Priced roughly 5× input, but usually far smaller in volume.</a:t>
            </a:r>
            <a:endParaRPr lang="en-US" sz="1200" dirty="0"/>
          </a:p>
        </p:txBody>
      </p:sp>
      <p:sp>
        <p:nvSpPr>
          <p:cNvPr id="13" name="Shape 11"/>
          <p:cNvSpPr/>
          <p:nvPr/>
        </p:nvSpPr>
        <p:spPr>
          <a:xfrm>
            <a:off x="566928" y="3657600"/>
            <a:ext cx="11057839" cy="841248"/>
          </a:xfrm>
          <a:prstGeom prst="roundRect">
            <a:avLst>
              <a:gd name="adj" fmla="val 9783"/>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4" name="Shape 12"/>
          <p:cNvSpPr/>
          <p:nvPr/>
        </p:nvSpPr>
        <p:spPr>
          <a:xfrm>
            <a:off x="786384" y="3858768"/>
            <a:ext cx="1298448" cy="493776"/>
          </a:xfrm>
          <a:prstGeom prst="roundRect">
            <a:avLst>
              <a:gd name="adj" fmla="val 16667"/>
            </a:avLst>
          </a:prstGeom>
          <a:solidFill>
            <a:srgbClr val="4A6B5D"/>
          </a:solidFill>
          <a:ln/>
        </p:spPr>
      </p:sp>
      <p:sp>
        <p:nvSpPr>
          <p:cNvPr id="15" name="Text 13"/>
          <p:cNvSpPr txBox="1"/>
          <p:nvPr/>
        </p:nvSpPr>
        <p:spPr>
          <a:xfrm>
            <a:off x="786384" y="3858768"/>
            <a:ext cx="1298448"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Cache write</a:t>
            </a:r>
            <a:endParaRPr lang="en-US" sz="1200" dirty="0"/>
          </a:p>
        </p:txBody>
      </p:sp>
      <p:sp>
        <p:nvSpPr>
          <p:cNvPr id="16" name="Text 14"/>
          <p:cNvSpPr txBox="1"/>
          <p:nvPr/>
        </p:nvSpPr>
        <p:spPr>
          <a:xfrm>
            <a:off x="2304288" y="3813048"/>
            <a:ext cx="9046159" cy="548640"/>
          </a:xfrm>
          <a:prstGeom prst="rect">
            <a:avLst/>
          </a:prstGeom>
          <a:noFill/>
          <a:ln/>
        </p:spPr>
        <p:txBody>
          <a:bodyPr wrap="square" lIns="0" tIns="0" rIns="0" bIns="0" rtlCol="0" anchor="ctr"/>
          <a:lstStyle/>
          <a:p>
            <a:pPr indent="0" marL="0">
              <a:lnSpc>
                <a:spcPts val="1600"/>
              </a:lnSpc>
              <a:buNone/>
            </a:pPr>
            <a:r>
              <a:rPr lang="en-US" sz="1200" dirty="0">
                <a:solidFill>
                  <a:srgbClr val="1C1917"/>
                </a:solidFill>
                <a:latin typeface="Calibri" pitchFamily="34" charset="0"/>
                <a:ea typeface="Calibri" pitchFamily="34" charset="-122"/>
                <a:cs typeface="Calibri" pitchFamily="34" charset="-120"/>
              </a:rPr>
              <a:t>The first time a stable prefix is stored. Slightly more expensive than plain input, paid once.</a:t>
            </a:r>
            <a:endParaRPr lang="en-US" sz="1200" dirty="0"/>
          </a:p>
        </p:txBody>
      </p:sp>
      <p:sp>
        <p:nvSpPr>
          <p:cNvPr id="17" name="Shape 15"/>
          <p:cNvSpPr/>
          <p:nvPr/>
        </p:nvSpPr>
        <p:spPr>
          <a:xfrm>
            <a:off x="566928" y="4608576"/>
            <a:ext cx="11057839" cy="841248"/>
          </a:xfrm>
          <a:prstGeom prst="roundRect">
            <a:avLst>
              <a:gd name="adj" fmla="val 9783"/>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8" name="Shape 16"/>
          <p:cNvSpPr/>
          <p:nvPr/>
        </p:nvSpPr>
        <p:spPr>
          <a:xfrm>
            <a:off x="786384" y="4809744"/>
            <a:ext cx="1298448" cy="493776"/>
          </a:xfrm>
          <a:prstGeom prst="roundRect">
            <a:avLst>
              <a:gd name="adj" fmla="val 16667"/>
            </a:avLst>
          </a:prstGeom>
          <a:solidFill>
            <a:srgbClr val="B08324"/>
          </a:solidFill>
          <a:ln/>
        </p:spPr>
      </p:sp>
      <p:sp>
        <p:nvSpPr>
          <p:cNvPr id="19" name="Text 17"/>
          <p:cNvSpPr txBox="1"/>
          <p:nvPr/>
        </p:nvSpPr>
        <p:spPr>
          <a:xfrm>
            <a:off x="786384" y="4809744"/>
            <a:ext cx="1298448"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Cache read</a:t>
            </a:r>
            <a:endParaRPr lang="en-US" sz="1200" dirty="0"/>
          </a:p>
        </p:txBody>
      </p:sp>
      <p:sp>
        <p:nvSpPr>
          <p:cNvPr id="20" name="Text 18"/>
          <p:cNvSpPr txBox="1"/>
          <p:nvPr/>
        </p:nvSpPr>
        <p:spPr>
          <a:xfrm>
            <a:off x="2304288" y="4764024"/>
            <a:ext cx="9046159" cy="548640"/>
          </a:xfrm>
          <a:prstGeom prst="rect">
            <a:avLst/>
          </a:prstGeom>
          <a:noFill/>
          <a:ln/>
        </p:spPr>
        <p:txBody>
          <a:bodyPr wrap="square" lIns="0" tIns="0" rIns="0" bIns="0" rtlCol="0" anchor="ctr"/>
          <a:lstStyle/>
          <a:p>
            <a:pPr indent="0" marL="0">
              <a:lnSpc>
                <a:spcPts val="1600"/>
              </a:lnSpc>
              <a:buNone/>
            </a:pPr>
            <a:r>
              <a:rPr lang="en-US" sz="1200" dirty="0">
                <a:solidFill>
                  <a:srgbClr val="1C1917"/>
                </a:solidFill>
                <a:latin typeface="Calibri" pitchFamily="34" charset="0"/>
                <a:ea typeface="Calibri" pitchFamily="34" charset="-122"/>
                <a:cs typeface="Calibri" pitchFamily="34" charset="-120"/>
              </a:rPr>
              <a:t>Re-reading that stored prefix on later turns. An order of magnitude cheaper than input — this is what makes long sessions survivable.</a:t>
            </a:r>
            <a:endParaRPr lang="en-US" sz="1200" dirty="0"/>
          </a:p>
        </p:txBody>
      </p:sp>
      <p:sp>
        <p:nvSpPr>
          <p:cNvPr id="21" name="Shape 19"/>
          <p:cNvSpPr/>
          <p:nvPr/>
        </p:nvSpPr>
        <p:spPr>
          <a:xfrm>
            <a:off x="566928" y="5541264"/>
            <a:ext cx="11057839" cy="676656"/>
          </a:xfrm>
          <a:prstGeom prst="roundRect">
            <a:avLst>
              <a:gd name="adj" fmla="val 12162"/>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2" name="Text 20"/>
          <p:cNvSpPr txBox="1"/>
          <p:nvPr/>
        </p:nvSpPr>
        <p:spPr>
          <a:xfrm>
            <a:off x="841248" y="5669280"/>
            <a:ext cx="10509199" cy="438912"/>
          </a:xfrm>
          <a:prstGeom prst="rect">
            <a:avLst/>
          </a:prstGeom>
          <a:noFill/>
          <a:ln/>
        </p:spPr>
        <p:txBody>
          <a:bodyPr wrap="square" lIns="0" tIns="0" rIns="0" bIns="0" rtlCol="0" anchor="t"/>
          <a:lstStyle/>
          <a:p>
            <a:pPr indent="0" marL="0">
              <a:lnSpc>
                <a:spcPts val="1900"/>
              </a:lnSpc>
              <a:buNone/>
            </a:pPr>
            <a:r>
              <a:rPr lang="en-US" sz="1200" dirty="0">
                <a:solidFill>
                  <a:srgbClr val="1C1917"/>
                </a:solidFill>
                <a:latin typeface="Calibri" pitchFamily="34" charset="0"/>
                <a:ea typeface="Calibri" pitchFamily="34" charset="-122"/>
                <a:cs typeface="Calibri" pitchFamily="34" charset="-120"/>
              </a:rPr>
              <a:t>Extended thinking is billed as output. It is on by default because it materially improves hard reasoning — lower it with /effort for routine work rather than turning it off.</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WHERE THE TOKENS ACTUALLY GO</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Your prompt is the smallest part of the bill</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A typical mid-session context in a repo like yours. Run /context to see your own split.</a:t>
            </a:r>
            <a:endParaRPr lang="en-US" sz="1350" dirty="0"/>
          </a:p>
        </p:txBody>
      </p:sp>
      <p:graphicFrame>
        <p:nvGraphicFramePr>
          <p:cNvPr id="5" name="Chart 0" descr=""/>
          <p:cNvGraphicFramePr/>
          <p:nvPr/>
        </p:nvGraphicFramePr>
        <p:xfrm>
          <a:off x="566928" y="1792224"/>
          <a:ext cx="6858000" cy="4187952"/>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35824" y="1792224"/>
            <a:ext cx="3888943" cy="2029968"/>
          </a:xfrm>
          <a:prstGeom prst="roundRect">
            <a:avLst>
              <a:gd name="adj" fmla="val 4054"/>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7" name="Text 4"/>
          <p:cNvSpPr txBox="1"/>
          <p:nvPr/>
        </p:nvSpPr>
        <p:spPr>
          <a:xfrm>
            <a:off x="7991856" y="1956816"/>
            <a:ext cx="3376879" cy="256032"/>
          </a:xfrm>
          <a:prstGeom prst="rect">
            <a:avLst/>
          </a:prstGeom>
          <a:noFill/>
          <a:ln/>
        </p:spPr>
        <p:txBody>
          <a:bodyPr wrap="square" lIns="0" tIns="0" rIns="0" bIns="0" rtlCol="0" anchor="ctr"/>
          <a:lstStyle/>
          <a:p>
            <a:pPr indent="0" marL="0">
              <a:buNone/>
            </a:pPr>
            <a:r>
              <a:rPr lang="en-US" sz="1300" b="1" dirty="0">
                <a:solidFill>
                  <a:srgbClr val="1C1917"/>
                </a:solidFill>
                <a:latin typeface="Calibri" pitchFamily="34" charset="0"/>
                <a:ea typeface="Calibri" pitchFamily="34" charset="-122"/>
                <a:cs typeface="Calibri" pitchFamily="34" charset="-120"/>
              </a:rPr>
              <a:t>Read this as</a:t>
            </a:r>
            <a:endParaRPr lang="en-US" sz="1300" dirty="0"/>
          </a:p>
        </p:txBody>
      </p:sp>
      <p:sp>
        <p:nvSpPr>
          <p:cNvPr id="8" name="Text 5"/>
          <p:cNvSpPr txBox="1"/>
          <p:nvPr/>
        </p:nvSpPr>
        <p:spPr>
          <a:xfrm>
            <a:off x="7991856" y="2267712"/>
            <a:ext cx="3376879" cy="1426464"/>
          </a:xfrm>
          <a:prstGeom prst="rect">
            <a:avLst/>
          </a:prstGeom>
          <a:noFill/>
          <a:ln/>
        </p:spPr>
        <p:txBody>
          <a:bodyPr wrap="square" lIns="0" tIns="0" rIns="0" bIns="0" rtlCol="0" anchor="t"/>
          <a:lstStyle/>
          <a:p>
            <a:pPr indent="0" marL="0">
              <a:lnSpc>
                <a:spcPts val="1700"/>
              </a:lnSpc>
              <a:buNone/>
            </a:pPr>
            <a:r>
              <a:rPr lang="en-US" sz="1200" dirty="0">
                <a:solidFill>
                  <a:srgbClr val="6E635C"/>
                </a:solidFill>
                <a:latin typeface="Calibri" pitchFamily="34" charset="0"/>
                <a:ea typeface="Calibri" pitchFamily="34" charset="-122"/>
                <a:cs typeface="Calibri" pitchFamily="34" charset="-120"/>
              </a:rPr>
              <a:t>Roughly four fifths of what you pay for is history and machine output. You control that directly — by clearing between tasks, by scoping which files get read, and by not leaving unused MCP servers on.</a:t>
            </a:r>
            <a:endParaRPr lang="en-US" sz="1200" dirty="0"/>
          </a:p>
        </p:txBody>
      </p:sp>
      <p:sp>
        <p:nvSpPr>
          <p:cNvPr id="9" name="Shape 6"/>
          <p:cNvSpPr/>
          <p:nvPr/>
        </p:nvSpPr>
        <p:spPr>
          <a:xfrm>
            <a:off x="7735824" y="3950208"/>
            <a:ext cx="3888943" cy="2029968"/>
          </a:xfrm>
          <a:prstGeom prst="roundRect">
            <a:avLst>
              <a:gd name="adj" fmla="val 4054"/>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0" name="Text 7"/>
          <p:cNvSpPr txBox="1"/>
          <p:nvPr/>
        </p:nvSpPr>
        <p:spPr>
          <a:xfrm>
            <a:off x="7991856" y="4114800"/>
            <a:ext cx="3376879" cy="256032"/>
          </a:xfrm>
          <a:prstGeom prst="rect">
            <a:avLst/>
          </a:prstGeom>
          <a:noFill/>
          <a:ln/>
        </p:spPr>
        <p:txBody>
          <a:bodyPr wrap="square" lIns="0" tIns="0" rIns="0" bIns="0" rtlCol="0" anchor="ctr"/>
          <a:lstStyle/>
          <a:p>
            <a:pPr indent="0" marL="0">
              <a:buNone/>
            </a:pPr>
            <a:r>
              <a:rPr lang="en-US" sz="1300" b="1" dirty="0">
                <a:solidFill>
                  <a:srgbClr val="A64B2A"/>
                </a:solidFill>
                <a:latin typeface="Calibri" pitchFamily="34" charset="0"/>
                <a:ea typeface="Calibri" pitchFamily="34" charset="-122"/>
                <a:cs typeface="Calibri" pitchFamily="34" charset="-120"/>
              </a:rPr>
              <a:t>Three commands</a:t>
            </a:r>
            <a:endParaRPr lang="en-US" sz="1300" dirty="0"/>
          </a:p>
        </p:txBody>
      </p:sp>
      <p:sp>
        <p:nvSpPr>
          <p:cNvPr id="11" name="Text 8"/>
          <p:cNvSpPr txBox="1"/>
          <p:nvPr/>
        </p:nvSpPr>
        <p:spPr>
          <a:xfrm>
            <a:off x="7991856" y="4425696"/>
            <a:ext cx="3376879" cy="1463040"/>
          </a:xfrm>
          <a:prstGeom prst="rect">
            <a:avLst/>
          </a:prstGeom>
          <a:noFill/>
          <a:ln/>
        </p:spPr>
        <p:txBody>
          <a:bodyPr wrap="square" lIns="0" tIns="0" rIns="0" bIns="0" rtlCol="0" anchor="ctr"/>
          <a:lstStyle/>
          <a:p>
            <a:pPr marL="342900" indent="-342900">
              <a:lnSpc>
                <a:spcPts val="1800"/>
              </a:lnSpc>
              <a:spcAft>
                <a:spcPts val="800"/>
              </a:spcAft>
              <a:buSzPct val="100000"/>
              <a:buChar char="•"/>
            </a:pPr>
            <a:r>
              <a:rPr lang="en-US" sz="1200" dirty="0">
                <a:solidFill>
                  <a:srgbClr val="6E635C"/>
                </a:solidFill>
                <a:latin typeface="Calibri" pitchFamily="34" charset="0"/>
                <a:ea typeface="Calibri" pitchFamily="34" charset="-122"/>
                <a:cs typeface="Calibri" pitchFamily="34" charset="-120"/>
              </a:rPr>
              <a:t>/context — what is in the window now</a:t>
            </a:r>
            <a:endParaRPr lang="en-US" sz="1200" dirty="0"/>
          </a:p>
          <a:p>
            <a:pPr marL="342900" indent="-342900">
              <a:lnSpc>
                <a:spcPts val="1800"/>
              </a:lnSpc>
              <a:spcAft>
                <a:spcPts val="800"/>
              </a:spcAft>
              <a:buSzPct val="100000"/>
              <a:buChar char="•"/>
            </a:pPr>
            <a:r>
              <a:rPr lang="en-US" sz="1200" dirty="0">
                <a:solidFill>
                  <a:srgbClr val="6E635C"/>
                </a:solidFill>
                <a:latin typeface="Calibri" pitchFamily="34" charset="0"/>
                <a:ea typeface="Calibri" pitchFamily="34" charset="-122"/>
                <a:cs typeface="Calibri" pitchFamily="34" charset="-120"/>
              </a:rPr>
              <a:t>/usage — plan bars and attribution</a:t>
            </a:r>
            <a:endParaRPr lang="en-US" sz="1200" dirty="0"/>
          </a:p>
          <a:p>
            <a:pPr marL="342900" indent="-342900">
              <a:lnSpc>
                <a:spcPts val="1800"/>
              </a:lnSpc>
              <a:spcAft>
                <a:spcPts val="800"/>
              </a:spcAft>
              <a:buSzPct val="100000"/>
              <a:buChar char="•"/>
            </a:pPr>
            <a:r>
              <a:rPr lang="en-US" sz="1200" dirty="0">
                <a:solidFill>
                  <a:srgbClr val="6E635C"/>
                </a:solidFill>
                <a:latin typeface="Calibri" pitchFamily="34" charset="0"/>
                <a:ea typeface="Calibri" pitchFamily="34" charset="-122"/>
                <a:cs typeface="Calibri" pitchFamily="34" charset="-120"/>
              </a:rPr>
              <a:t>/mcp — turn off servers you are not using</a:t>
            </a:r>
            <a:endParaRPr lang="en-US" sz="1200" dirty="0"/>
          </a:p>
        </p:txBody>
      </p:sp>
      <p:sp>
        <p:nvSpPr>
          <p:cNvPr id="12" name="Text 9"/>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900" i="1" dirty="0">
                <a:solidFill>
                  <a:srgbClr val="9C918A"/>
                </a:solidFill>
                <a:latin typeface="Calibri" pitchFamily="34" charset="0"/>
                <a:ea typeface="Calibri" pitchFamily="34" charset="-122"/>
                <a:cs typeface="Calibri" pitchFamily="34" charset="-120"/>
              </a:rPr>
              <a:t>Illustrative proportions for a mid-session repo task; your own split will differ — check /context.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THE COMPOUNDING PROBLEM</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Why an all-day session burns a week of limit</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Tokens sent per turn, with and without clearing between unrelated tasks.</a:t>
            </a:r>
            <a:endParaRPr lang="en-US" sz="1350" dirty="0"/>
          </a:p>
        </p:txBody>
      </p:sp>
      <p:graphicFrame>
        <p:nvGraphicFramePr>
          <p:cNvPr id="5" name="Chart 0" descr=""/>
          <p:cNvGraphicFramePr/>
          <p:nvPr/>
        </p:nvGraphicFramePr>
        <p:xfrm>
          <a:off x="566928" y="1883664"/>
          <a:ext cx="6903720" cy="3035808"/>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66928" y="4956048"/>
            <a:ext cx="6903720" cy="219456"/>
          </a:xfrm>
          <a:prstGeom prst="rect">
            <a:avLst/>
          </a:prstGeom>
          <a:noFill/>
          <a:ln/>
        </p:spPr>
        <p:txBody>
          <a:bodyPr wrap="square" lIns="0" tIns="0" rIns="0" bIns="0" rtlCol="0" anchor="t"/>
          <a:lstStyle/>
          <a:p>
            <a:pPr algn="ctr" indent="0" marL="0">
              <a:lnSpc>
                <a:spcPts val="1900"/>
              </a:lnSpc>
              <a:buNone/>
            </a:pPr>
            <a:r>
              <a:rPr lang="en-US" sz="1000" dirty="0">
                <a:solidFill>
                  <a:srgbClr val="6E635C"/>
                </a:solidFill>
                <a:latin typeface="Calibri" pitchFamily="34" charset="0"/>
                <a:ea typeface="Calibri" pitchFamily="34" charset="-122"/>
                <a:cs typeface="Calibri" pitchFamily="34" charset="-120"/>
              </a:rPr>
              <a:t>Turn number</a:t>
            </a:r>
            <a:endParaRPr lang="en-US" sz="1000" dirty="0"/>
          </a:p>
        </p:txBody>
      </p:sp>
      <p:sp>
        <p:nvSpPr>
          <p:cNvPr id="7" name="Shape 4"/>
          <p:cNvSpPr/>
          <p:nvPr/>
        </p:nvSpPr>
        <p:spPr>
          <a:xfrm>
            <a:off x="7763256" y="1792224"/>
            <a:ext cx="3861511" cy="804672"/>
          </a:xfrm>
          <a:prstGeom prst="roundRect">
            <a:avLst>
              <a:gd name="adj" fmla="val 10227"/>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8" name="Text 5"/>
          <p:cNvSpPr txBox="1"/>
          <p:nvPr/>
        </p:nvSpPr>
        <p:spPr>
          <a:xfrm>
            <a:off x="7982712" y="1892808"/>
            <a:ext cx="3440887" cy="219456"/>
          </a:xfrm>
          <a:prstGeom prst="rect">
            <a:avLst/>
          </a:prstGeom>
          <a:noFill/>
          <a:ln/>
        </p:spPr>
        <p:txBody>
          <a:bodyPr wrap="square" lIns="0" tIns="0" rIns="0" bIns="0" rtlCol="0" anchor="ctr"/>
          <a:lstStyle/>
          <a:p>
            <a:pPr indent="0" marL="0">
              <a:buNone/>
            </a:pPr>
            <a:r>
              <a:rPr lang="en-US" sz="1200" b="1" dirty="0">
                <a:solidFill>
                  <a:srgbClr val="A64B2A"/>
                </a:solidFill>
                <a:latin typeface="Calibri" pitchFamily="34" charset="0"/>
                <a:ea typeface="Calibri" pitchFamily="34" charset="-122"/>
                <a:cs typeface="Calibri" pitchFamily="34" charset="-120"/>
              </a:rPr>
              <a:t>Long context</a:t>
            </a:r>
            <a:endParaRPr lang="en-US" sz="1200" dirty="0"/>
          </a:p>
        </p:txBody>
      </p:sp>
      <p:sp>
        <p:nvSpPr>
          <p:cNvPr id="9" name="Text 6"/>
          <p:cNvSpPr txBox="1"/>
          <p:nvPr/>
        </p:nvSpPr>
        <p:spPr>
          <a:xfrm>
            <a:off x="7982712" y="2121408"/>
            <a:ext cx="3440887" cy="438912"/>
          </a:xfrm>
          <a:prstGeom prst="rect">
            <a:avLst/>
          </a:prstGeom>
          <a:noFill/>
          <a:ln/>
        </p:spPr>
        <p:txBody>
          <a:bodyPr wrap="square" lIns="0" tIns="0" rIns="0" bIns="0" rtlCol="0" anchor="t"/>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The full history rides on every request, even a one-word reply.</a:t>
            </a:r>
            <a:endParaRPr lang="en-US" sz="1050" dirty="0"/>
          </a:p>
        </p:txBody>
      </p:sp>
      <p:sp>
        <p:nvSpPr>
          <p:cNvPr id="10" name="Shape 7"/>
          <p:cNvSpPr/>
          <p:nvPr/>
        </p:nvSpPr>
        <p:spPr>
          <a:xfrm>
            <a:off x="7763256" y="2706624"/>
            <a:ext cx="3861511" cy="804672"/>
          </a:xfrm>
          <a:prstGeom prst="roundRect">
            <a:avLst>
              <a:gd name="adj" fmla="val 10227"/>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1" name="Text 8"/>
          <p:cNvSpPr txBox="1"/>
          <p:nvPr/>
        </p:nvSpPr>
        <p:spPr>
          <a:xfrm>
            <a:off x="7982712" y="2807208"/>
            <a:ext cx="3440887" cy="219456"/>
          </a:xfrm>
          <a:prstGeom prst="rect">
            <a:avLst/>
          </a:prstGeom>
          <a:noFill/>
          <a:ln/>
        </p:spPr>
        <p:txBody>
          <a:bodyPr wrap="square" lIns="0" tIns="0" rIns="0" bIns="0" rtlCol="0" anchor="ctr"/>
          <a:lstStyle/>
          <a:p>
            <a:pPr indent="0" marL="0">
              <a:buNone/>
            </a:pPr>
            <a:r>
              <a:rPr lang="en-US" sz="1200" b="1" dirty="0">
                <a:solidFill>
                  <a:srgbClr val="A64B2A"/>
                </a:solidFill>
                <a:latin typeface="Calibri" pitchFamily="34" charset="0"/>
                <a:ea typeface="Calibri" pitchFamily="34" charset="-122"/>
                <a:cs typeface="Calibri" pitchFamily="34" charset="-120"/>
              </a:rPr>
              <a:t>Cache misses</a:t>
            </a:r>
            <a:endParaRPr lang="en-US" sz="1200" dirty="0"/>
          </a:p>
        </p:txBody>
      </p:sp>
      <p:sp>
        <p:nvSpPr>
          <p:cNvPr id="12" name="Text 9"/>
          <p:cNvSpPr txBox="1"/>
          <p:nvPr/>
        </p:nvSpPr>
        <p:spPr>
          <a:xfrm>
            <a:off x="7982712" y="3035808"/>
            <a:ext cx="3440887" cy="438912"/>
          </a:xfrm>
          <a:prstGeom prst="rect">
            <a:avLst/>
          </a:prstGeom>
          <a:noFill/>
          <a:ln/>
        </p:spPr>
        <p:txBody>
          <a:bodyPr wrap="square" lIns="0" tIns="0" rIns="0" bIns="0" rtlCol="0" anchor="t"/>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A break longer than the cache lifetime reprocesses everything.</a:t>
            </a:r>
            <a:endParaRPr lang="en-US" sz="1050" dirty="0"/>
          </a:p>
        </p:txBody>
      </p:sp>
      <p:sp>
        <p:nvSpPr>
          <p:cNvPr id="13" name="Shape 10"/>
          <p:cNvSpPr/>
          <p:nvPr/>
        </p:nvSpPr>
        <p:spPr>
          <a:xfrm>
            <a:off x="7763256" y="3621024"/>
            <a:ext cx="3861511" cy="804672"/>
          </a:xfrm>
          <a:prstGeom prst="roundRect">
            <a:avLst>
              <a:gd name="adj" fmla="val 10227"/>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4" name="Text 11"/>
          <p:cNvSpPr txBox="1"/>
          <p:nvPr/>
        </p:nvSpPr>
        <p:spPr>
          <a:xfrm>
            <a:off x="7982712" y="3721608"/>
            <a:ext cx="3440887" cy="219456"/>
          </a:xfrm>
          <a:prstGeom prst="rect">
            <a:avLst/>
          </a:prstGeom>
          <a:noFill/>
          <a:ln/>
        </p:spPr>
        <p:txBody>
          <a:bodyPr wrap="square" lIns="0" tIns="0" rIns="0" bIns="0" rtlCol="0" anchor="ctr"/>
          <a:lstStyle/>
          <a:p>
            <a:pPr indent="0" marL="0">
              <a:buNone/>
            </a:pPr>
            <a:r>
              <a:rPr lang="en-US" sz="1200" b="1" dirty="0">
                <a:solidFill>
                  <a:srgbClr val="A64B2A"/>
                </a:solidFill>
                <a:latin typeface="Calibri" pitchFamily="34" charset="0"/>
                <a:ea typeface="Calibri" pitchFamily="34" charset="-122"/>
                <a:cs typeface="Calibri" pitchFamily="34" charset="-120"/>
              </a:rPr>
              <a:t>Idle work</a:t>
            </a:r>
            <a:endParaRPr lang="en-US" sz="1200" dirty="0"/>
          </a:p>
        </p:txBody>
      </p:sp>
      <p:sp>
        <p:nvSpPr>
          <p:cNvPr id="15" name="Text 12"/>
          <p:cNvSpPr txBox="1"/>
          <p:nvPr/>
        </p:nvSpPr>
        <p:spPr>
          <a:xfrm>
            <a:off x="7982712" y="3950208"/>
            <a:ext cx="3440887" cy="438912"/>
          </a:xfrm>
          <a:prstGeom prst="rect">
            <a:avLst/>
          </a:prstGeom>
          <a:noFill/>
          <a:ln/>
        </p:spPr>
        <p:txBody>
          <a:bodyPr wrap="square" lIns="0" tIns="0" rIns="0" bIns="0" rtlCol="0" anchor="t"/>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Scheduled tasks and background check-ins fire on a full context.</a:t>
            </a:r>
            <a:endParaRPr lang="en-US" sz="1050" dirty="0"/>
          </a:p>
        </p:txBody>
      </p:sp>
      <p:sp>
        <p:nvSpPr>
          <p:cNvPr id="16" name="Shape 13"/>
          <p:cNvSpPr/>
          <p:nvPr/>
        </p:nvSpPr>
        <p:spPr>
          <a:xfrm>
            <a:off x="7763256" y="4535424"/>
            <a:ext cx="3861511" cy="804672"/>
          </a:xfrm>
          <a:prstGeom prst="roundRect">
            <a:avLst>
              <a:gd name="adj" fmla="val 10227"/>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7" name="Text 14"/>
          <p:cNvSpPr txBox="1"/>
          <p:nvPr/>
        </p:nvSpPr>
        <p:spPr>
          <a:xfrm>
            <a:off x="7982712" y="4636008"/>
            <a:ext cx="3440887" cy="219456"/>
          </a:xfrm>
          <a:prstGeom prst="rect">
            <a:avLst/>
          </a:prstGeom>
          <a:noFill/>
          <a:ln/>
        </p:spPr>
        <p:txBody>
          <a:bodyPr wrap="square" lIns="0" tIns="0" rIns="0" bIns="0" rtlCol="0" anchor="ctr"/>
          <a:lstStyle/>
          <a:p>
            <a:pPr indent="0" marL="0">
              <a:buNone/>
            </a:pPr>
            <a:r>
              <a:rPr lang="en-US" sz="1200" b="1" dirty="0">
                <a:solidFill>
                  <a:srgbClr val="A64B2A"/>
                </a:solidFill>
                <a:latin typeface="Calibri" pitchFamily="34" charset="0"/>
                <a:ea typeface="Calibri" pitchFamily="34" charset="-122"/>
                <a:cs typeface="Calibri" pitchFamily="34" charset="-120"/>
              </a:rPr>
              <a:t>Agent teams</a:t>
            </a:r>
            <a:endParaRPr lang="en-US" sz="1200" dirty="0"/>
          </a:p>
        </p:txBody>
      </p:sp>
      <p:sp>
        <p:nvSpPr>
          <p:cNvPr id="18" name="Text 15"/>
          <p:cNvSpPr txBox="1"/>
          <p:nvPr/>
        </p:nvSpPr>
        <p:spPr>
          <a:xfrm>
            <a:off x="7982712" y="4864608"/>
            <a:ext cx="3440887" cy="438912"/>
          </a:xfrm>
          <a:prstGeom prst="rect">
            <a:avLst/>
          </a:prstGeom>
          <a:noFill/>
          <a:ln/>
        </p:spPr>
        <p:txBody>
          <a:bodyPr wrap="square" lIns="0" tIns="0" rIns="0" bIns="0" rtlCol="0" anchor="t"/>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Each teammate carries its own window — roughly 7× a normal session.</a:t>
            </a:r>
            <a:endParaRPr lang="en-US" sz="1050" dirty="0"/>
          </a:p>
        </p:txBody>
      </p:sp>
      <p:sp>
        <p:nvSpPr>
          <p:cNvPr id="19" name="Shape 16"/>
          <p:cNvSpPr/>
          <p:nvPr/>
        </p:nvSpPr>
        <p:spPr>
          <a:xfrm>
            <a:off x="566928" y="5486400"/>
            <a:ext cx="11057839" cy="640080"/>
          </a:xfrm>
          <a:prstGeom prst="roundRect">
            <a:avLst>
              <a:gd name="adj" fmla="val 12857"/>
            </a:avLst>
          </a:prstGeom>
          <a:solidFill>
            <a:srgbClr val="1C1917"/>
          </a:solidFill>
          <a:ln w="12700">
            <a:solidFill>
              <a:srgbClr val="1C1917"/>
            </a:solidFill>
            <a:prstDash val="solid"/>
          </a:ln>
          <a:effectLst>
            <a:outerShdw sx="100000" sy="100000" kx="0" ky="0" algn="bl" rotWithShape="0" blurRad="114300" dist="445" dir="5400000">
              <a:srgbClr val="000000">
                <a:alpha val="7000"/>
              </a:srgbClr>
            </a:outerShdw>
          </a:effectLst>
        </p:spPr>
      </p:sp>
      <p:sp>
        <p:nvSpPr>
          <p:cNvPr id="20" name="Text 17"/>
          <p:cNvSpPr txBox="1"/>
          <p:nvPr/>
        </p:nvSpPr>
        <p:spPr>
          <a:xfrm>
            <a:off x="859536" y="5577840"/>
            <a:ext cx="10472623" cy="457200"/>
          </a:xfrm>
          <a:prstGeom prst="rect">
            <a:avLst/>
          </a:prstGeom>
          <a:noFill/>
          <a:ln/>
        </p:spPr>
        <p:txBody>
          <a:bodyPr wrap="square" lIns="0" tIns="0" rIns="0" bIns="0" rtlCol="0" anchor="ctr"/>
          <a:lstStyle/>
          <a:p>
            <a:pPr indent="0" marL="0">
              <a:buNone/>
            </a:pPr>
            <a:r>
              <a:rPr lang="en-US" sz="1400" b="1" dirty="0">
                <a:solidFill>
                  <a:srgbClr val="FAF9F7"/>
                </a:solidFill>
                <a:latin typeface="Calibri" pitchFamily="34" charset="0"/>
                <a:ea typeface="Calibri" pitchFamily="34" charset="-122"/>
                <a:cs typeface="Calibri" pitchFamily="34" charset="-120"/>
              </a:rPr>
              <a:t>The habit that saves the most: /clear when you switch to unrelated work. It costs nothing and resets the curve.</a:t>
            </a:r>
            <a:endParaRPr lang="en-US" sz="1400" dirty="0"/>
          </a:p>
        </p:txBody>
      </p:sp>
      <p:sp>
        <p:nvSpPr>
          <p:cNvPr id="21" name="Text 18"/>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900" i="1" dirty="0">
                <a:solidFill>
                  <a:srgbClr val="9C918A"/>
                </a:solidFill>
                <a:latin typeface="Calibri" pitchFamily="34" charset="0"/>
                <a:ea typeface="Calibri" pitchFamily="34" charset="-122"/>
                <a:cs typeface="Calibri" pitchFamily="34" charset="-120"/>
              </a:rPr>
              <a:t>Illustrative curve. Source: Claude Code documentation, 'Manage costs effectively'.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566928" y="2075688"/>
            <a:ext cx="1371600" cy="1371600"/>
          </a:xfrm>
          <a:prstGeom prst="ellipse">
            <a:avLst/>
          </a:prstGeom>
          <a:solidFill>
            <a:srgbClr val="D97757"/>
          </a:solidFill>
          <a:ln/>
        </p:spPr>
      </p:sp>
      <p:sp>
        <p:nvSpPr>
          <p:cNvPr id="3" name="Text 1"/>
          <p:cNvSpPr txBox="1"/>
          <p:nvPr/>
        </p:nvSpPr>
        <p:spPr>
          <a:xfrm>
            <a:off x="566928" y="2075688"/>
            <a:ext cx="1371600" cy="1371600"/>
          </a:xfrm>
          <a:prstGeom prst="rect">
            <a:avLst/>
          </a:prstGeom>
          <a:noFill/>
          <a:ln/>
        </p:spPr>
        <p:txBody>
          <a:bodyPr wrap="square" lIns="0" tIns="0" rIns="0" bIns="0" rtlCol="0" anchor="ctr"/>
          <a:lstStyle/>
          <a:p>
            <a:pPr algn="ctr" indent="0" marL="0">
              <a:buNone/>
            </a:pPr>
            <a:r>
              <a:rPr lang="en-US" sz="5200" b="1" dirty="0">
                <a:solidFill>
                  <a:srgbClr val="1C1917"/>
                </a:solidFill>
                <a:latin typeface="Cambria" pitchFamily="34" charset="0"/>
                <a:ea typeface="Cambria" pitchFamily="34" charset="-122"/>
                <a:cs typeface="Cambria" pitchFamily="34" charset="-120"/>
              </a:rPr>
              <a:t>02</a:t>
            </a:r>
            <a:endParaRPr lang="en-US" sz="5200" dirty="0"/>
          </a:p>
        </p:txBody>
      </p:sp>
      <p:sp>
        <p:nvSpPr>
          <p:cNvPr id="4" name="Text 2"/>
          <p:cNvSpPr txBox="1"/>
          <p:nvPr/>
        </p:nvSpPr>
        <p:spPr>
          <a:xfrm>
            <a:off x="2286000" y="1901952"/>
            <a:ext cx="8778240" cy="237744"/>
          </a:xfrm>
          <a:prstGeom prst="rect">
            <a:avLst/>
          </a:prstGeom>
          <a:noFill/>
          <a:ln/>
        </p:spPr>
        <p:txBody>
          <a:bodyPr wrap="square" lIns="0" tIns="0" rIns="0" bIns="0" rtlCol="0" anchor="ctr"/>
          <a:lstStyle/>
          <a:p>
            <a:pPr indent="0" marL="0">
              <a:buNone/>
            </a:pPr>
            <a:r>
              <a:rPr lang="en-US" sz="1100" b="1" spc="240" kern="0" dirty="0">
                <a:solidFill>
                  <a:srgbClr val="D97757"/>
                </a:solidFill>
                <a:latin typeface="Calibri" pitchFamily="34" charset="0"/>
                <a:ea typeface="Calibri" pitchFamily="34" charset="-122"/>
                <a:cs typeface="Calibri" pitchFamily="34" charset="-120"/>
              </a:rPr>
              <a:t>CAPACITY</a:t>
            </a:r>
            <a:endParaRPr lang="en-US" sz="1100" dirty="0"/>
          </a:p>
        </p:txBody>
      </p:sp>
      <p:sp>
        <p:nvSpPr>
          <p:cNvPr id="5" name="Text 3"/>
          <p:cNvSpPr txBox="1"/>
          <p:nvPr/>
        </p:nvSpPr>
        <p:spPr>
          <a:xfrm>
            <a:off x="2286000" y="2176272"/>
            <a:ext cx="8778240" cy="1188720"/>
          </a:xfrm>
          <a:prstGeom prst="rect">
            <a:avLst/>
          </a:prstGeom>
          <a:noFill/>
          <a:ln/>
        </p:spPr>
        <p:txBody>
          <a:bodyPr wrap="square" lIns="0" tIns="0" rIns="0" bIns="0" rtlCol="0" anchor="t"/>
          <a:lstStyle/>
          <a:p>
            <a:pPr indent="0" marL="0">
              <a:lnSpc>
                <a:spcPts val="4000"/>
              </a:lnSpc>
              <a:buNone/>
            </a:pPr>
            <a:r>
              <a:rPr lang="en-US" sz="3400" b="1" dirty="0">
                <a:solidFill>
                  <a:srgbClr val="FAF9F7"/>
                </a:solidFill>
                <a:latin typeface="Cambria" pitchFamily="34" charset="0"/>
                <a:ea typeface="Cambria" pitchFamily="34" charset="-122"/>
                <a:cs typeface="Cambria" pitchFamily="34" charset="-120"/>
              </a:rPr>
              <a:t>Standard and premium, and what changes</a:t>
            </a:r>
            <a:endParaRPr lang="en-US" sz="3400" dirty="0"/>
          </a:p>
        </p:txBody>
      </p:sp>
      <p:sp>
        <p:nvSpPr>
          <p:cNvPr id="6" name="Text 4"/>
          <p:cNvSpPr txBox="1"/>
          <p:nvPr/>
        </p:nvSpPr>
        <p:spPr>
          <a:xfrm>
            <a:off x="2286000" y="3474720"/>
            <a:ext cx="8412480" cy="914400"/>
          </a:xfrm>
          <a:prstGeom prst="rect">
            <a:avLst/>
          </a:prstGeom>
          <a:noFill/>
          <a:ln/>
        </p:spPr>
        <p:txBody>
          <a:bodyPr wrap="square" lIns="0" tIns="0" rIns="0" bIns="0" rtlCol="0" anchor="t"/>
          <a:lstStyle/>
          <a:p>
            <a:pPr indent="0" marL="0">
              <a:lnSpc>
                <a:spcPts val="2200"/>
              </a:lnSpc>
              <a:buNone/>
            </a:pPr>
            <a:r>
              <a:rPr lang="en-US" sz="1450" dirty="0">
                <a:solidFill>
                  <a:srgbClr val="B8ADA6"/>
                </a:solidFill>
                <a:latin typeface="Calibri" pitchFamily="34" charset="0"/>
                <a:ea typeface="Calibri" pitchFamily="34" charset="-122"/>
                <a:cs typeface="Calibri" pitchFamily="34" charset="-120"/>
              </a:rPr>
              <a:t>Every paid plan meters you two ways at once. Premium capacity does not unlock a better model — it buys you more room before the same ceiling.</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THE LANDSCAPE</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Where standard and premium sit</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Claude Code is included on every paid plan. The tiers differ in allowance, not in capability.</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11057839" cy="914400"/>
        </p:xfrm>
        <a:graphic>
          <a:graphicData uri="http://schemas.openxmlformats.org/drawingml/2006/table">
            <a:tbl>
              <a:tblPr/>
              <a:tblGrid>
                <a:gridCol w="2514600"/>
                <a:gridCol w="1783080"/>
                <a:gridCol w="3931920"/>
                <a:gridCol w="2828239"/>
              </a:tblGrid>
              <a:tr h="384048">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Plan</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Roughly</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Usage allowance</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b="1" dirty="0">
                          <a:solidFill>
                            <a:srgbClr val="1C1917"/>
                          </a:solidFill>
                          <a:latin typeface="Calibri" pitchFamily="34" charset="0"/>
                          <a:ea typeface="Calibri" pitchFamily="34" charset="-122"/>
                          <a:cs typeface="Calibri" pitchFamily="34" charset="-120"/>
                        </a:rPr>
                        <a:t>Best fit</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Free</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Claude chat only; no Claude Code</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Trying the assistant</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Pro</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$20 / month</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Baseline (1×). Light Claude Code use</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Occasional coding, daily chat</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Team — Standard seat</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$20–25 / seat</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≈1.25× Pro, plus a weekly cap</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Most business users</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Max 5×</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$100 / month</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≈5× Pro</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Heavy individual coding</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Team — Premium seat</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$100–125 / seat</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≈6.25× Pro</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Full-time developers</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Max 20×</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$200 / month</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≈10× Pro or more</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All-day agentic work</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Enterprise</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Seat + usage</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Seat buys access; tokens billed at API rates</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150" dirty="0">
                          <a:solidFill>
                            <a:srgbClr val="1C1917"/>
                          </a:solidFill>
                          <a:latin typeface="Calibri" pitchFamily="34" charset="0"/>
                          <a:ea typeface="Calibri" pitchFamily="34" charset="-122"/>
                          <a:cs typeface="Calibri" pitchFamily="34" charset="-120"/>
                        </a:rPr>
                        <a:t>Central governance and SSO</a:t>
                      </a:r>
                      <a:endParaRPr lang="en-US" sz="1150" dirty="0">
                        <a:latin typeface="Calibri" charset="0"/>
                        <a:ea typeface="Calibri" charset="0"/>
                        <a:cs typeface="Calibri" charset="0"/>
                      </a:endParaRPr>
                    </a:p>
                  </a:txBody>
                  <a:tcPr marL="127000" marR="127000" marT="76200" marB="762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029200"/>
            <a:ext cx="11057839" cy="1078992"/>
          </a:xfrm>
          <a:prstGeom prst="roundRect">
            <a:avLst>
              <a:gd name="adj" fmla="val 7627"/>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7" name="Text 4"/>
          <p:cNvSpPr txBox="1"/>
          <p:nvPr/>
        </p:nvSpPr>
        <p:spPr>
          <a:xfrm>
            <a:off x="841248" y="5175504"/>
            <a:ext cx="2743200" cy="256032"/>
          </a:xfrm>
          <a:prstGeom prst="rect">
            <a:avLst/>
          </a:prstGeom>
          <a:noFill/>
          <a:ln/>
        </p:spPr>
        <p:txBody>
          <a:bodyPr wrap="square" lIns="0" tIns="0" rIns="0" bIns="0" rtlCol="0" anchor="ctr"/>
          <a:lstStyle/>
          <a:p>
            <a:pPr indent="0" marL="0">
              <a:buNone/>
            </a:pPr>
            <a:r>
              <a:rPr lang="en-US" sz="1300" b="1" dirty="0">
                <a:solidFill>
                  <a:srgbClr val="A64B2A"/>
                </a:solidFill>
                <a:latin typeface="Calibri" pitchFamily="34" charset="0"/>
                <a:ea typeface="Calibri" pitchFamily="34" charset="-122"/>
                <a:cs typeface="Calibri" pitchFamily="34" charset="-120"/>
              </a:rPr>
              <a:t>The part people miss</a:t>
            </a:r>
            <a:endParaRPr lang="en-US" sz="1300" dirty="0"/>
          </a:p>
        </p:txBody>
      </p:sp>
      <p:sp>
        <p:nvSpPr>
          <p:cNvPr id="8" name="Text 5"/>
          <p:cNvSpPr txBox="1"/>
          <p:nvPr/>
        </p:nvSpPr>
        <p:spPr>
          <a:xfrm>
            <a:off x="3675888" y="5157216"/>
            <a:ext cx="7674559" cy="822960"/>
          </a:xfrm>
          <a:prstGeom prst="rect">
            <a:avLst/>
          </a:prstGeom>
          <a:noFill/>
          <a:ln/>
        </p:spPr>
        <p:txBody>
          <a:bodyPr wrap="square" lIns="0" tIns="0" rIns="0" bIns="0" rtlCol="0" anchor="t"/>
          <a:lstStyle/>
          <a:p>
            <a:pPr indent="0" marL="0">
              <a:lnSpc>
                <a:spcPts val="1700"/>
              </a:lnSpc>
              <a:buNone/>
            </a:pPr>
            <a:r>
              <a:rPr lang="en-US" sz="1250" dirty="0">
                <a:solidFill>
                  <a:srgbClr val="1C1917"/>
                </a:solidFill>
                <a:latin typeface="Calibri" pitchFamily="34" charset="0"/>
                <a:ea typeface="Calibri" pitchFamily="34" charset="-122"/>
                <a:cs typeface="Calibri" pitchFamily="34" charset="-120"/>
              </a:rPr>
              <a:t>Standard and premium seats reach the same models — Opus, Sonnet, Haiku — with the same context windows. A premium seat does not think harder; it simply lets you keep going for longer before a window closes.</a:t>
            </a:r>
            <a:endParaRPr lang="en-US" sz="1250" dirty="0"/>
          </a:p>
        </p:txBody>
      </p:sp>
      <p:sp>
        <p:nvSpPr>
          <p:cNvPr id="9" name="Text 6"/>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900" i="1" dirty="0">
                <a:solidFill>
                  <a:srgbClr val="9C918A"/>
                </a:solidFill>
                <a:latin typeface="Calibri" pitchFamily="34" charset="0"/>
                <a:ea typeface="Calibri" pitchFamily="34" charset="-122"/>
                <a:cs typeface="Calibri" pitchFamily="34" charset="-120"/>
              </a:rPr>
              <a:t>Figures as published August 2026 and subject to change; confirm your own bars with /usage. Sources: Claude Code cost documentation; Anthropic Help Center.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SAME CEILING, DIFFERENT HEIGHT</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Relative capacity per five-hour window</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Pro set to 1×. This is how much work fits before the window closes — not how good the answers are.</a:t>
            </a:r>
            <a:endParaRPr lang="en-US" sz="1350" dirty="0"/>
          </a:p>
        </p:txBody>
      </p:sp>
      <p:graphicFrame>
        <p:nvGraphicFramePr>
          <p:cNvPr id="5" name="Chart 0" descr=""/>
          <p:cNvGraphicFramePr/>
          <p:nvPr/>
        </p:nvGraphicFramePr>
        <p:xfrm>
          <a:off x="566928" y="1847088"/>
          <a:ext cx="6766560" cy="3858768"/>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44384" y="1847088"/>
            <a:ext cx="3980383" cy="1170432"/>
          </a:xfrm>
          <a:prstGeom prst="roundRect">
            <a:avLst>
              <a:gd name="adj" fmla="val 7031"/>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7" name="Text 4"/>
          <p:cNvSpPr txBox="1"/>
          <p:nvPr/>
        </p:nvSpPr>
        <p:spPr>
          <a:xfrm>
            <a:off x="7882128" y="1993392"/>
            <a:ext cx="3523183" cy="237744"/>
          </a:xfrm>
          <a:prstGeom prst="rect">
            <a:avLst/>
          </a:prstGeom>
          <a:noFill/>
          <a:ln/>
        </p:spPr>
        <p:txBody>
          <a:bodyPr wrap="square" lIns="0" tIns="0" rIns="0" bIns="0" rtlCol="0" anchor="ctr"/>
          <a:lstStyle/>
          <a:p>
            <a:pPr indent="0" marL="0">
              <a:buNone/>
            </a:pPr>
            <a:r>
              <a:rPr lang="en-US" sz="1250" b="1" dirty="0">
                <a:solidFill>
                  <a:srgbClr val="1C1917"/>
                </a:solidFill>
                <a:latin typeface="Calibri" pitchFamily="34" charset="0"/>
                <a:ea typeface="Calibri" pitchFamily="34" charset="-122"/>
                <a:cs typeface="Calibri" pitchFamily="34" charset="-120"/>
              </a:rPr>
              <a:t>What scales</a:t>
            </a:r>
            <a:endParaRPr lang="en-US" sz="1250" dirty="0"/>
          </a:p>
        </p:txBody>
      </p:sp>
      <p:sp>
        <p:nvSpPr>
          <p:cNvPr id="8" name="Text 5"/>
          <p:cNvSpPr txBox="1"/>
          <p:nvPr/>
        </p:nvSpPr>
        <p:spPr>
          <a:xfrm>
            <a:off x="7882128" y="2249424"/>
            <a:ext cx="3523183" cy="676656"/>
          </a:xfrm>
          <a:prstGeom prst="rect">
            <a:avLst/>
          </a:prstGeom>
          <a:noFill/>
          <a:ln/>
        </p:spPr>
        <p:txBody>
          <a:bodyPr wrap="square" lIns="0" tIns="0" rIns="0" bIns="0" rtlCol="0" anchor="t"/>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Number of turns, files read, tests run, parallel sessions and background tasks.</a:t>
            </a:r>
            <a:endParaRPr lang="en-US" sz="1150" dirty="0"/>
          </a:p>
        </p:txBody>
      </p:sp>
      <p:sp>
        <p:nvSpPr>
          <p:cNvPr id="9" name="Shape 6"/>
          <p:cNvSpPr/>
          <p:nvPr/>
        </p:nvSpPr>
        <p:spPr>
          <a:xfrm>
            <a:off x="7644384" y="3163824"/>
            <a:ext cx="3980383" cy="1170432"/>
          </a:xfrm>
          <a:prstGeom prst="roundRect">
            <a:avLst>
              <a:gd name="adj" fmla="val 7031"/>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0" name="Text 7"/>
          <p:cNvSpPr txBox="1"/>
          <p:nvPr/>
        </p:nvSpPr>
        <p:spPr>
          <a:xfrm>
            <a:off x="7882128" y="3310128"/>
            <a:ext cx="3523183" cy="237744"/>
          </a:xfrm>
          <a:prstGeom prst="rect">
            <a:avLst/>
          </a:prstGeom>
          <a:noFill/>
          <a:ln/>
        </p:spPr>
        <p:txBody>
          <a:bodyPr wrap="square" lIns="0" tIns="0" rIns="0" bIns="0" rtlCol="0" anchor="ctr"/>
          <a:lstStyle/>
          <a:p>
            <a:pPr indent="0" marL="0">
              <a:buNone/>
            </a:pPr>
            <a:r>
              <a:rPr lang="en-US" sz="1250" b="1" dirty="0">
                <a:solidFill>
                  <a:srgbClr val="1C1917"/>
                </a:solidFill>
                <a:latin typeface="Calibri" pitchFamily="34" charset="0"/>
                <a:ea typeface="Calibri" pitchFamily="34" charset="-122"/>
                <a:cs typeface="Calibri" pitchFamily="34" charset="-120"/>
              </a:rPr>
              <a:t>What does not</a:t>
            </a:r>
            <a:endParaRPr lang="en-US" sz="1250" dirty="0"/>
          </a:p>
        </p:txBody>
      </p:sp>
      <p:sp>
        <p:nvSpPr>
          <p:cNvPr id="11" name="Text 8"/>
          <p:cNvSpPr txBox="1"/>
          <p:nvPr/>
        </p:nvSpPr>
        <p:spPr>
          <a:xfrm>
            <a:off x="7882128" y="3566160"/>
            <a:ext cx="3523183" cy="676656"/>
          </a:xfrm>
          <a:prstGeom prst="rect">
            <a:avLst/>
          </a:prstGeom>
          <a:noFill/>
          <a:ln/>
        </p:spPr>
        <p:txBody>
          <a:bodyPr wrap="square" lIns="0" tIns="0" rIns="0" bIns="0" rtlCol="0" anchor="t"/>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Model quality, context window size, or the accuracy of any single answer.</a:t>
            </a:r>
            <a:endParaRPr lang="en-US" sz="1150" dirty="0"/>
          </a:p>
        </p:txBody>
      </p:sp>
      <p:sp>
        <p:nvSpPr>
          <p:cNvPr id="12" name="Shape 9"/>
          <p:cNvSpPr/>
          <p:nvPr/>
        </p:nvSpPr>
        <p:spPr>
          <a:xfrm>
            <a:off x="7644384" y="4480560"/>
            <a:ext cx="3980383" cy="1170432"/>
          </a:xfrm>
          <a:prstGeom prst="roundRect">
            <a:avLst>
              <a:gd name="adj" fmla="val 7031"/>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3" name="Text 10"/>
          <p:cNvSpPr txBox="1"/>
          <p:nvPr/>
        </p:nvSpPr>
        <p:spPr>
          <a:xfrm>
            <a:off x="7882128" y="4626864"/>
            <a:ext cx="3523183" cy="237744"/>
          </a:xfrm>
          <a:prstGeom prst="rect">
            <a:avLst/>
          </a:prstGeom>
          <a:noFill/>
          <a:ln/>
        </p:spPr>
        <p:txBody>
          <a:bodyPr wrap="square" lIns="0" tIns="0" rIns="0" bIns="0" rtlCol="0" anchor="ctr"/>
          <a:lstStyle/>
          <a:p>
            <a:pPr indent="0" marL="0">
              <a:buNone/>
            </a:pPr>
            <a:r>
              <a:rPr lang="en-US" sz="1250" b="1" dirty="0">
                <a:solidFill>
                  <a:srgbClr val="A64B2A"/>
                </a:solidFill>
                <a:latin typeface="Calibri" pitchFamily="34" charset="0"/>
                <a:ea typeface="Calibri" pitchFamily="34" charset="-122"/>
                <a:cs typeface="Calibri" pitchFamily="34" charset="-120"/>
              </a:rPr>
              <a:t>The practical test</a:t>
            </a:r>
            <a:endParaRPr lang="en-US" sz="1250" dirty="0"/>
          </a:p>
        </p:txBody>
      </p:sp>
      <p:sp>
        <p:nvSpPr>
          <p:cNvPr id="14" name="Text 11"/>
          <p:cNvSpPr txBox="1"/>
          <p:nvPr/>
        </p:nvSpPr>
        <p:spPr>
          <a:xfrm>
            <a:off x="7882128" y="4882896"/>
            <a:ext cx="3523183" cy="676656"/>
          </a:xfrm>
          <a:prstGeom prst="rect">
            <a:avLst/>
          </a:prstGeom>
          <a:noFill/>
          <a:ln/>
        </p:spPr>
        <p:txBody>
          <a:bodyPr wrap="square" lIns="0" tIns="0" rIns="0" bIns="0" rtlCol="0" anchor="t"/>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If you regularly hit a window mid-task, you need capacity. If you hit it because sessions run all day uncleared, you need habits.</a:t>
            </a:r>
            <a:endParaRPr lang="en-US" sz="1150" dirty="0"/>
          </a:p>
        </p:txBody>
      </p:sp>
      <p:sp>
        <p:nvSpPr>
          <p:cNvPr id="15" name="Text 12"/>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900" i="1" dirty="0">
                <a:solidFill>
                  <a:srgbClr val="9C918A"/>
                </a:solidFill>
                <a:latin typeface="Calibri" pitchFamily="34" charset="0"/>
                <a:ea typeface="Calibri" pitchFamily="34" charset="-122"/>
                <a:cs typeface="Calibri" pitchFamily="34" charset="-120"/>
              </a:rPr>
              <a:t>Approximate multipliers published August 2026; a temporary 50% weekly boost applied on paid plans through 31 Aug 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HOW THE LIMIT REALLY WORKS</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Two windows, one shared pool</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Every paid plan meters you on both at the same time. Hitting either one stops you.</a:t>
            </a:r>
            <a:endParaRPr lang="en-US" sz="1350" dirty="0"/>
          </a:p>
        </p:txBody>
      </p:sp>
      <p:sp>
        <p:nvSpPr>
          <p:cNvPr id="5" name="Shape 3"/>
          <p:cNvSpPr/>
          <p:nvPr/>
        </p:nvSpPr>
        <p:spPr>
          <a:xfrm>
            <a:off x="566928" y="1810512"/>
            <a:ext cx="5373472" cy="2121408"/>
          </a:xfrm>
          <a:prstGeom prst="roundRect">
            <a:avLst>
              <a:gd name="adj" fmla="val 3879"/>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822960" y="2029968"/>
            <a:ext cx="475488" cy="475488"/>
          </a:xfrm>
          <a:prstGeom prst="ellipse">
            <a:avLst/>
          </a:prstGeom>
          <a:solidFill>
            <a:srgbClr val="D97757"/>
          </a:solidFill>
          <a:ln w="12700">
            <a:solidFill>
              <a:srgbClr val="D97757"/>
            </a:solidFill>
            <a:prstDash val="solid"/>
          </a:ln>
        </p:spPr>
      </p:sp>
      <p:sp>
        <p:nvSpPr>
          <p:cNvPr id="7" name="Text 5"/>
          <p:cNvSpPr txBox="1"/>
          <p:nvPr/>
        </p:nvSpPr>
        <p:spPr>
          <a:xfrm>
            <a:off x="822960" y="202996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5h</a:t>
            </a:r>
            <a:endParaRPr lang="en-US" sz="1300" dirty="0"/>
          </a:p>
        </p:txBody>
      </p:sp>
      <p:sp>
        <p:nvSpPr>
          <p:cNvPr id="8" name="Text 6"/>
          <p:cNvSpPr txBox="1"/>
          <p:nvPr/>
        </p:nvSpPr>
        <p:spPr>
          <a:xfrm>
            <a:off x="1444752" y="2084832"/>
            <a:ext cx="4276192" cy="274320"/>
          </a:xfrm>
          <a:prstGeom prst="rect">
            <a:avLst/>
          </a:prstGeom>
          <a:noFill/>
          <a:ln/>
        </p:spPr>
        <p:txBody>
          <a:bodyPr wrap="square" lIns="0" tIns="0" rIns="0" bIns="0" rtlCol="0" anchor="ctr"/>
          <a:lstStyle/>
          <a:p>
            <a:pPr indent="0" marL="0">
              <a:buNone/>
            </a:pPr>
            <a:r>
              <a:rPr lang="en-US" sz="1500" b="1" dirty="0">
                <a:solidFill>
                  <a:srgbClr val="1C1917"/>
                </a:solidFill>
                <a:latin typeface="Calibri" pitchFamily="34" charset="0"/>
                <a:ea typeface="Calibri" pitchFamily="34" charset="-122"/>
                <a:cs typeface="Calibri" pitchFamily="34" charset="-120"/>
              </a:rPr>
              <a:t>The session window</a:t>
            </a:r>
            <a:endParaRPr lang="en-US" sz="1500" dirty="0"/>
          </a:p>
        </p:txBody>
      </p:sp>
      <p:sp>
        <p:nvSpPr>
          <p:cNvPr id="9" name="Text 7"/>
          <p:cNvSpPr txBox="1"/>
          <p:nvPr/>
        </p:nvSpPr>
        <p:spPr>
          <a:xfrm>
            <a:off x="822960" y="2651760"/>
            <a:ext cx="4861408" cy="1097280"/>
          </a:xfrm>
          <a:prstGeom prst="rect">
            <a:avLst/>
          </a:prstGeom>
          <a:noFill/>
          <a:ln/>
        </p:spPr>
        <p:txBody>
          <a:bodyPr wrap="square" lIns="0" tIns="0" rIns="0" bIns="0" rtlCol="0" anchor="t"/>
          <a:lstStyle/>
          <a:p>
            <a:pPr indent="0" marL="0">
              <a:lnSpc>
                <a:spcPts val="1700"/>
              </a:lnSpc>
              <a:buNone/>
            </a:pPr>
            <a:r>
              <a:rPr lang="en-US" sz="1200" dirty="0">
                <a:solidFill>
                  <a:srgbClr val="6E635C"/>
                </a:solidFill>
                <a:latin typeface="Calibri" pitchFamily="34" charset="0"/>
                <a:ea typeface="Calibri" pitchFamily="34" charset="-122"/>
                <a:cs typeface="Calibri" pitchFamily="34" charset="-120"/>
              </a:rPr>
              <a:t>A rolling five-hour bucket that starts filling with your first message. It refills continuously as the oldest activity ages out — you do not wait for a fixed clock.</a:t>
            </a:r>
            <a:endParaRPr lang="en-US" sz="1200" dirty="0"/>
          </a:p>
        </p:txBody>
      </p:sp>
      <p:sp>
        <p:nvSpPr>
          <p:cNvPr id="10" name="Shape 8"/>
          <p:cNvSpPr/>
          <p:nvPr/>
        </p:nvSpPr>
        <p:spPr>
          <a:xfrm>
            <a:off x="6251296" y="1810512"/>
            <a:ext cx="5373472" cy="2121408"/>
          </a:xfrm>
          <a:prstGeom prst="roundRect">
            <a:avLst>
              <a:gd name="adj" fmla="val 3879"/>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1" name="Shape 9"/>
          <p:cNvSpPr/>
          <p:nvPr/>
        </p:nvSpPr>
        <p:spPr>
          <a:xfrm>
            <a:off x="6507328" y="2029968"/>
            <a:ext cx="475488" cy="475488"/>
          </a:xfrm>
          <a:prstGeom prst="ellipse">
            <a:avLst/>
          </a:prstGeom>
          <a:solidFill>
            <a:srgbClr val="4A6B5D"/>
          </a:solidFill>
          <a:ln w="12700">
            <a:solidFill>
              <a:srgbClr val="4A6B5D"/>
            </a:solidFill>
            <a:prstDash val="solid"/>
          </a:ln>
        </p:spPr>
      </p:sp>
      <p:sp>
        <p:nvSpPr>
          <p:cNvPr id="12" name="Text 10"/>
          <p:cNvSpPr txBox="1"/>
          <p:nvPr/>
        </p:nvSpPr>
        <p:spPr>
          <a:xfrm>
            <a:off x="6507328" y="202996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7d</a:t>
            </a:r>
            <a:endParaRPr lang="en-US" sz="1300" dirty="0"/>
          </a:p>
        </p:txBody>
      </p:sp>
      <p:sp>
        <p:nvSpPr>
          <p:cNvPr id="13" name="Text 11"/>
          <p:cNvSpPr txBox="1"/>
          <p:nvPr/>
        </p:nvSpPr>
        <p:spPr>
          <a:xfrm>
            <a:off x="7129120" y="2084832"/>
            <a:ext cx="4276192" cy="274320"/>
          </a:xfrm>
          <a:prstGeom prst="rect">
            <a:avLst/>
          </a:prstGeom>
          <a:noFill/>
          <a:ln/>
        </p:spPr>
        <p:txBody>
          <a:bodyPr wrap="square" lIns="0" tIns="0" rIns="0" bIns="0" rtlCol="0" anchor="ctr"/>
          <a:lstStyle/>
          <a:p>
            <a:pPr indent="0" marL="0">
              <a:buNone/>
            </a:pPr>
            <a:r>
              <a:rPr lang="en-US" sz="1500" b="1" dirty="0">
                <a:solidFill>
                  <a:srgbClr val="1C1917"/>
                </a:solidFill>
                <a:latin typeface="Calibri" pitchFamily="34" charset="0"/>
                <a:ea typeface="Calibri" pitchFamily="34" charset="-122"/>
                <a:cs typeface="Calibri" pitchFamily="34" charset="-120"/>
              </a:rPr>
              <a:t>The weekly window</a:t>
            </a:r>
            <a:endParaRPr lang="en-US" sz="1500" dirty="0"/>
          </a:p>
        </p:txBody>
      </p:sp>
      <p:sp>
        <p:nvSpPr>
          <p:cNvPr id="14" name="Text 12"/>
          <p:cNvSpPr txBox="1"/>
          <p:nvPr/>
        </p:nvSpPr>
        <p:spPr>
          <a:xfrm>
            <a:off x="6507328" y="2651760"/>
            <a:ext cx="4861408" cy="1097280"/>
          </a:xfrm>
          <a:prstGeom prst="rect">
            <a:avLst/>
          </a:prstGeom>
          <a:noFill/>
          <a:ln/>
        </p:spPr>
        <p:txBody>
          <a:bodyPr wrap="square" lIns="0" tIns="0" rIns="0" bIns="0" rtlCol="0" anchor="t"/>
          <a:lstStyle/>
          <a:p>
            <a:pPr indent="0" marL="0">
              <a:lnSpc>
                <a:spcPts val="1700"/>
              </a:lnSpc>
              <a:buNone/>
            </a:pPr>
            <a:r>
              <a:rPr lang="en-US" sz="1200" dirty="0">
                <a:solidFill>
                  <a:srgbClr val="6E635C"/>
                </a:solidFill>
                <a:latin typeface="Calibri" pitchFamily="34" charset="0"/>
                <a:ea typeface="Calibri" pitchFamily="34" charset="-122"/>
                <a:cs typeface="Calibri" pitchFamily="34" charset="-120"/>
              </a:rPr>
              <a:t>A cap that sits on top of the five-hour one and resets seven days after it first started filling. This is the one that catches people out on a heavy sprint week.</a:t>
            </a:r>
            <a:endParaRPr lang="en-US" sz="1200" dirty="0"/>
          </a:p>
        </p:txBody>
      </p:sp>
      <p:sp>
        <p:nvSpPr>
          <p:cNvPr id="15" name="Shape 13"/>
          <p:cNvSpPr/>
          <p:nvPr/>
        </p:nvSpPr>
        <p:spPr>
          <a:xfrm>
            <a:off x="566928" y="4096512"/>
            <a:ext cx="11057839" cy="1170432"/>
          </a:xfrm>
          <a:prstGeom prst="roundRect">
            <a:avLst>
              <a:gd name="adj" fmla="val 7031"/>
            </a:avLst>
          </a:prstGeom>
          <a:solidFill>
            <a:srgbClr val="1C1917"/>
          </a:solidFill>
          <a:ln w="12700">
            <a:solidFill>
              <a:srgbClr val="1C1917"/>
            </a:solidFill>
            <a:prstDash val="solid"/>
          </a:ln>
          <a:effectLst>
            <a:outerShdw sx="100000" sy="100000" kx="0" ky="0" algn="bl" rotWithShape="0" blurRad="114300" dist="445" dir="5400000">
              <a:srgbClr val="000000">
                <a:alpha val="7000"/>
              </a:srgbClr>
            </a:outerShdw>
          </a:effectLst>
        </p:spPr>
      </p:sp>
      <p:sp>
        <p:nvSpPr>
          <p:cNvPr id="16" name="Text 14"/>
          <p:cNvSpPr txBox="1"/>
          <p:nvPr/>
        </p:nvSpPr>
        <p:spPr>
          <a:xfrm>
            <a:off x="877824" y="4279392"/>
            <a:ext cx="3291840" cy="274320"/>
          </a:xfrm>
          <a:prstGeom prst="rect">
            <a:avLst/>
          </a:prstGeom>
          <a:noFill/>
          <a:ln/>
        </p:spPr>
        <p:txBody>
          <a:bodyPr wrap="square" lIns="0" tIns="0" rIns="0" bIns="0" rtlCol="0" anchor="ctr"/>
          <a:lstStyle/>
          <a:p>
            <a:pPr indent="0" marL="0">
              <a:buNone/>
            </a:pPr>
            <a:r>
              <a:rPr lang="en-US" sz="1400" b="1" dirty="0">
                <a:solidFill>
                  <a:srgbClr val="D97757"/>
                </a:solidFill>
                <a:latin typeface="Calibri" pitchFamily="34" charset="0"/>
                <a:ea typeface="Calibri" pitchFamily="34" charset="-122"/>
                <a:cs typeface="Calibri" pitchFamily="34" charset="-120"/>
              </a:rPr>
              <a:t>One pool, three surfaces</a:t>
            </a:r>
            <a:endParaRPr lang="en-US" sz="1400" dirty="0"/>
          </a:p>
        </p:txBody>
      </p:sp>
      <p:sp>
        <p:nvSpPr>
          <p:cNvPr id="17" name="Text 15"/>
          <p:cNvSpPr txBox="1"/>
          <p:nvPr/>
        </p:nvSpPr>
        <p:spPr>
          <a:xfrm>
            <a:off x="4315968" y="4261104"/>
            <a:ext cx="6997903" cy="822960"/>
          </a:xfrm>
          <a:prstGeom prst="rect">
            <a:avLst/>
          </a:prstGeom>
          <a:noFill/>
          <a:ln/>
        </p:spPr>
        <p:txBody>
          <a:bodyPr wrap="square" lIns="0" tIns="0" rIns="0" bIns="0" rtlCol="0" anchor="ctr"/>
          <a:lstStyle/>
          <a:p>
            <a:pPr indent="0" marL="0">
              <a:lnSpc>
                <a:spcPts val="1900"/>
              </a:lnSpc>
              <a:buNone/>
            </a:pPr>
            <a:r>
              <a:rPr lang="en-US" sz="1300" dirty="0">
                <a:solidFill>
                  <a:srgbClr val="D9CEC7"/>
                </a:solidFill>
                <a:latin typeface="Calibri" pitchFamily="34" charset="0"/>
                <a:ea typeface="Calibri" pitchFamily="34" charset="-122"/>
                <a:cs typeface="Calibri" pitchFamily="34" charset="-120"/>
              </a:rPr>
              <a:t>Claude Code draws from the same allowance as claude.ai chat, the desktop and mobile apps, and Cowork. An afternoon of chat genuinely reduces what is left for your evening coding session.</a:t>
            </a:r>
            <a:endParaRPr lang="en-US" sz="1300" dirty="0"/>
          </a:p>
        </p:txBody>
      </p:sp>
      <p:sp>
        <p:nvSpPr>
          <p:cNvPr id="18" name="Shape 16"/>
          <p:cNvSpPr/>
          <p:nvPr/>
        </p:nvSpPr>
        <p:spPr>
          <a:xfrm>
            <a:off x="566928" y="5431536"/>
            <a:ext cx="3503066" cy="859536"/>
          </a:xfrm>
          <a:prstGeom prst="roundRect">
            <a:avLst>
              <a:gd name="adj" fmla="val 9574"/>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9" name="Text 17"/>
          <p:cNvSpPr txBox="1"/>
          <p:nvPr/>
        </p:nvSpPr>
        <p:spPr>
          <a:xfrm>
            <a:off x="786384" y="5541264"/>
            <a:ext cx="3064154" cy="219456"/>
          </a:xfrm>
          <a:prstGeom prst="rect">
            <a:avLst/>
          </a:prstGeom>
          <a:noFill/>
          <a:ln/>
        </p:spPr>
        <p:txBody>
          <a:bodyPr wrap="square" lIns="0" tIns="0" rIns="0" bIns="0" rtlCol="0" anchor="ctr"/>
          <a:lstStyle/>
          <a:p>
            <a:pPr indent="0" marL="0">
              <a:buNone/>
            </a:pPr>
            <a:r>
              <a:rPr lang="en-US" sz="1150" b="1" dirty="0">
                <a:solidFill>
                  <a:srgbClr val="A64B2A"/>
                </a:solidFill>
                <a:latin typeface="Calibri" pitchFamily="34" charset="0"/>
                <a:ea typeface="Calibri" pitchFamily="34" charset="-122"/>
                <a:cs typeface="Calibri" pitchFamily="34" charset="-120"/>
              </a:rPr>
              <a:t>Model limits are separate</a:t>
            </a:r>
            <a:endParaRPr lang="en-US" sz="1150" dirty="0"/>
          </a:p>
        </p:txBody>
      </p:sp>
      <p:sp>
        <p:nvSpPr>
          <p:cNvPr id="20" name="Text 18"/>
          <p:cNvSpPr txBox="1"/>
          <p:nvPr/>
        </p:nvSpPr>
        <p:spPr>
          <a:xfrm>
            <a:off x="786384" y="5779008"/>
            <a:ext cx="3064154" cy="457200"/>
          </a:xfrm>
          <a:prstGeom prst="rect">
            <a:avLst/>
          </a:prstGeom>
          <a:noFill/>
          <a:ln/>
        </p:spPr>
        <p:txBody>
          <a:bodyPr wrap="square" lIns="0" tIns="0" rIns="0" bIns="0" rtlCol="0" anchor="t"/>
          <a:lstStyle/>
          <a:p>
            <a:pPr indent="0" marL="0">
              <a:lnSpc>
                <a:spcPts val="1300"/>
              </a:lnSpc>
              <a:buNone/>
            </a:pPr>
            <a:r>
              <a:rPr lang="en-US" sz="1050" dirty="0">
                <a:solidFill>
                  <a:srgbClr val="6E635C"/>
                </a:solidFill>
                <a:latin typeface="Calibri" pitchFamily="34" charset="0"/>
                <a:ea typeface="Calibri" pitchFamily="34" charset="-122"/>
                <a:cs typeface="Calibri" pitchFamily="34" charset="-120"/>
              </a:rPr>
              <a:t>"You've hit your Opus limit" is not the plan limit — switch with /model sonnet and keep working.</a:t>
            </a:r>
            <a:endParaRPr lang="en-US" sz="1050" dirty="0"/>
          </a:p>
        </p:txBody>
      </p:sp>
      <p:sp>
        <p:nvSpPr>
          <p:cNvPr id="21" name="Shape 19"/>
          <p:cNvSpPr/>
          <p:nvPr/>
        </p:nvSpPr>
        <p:spPr>
          <a:xfrm>
            <a:off x="4344314" y="5431536"/>
            <a:ext cx="3503066" cy="859536"/>
          </a:xfrm>
          <a:prstGeom prst="roundRect">
            <a:avLst>
              <a:gd name="adj" fmla="val 9574"/>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2" name="Text 20"/>
          <p:cNvSpPr txBox="1"/>
          <p:nvPr/>
        </p:nvSpPr>
        <p:spPr>
          <a:xfrm>
            <a:off x="4563770" y="5541264"/>
            <a:ext cx="3064154" cy="219456"/>
          </a:xfrm>
          <a:prstGeom prst="rect">
            <a:avLst/>
          </a:prstGeom>
          <a:noFill/>
          <a:ln/>
        </p:spPr>
        <p:txBody>
          <a:bodyPr wrap="square" lIns="0" tIns="0" rIns="0" bIns="0" rtlCol="0" anchor="ctr"/>
          <a:lstStyle/>
          <a:p>
            <a:pPr indent="0" marL="0">
              <a:buNone/>
            </a:pPr>
            <a:r>
              <a:rPr lang="en-US" sz="1150" b="1" dirty="0">
                <a:solidFill>
                  <a:srgbClr val="A64B2A"/>
                </a:solidFill>
                <a:latin typeface="Calibri" pitchFamily="34" charset="0"/>
                <a:ea typeface="Calibri" pitchFamily="34" charset="-122"/>
                <a:cs typeface="Calibri" pitchFamily="34" charset="-120"/>
              </a:rPr>
              <a:t>Plan limits are not</a:t>
            </a:r>
            <a:endParaRPr lang="en-US" sz="1150" dirty="0"/>
          </a:p>
        </p:txBody>
      </p:sp>
      <p:sp>
        <p:nvSpPr>
          <p:cNvPr id="23" name="Text 21"/>
          <p:cNvSpPr txBox="1"/>
          <p:nvPr/>
        </p:nvSpPr>
        <p:spPr>
          <a:xfrm>
            <a:off x="4563770" y="5779008"/>
            <a:ext cx="3064154" cy="457200"/>
          </a:xfrm>
          <a:prstGeom prst="rect">
            <a:avLst/>
          </a:prstGeom>
          <a:noFill/>
          <a:ln/>
        </p:spPr>
        <p:txBody>
          <a:bodyPr wrap="square" lIns="0" tIns="0" rIns="0" bIns="0" rtlCol="0" anchor="t"/>
          <a:lstStyle/>
          <a:p>
            <a:pPr indent="0" marL="0">
              <a:lnSpc>
                <a:spcPts val="1300"/>
              </a:lnSpc>
              <a:buNone/>
            </a:pPr>
            <a:r>
              <a:rPr lang="en-US" sz="1050" dirty="0">
                <a:solidFill>
                  <a:srgbClr val="6E635C"/>
                </a:solidFill>
                <a:latin typeface="Calibri" pitchFamily="34" charset="0"/>
                <a:ea typeface="Calibri" pitchFamily="34" charset="-122"/>
                <a:cs typeface="Calibri" pitchFamily="34" charset="-120"/>
              </a:rPr>
              <a:t>"Session" or "weekly" limit messages apply across all models; switching will not help.</a:t>
            </a:r>
            <a:endParaRPr lang="en-US" sz="1050" dirty="0"/>
          </a:p>
        </p:txBody>
      </p:sp>
      <p:sp>
        <p:nvSpPr>
          <p:cNvPr id="24" name="Shape 22"/>
          <p:cNvSpPr/>
          <p:nvPr/>
        </p:nvSpPr>
        <p:spPr>
          <a:xfrm>
            <a:off x="8121701" y="5431536"/>
            <a:ext cx="3503066" cy="859536"/>
          </a:xfrm>
          <a:prstGeom prst="roundRect">
            <a:avLst>
              <a:gd name="adj" fmla="val 9574"/>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5" name="Text 23"/>
          <p:cNvSpPr txBox="1"/>
          <p:nvPr/>
        </p:nvSpPr>
        <p:spPr>
          <a:xfrm>
            <a:off x="8341157" y="5541264"/>
            <a:ext cx="3064154" cy="219456"/>
          </a:xfrm>
          <a:prstGeom prst="rect">
            <a:avLst/>
          </a:prstGeom>
          <a:noFill/>
          <a:ln/>
        </p:spPr>
        <p:txBody>
          <a:bodyPr wrap="square" lIns="0" tIns="0" rIns="0" bIns="0" rtlCol="0" anchor="ctr"/>
          <a:lstStyle/>
          <a:p>
            <a:pPr indent="0" marL="0">
              <a:buNone/>
            </a:pPr>
            <a:r>
              <a:rPr lang="en-US" sz="1150" b="1" dirty="0">
                <a:solidFill>
                  <a:srgbClr val="A64B2A"/>
                </a:solidFill>
                <a:latin typeface="Calibri" pitchFamily="34" charset="0"/>
                <a:ea typeface="Calibri" pitchFamily="34" charset="-122"/>
                <a:cs typeface="Calibri" pitchFamily="34" charset="-120"/>
              </a:rPr>
              <a:t>You can wait it out</a:t>
            </a:r>
            <a:endParaRPr lang="en-US" sz="1150" dirty="0"/>
          </a:p>
        </p:txBody>
      </p:sp>
      <p:sp>
        <p:nvSpPr>
          <p:cNvPr id="26" name="Text 24"/>
          <p:cNvSpPr txBox="1"/>
          <p:nvPr/>
        </p:nvSpPr>
        <p:spPr>
          <a:xfrm>
            <a:off x="8341157" y="5779008"/>
            <a:ext cx="3064154" cy="457200"/>
          </a:xfrm>
          <a:prstGeom prst="rect">
            <a:avLst/>
          </a:prstGeom>
          <a:noFill/>
          <a:ln/>
        </p:spPr>
        <p:txBody>
          <a:bodyPr wrap="square" lIns="0" tIns="0" rIns="0" bIns="0" rtlCol="0" anchor="t"/>
          <a:lstStyle/>
          <a:p>
            <a:pPr indent="0" marL="0">
              <a:lnSpc>
                <a:spcPts val="1300"/>
              </a:lnSpc>
              <a:buNone/>
            </a:pPr>
            <a:r>
              <a:rPr lang="en-US" sz="1050" dirty="0">
                <a:solidFill>
                  <a:srgbClr val="6E635C"/>
                </a:solidFill>
                <a:latin typeface="Calibri" pitchFamily="34" charset="0"/>
                <a:ea typeface="Calibri" pitchFamily="34" charset="-122"/>
                <a:cs typeface="Calibri" pitchFamily="34" charset="-120"/>
              </a:rPr>
              <a:t>Recent Claude Code versions offer to pause and resume the interrupted task automatically at reset.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IF YOU GO VIA THE API INSTEAD</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List price per million tokens</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Relevant when you build on the API, or when your organisation is on Enterprise and pays per token.</a:t>
            </a:r>
            <a:endParaRPr lang="en-US" sz="1350" dirty="0"/>
          </a:p>
        </p:txBody>
      </p:sp>
      <p:graphicFrame>
        <p:nvGraphicFramePr>
          <p:cNvPr id="5" name="Chart 0" descr=""/>
          <p:cNvGraphicFramePr/>
          <p:nvPr/>
        </p:nvGraphicFramePr>
        <p:xfrm>
          <a:off x="566928" y="1847088"/>
          <a:ext cx="6675120" cy="37490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52944" y="1847088"/>
            <a:ext cx="4071823" cy="2029968"/>
          </a:xfrm>
          <a:prstGeom prst="roundRect">
            <a:avLst>
              <a:gd name="adj" fmla="val 4054"/>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7" name="Text 4"/>
          <p:cNvSpPr txBox="1"/>
          <p:nvPr/>
        </p:nvSpPr>
        <p:spPr>
          <a:xfrm>
            <a:off x="7790688" y="1993392"/>
            <a:ext cx="3614623" cy="256032"/>
          </a:xfrm>
          <a:prstGeom prst="rect">
            <a:avLst/>
          </a:prstGeom>
          <a:noFill/>
          <a:ln/>
        </p:spPr>
        <p:txBody>
          <a:bodyPr wrap="square" lIns="0" tIns="0" rIns="0" bIns="0" rtlCol="0" anchor="ctr"/>
          <a:lstStyle/>
          <a:p>
            <a:pPr indent="0" marL="0">
              <a:buNone/>
            </a:pPr>
            <a:r>
              <a:rPr lang="en-US" sz="1300" b="1" dirty="0">
                <a:solidFill>
                  <a:srgbClr val="1C1917"/>
                </a:solidFill>
                <a:latin typeface="Calibri" pitchFamily="34" charset="0"/>
                <a:ea typeface="Calibri" pitchFamily="34" charset="-122"/>
                <a:cs typeface="Calibri" pitchFamily="34" charset="-120"/>
              </a:rPr>
              <a:t>Three levers that cut this</a:t>
            </a:r>
            <a:endParaRPr lang="en-US" sz="1300" dirty="0"/>
          </a:p>
        </p:txBody>
      </p:sp>
      <p:sp>
        <p:nvSpPr>
          <p:cNvPr id="8" name="Text 5"/>
          <p:cNvSpPr txBox="1"/>
          <p:nvPr/>
        </p:nvSpPr>
        <p:spPr>
          <a:xfrm>
            <a:off x="7790688" y="2304288"/>
            <a:ext cx="3614623" cy="146304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00" dirty="0">
                <a:solidFill>
                  <a:srgbClr val="6E635C"/>
                </a:solidFill>
                <a:latin typeface="Calibri" pitchFamily="34" charset="0"/>
                <a:ea typeface="Calibri" pitchFamily="34" charset="-122"/>
                <a:cs typeface="Calibri" pitchFamily="34" charset="-120"/>
              </a:rPr>
              <a:t>Prompt caching — cache reads cost a fraction of input</a:t>
            </a:r>
            <a:endParaRPr lang="en-US" sz="1100" dirty="0"/>
          </a:p>
          <a:p>
            <a:pPr marL="342900" indent="-342900">
              <a:lnSpc>
                <a:spcPts val="1500"/>
              </a:lnSpc>
              <a:spcAft>
                <a:spcPts val="800"/>
              </a:spcAft>
              <a:buSzPct val="100000"/>
              <a:buChar char="•"/>
            </a:pPr>
            <a:r>
              <a:rPr lang="en-US" sz="1100" dirty="0">
                <a:solidFill>
                  <a:srgbClr val="6E635C"/>
                </a:solidFill>
                <a:latin typeface="Calibri" pitchFamily="34" charset="0"/>
                <a:ea typeface="Calibri" pitchFamily="34" charset="-122"/>
                <a:cs typeface="Calibri" pitchFamily="34" charset="-120"/>
              </a:rPr>
              <a:t>Batch processing — 50% off for non-urgent work</a:t>
            </a:r>
            <a:endParaRPr lang="en-US" sz="1100" dirty="0"/>
          </a:p>
          <a:p>
            <a:pPr marL="342900" indent="-342900">
              <a:lnSpc>
                <a:spcPts val="1500"/>
              </a:lnSpc>
              <a:spcAft>
                <a:spcPts val="800"/>
              </a:spcAft>
              <a:buSzPct val="100000"/>
              <a:buChar char="•"/>
            </a:pPr>
            <a:r>
              <a:rPr lang="en-US" sz="1100" dirty="0">
                <a:solidFill>
                  <a:srgbClr val="6E635C"/>
                </a:solidFill>
                <a:latin typeface="Calibri" pitchFamily="34" charset="0"/>
                <a:ea typeface="Calibri" pitchFamily="34" charset="-122"/>
                <a:cs typeface="Calibri" pitchFamily="34" charset="-120"/>
              </a:rPr>
              <a:t>Effort levels — low or medium for routine calls</a:t>
            </a:r>
            <a:endParaRPr lang="en-US" sz="1100" dirty="0"/>
          </a:p>
        </p:txBody>
      </p:sp>
      <p:sp>
        <p:nvSpPr>
          <p:cNvPr id="9" name="Shape 6"/>
          <p:cNvSpPr/>
          <p:nvPr/>
        </p:nvSpPr>
        <p:spPr>
          <a:xfrm>
            <a:off x="7552944" y="4005072"/>
            <a:ext cx="4071823" cy="1700784"/>
          </a:xfrm>
          <a:prstGeom prst="roundRect">
            <a:avLst>
              <a:gd name="adj" fmla="val 4839"/>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0" name="Text 7"/>
          <p:cNvSpPr txBox="1"/>
          <p:nvPr/>
        </p:nvSpPr>
        <p:spPr>
          <a:xfrm>
            <a:off x="7790688" y="4151376"/>
            <a:ext cx="3614623" cy="256032"/>
          </a:xfrm>
          <a:prstGeom prst="rect">
            <a:avLst/>
          </a:prstGeom>
          <a:noFill/>
          <a:ln/>
        </p:spPr>
        <p:txBody>
          <a:bodyPr wrap="square" lIns="0" tIns="0" rIns="0" bIns="0" rtlCol="0" anchor="ctr"/>
          <a:lstStyle/>
          <a:p>
            <a:pPr indent="0" marL="0">
              <a:buNone/>
            </a:pPr>
            <a:r>
              <a:rPr lang="en-US" sz="1300" b="1" dirty="0">
                <a:solidFill>
                  <a:srgbClr val="A64B2A"/>
                </a:solidFill>
                <a:latin typeface="Calibri" pitchFamily="34" charset="0"/>
                <a:ea typeface="Calibri" pitchFamily="34" charset="-122"/>
                <a:cs typeface="Calibri" pitchFamily="34" charset="-120"/>
              </a:rPr>
              <a:t>Model choice</a:t>
            </a:r>
            <a:endParaRPr lang="en-US" sz="1300" dirty="0"/>
          </a:p>
        </p:txBody>
      </p:sp>
      <p:sp>
        <p:nvSpPr>
          <p:cNvPr id="11" name="Text 8"/>
          <p:cNvSpPr txBox="1"/>
          <p:nvPr/>
        </p:nvSpPr>
        <p:spPr>
          <a:xfrm>
            <a:off x="7790688" y="4462272"/>
            <a:ext cx="3614623" cy="1133856"/>
          </a:xfrm>
          <a:prstGeom prst="rect">
            <a:avLst/>
          </a:prstGeom>
          <a:noFill/>
          <a:ln/>
        </p:spPr>
        <p:txBody>
          <a:bodyPr wrap="square" lIns="0" tIns="0" rIns="0" bIns="0" rtlCol="0" anchor="t"/>
          <a:lstStyle/>
          <a:p>
            <a:pPr indent="0" marL="0">
              <a:lnSpc>
                <a:spcPts val="1500"/>
              </a:lnSpc>
              <a:buNone/>
            </a:pPr>
            <a:r>
              <a:rPr lang="en-US" sz="1100" dirty="0">
                <a:solidFill>
                  <a:srgbClr val="6E635C"/>
                </a:solidFill>
                <a:latin typeface="Calibri" pitchFamily="34" charset="0"/>
                <a:ea typeface="Calibri" pitchFamily="34" charset="-122"/>
                <a:cs typeface="Calibri" pitchFamily="34" charset="-120"/>
              </a:rPr>
              <a:t>Sonnet handles most day-to-day coding at well under half the Opus price. Keep Opus for architecture, tricky debugging and long autonomous runs. Haiku is for simple, high-volume subagent work.</a:t>
            </a:r>
            <a:endParaRPr lang="en-US" sz="1100" dirty="0"/>
          </a:p>
        </p:txBody>
      </p:sp>
      <p:sp>
        <p:nvSpPr>
          <p:cNvPr id="12" name="Text 9"/>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900" i="1" dirty="0">
                <a:solidFill>
                  <a:srgbClr val="9C918A"/>
                </a:solidFill>
                <a:latin typeface="Calibri" pitchFamily="34" charset="0"/>
                <a:ea typeface="Calibri" pitchFamily="34" charset="-122"/>
                <a:cs typeface="Calibri" pitchFamily="34" charset="-120"/>
              </a:rPr>
              <a:t>Anthropic first-party API list prices, cached 24 Jun 2026. Bedrock and Vertex are priced separately by those partners.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ADAPTING YOUR METHOD</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Standard seat vs premium seat</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Same tool, different discipline. A standard seat rewards precision; a premium seat rewards breadth.</a:t>
            </a:r>
            <a:endParaRPr lang="en-US" sz="1350" dirty="0"/>
          </a:p>
        </p:txBody>
      </p:sp>
      <p:sp>
        <p:nvSpPr>
          <p:cNvPr id="5" name="Shape 3"/>
          <p:cNvSpPr/>
          <p:nvPr/>
        </p:nvSpPr>
        <p:spPr>
          <a:xfrm>
            <a:off x="566928" y="1773936"/>
            <a:ext cx="5373472" cy="4279392"/>
          </a:xfrm>
          <a:prstGeom prst="roundRect">
            <a:avLst>
              <a:gd name="adj" fmla="val 1923"/>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822960" y="1956816"/>
            <a:ext cx="2148840" cy="420624"/>
          </a:xfrm>
          <a:prstGeom prst="roundRect">
            <a:avLst>
              <a:gd name="adj" fmla="val 19565"/>
            </a:avLst>
          </a:prstGeom>
          <a:solidFill>
            <a:srgbClr val="4A6B5D"/>
          </a:solidFill>
          <a:ln/>
        </p:spPr>
      </p:sp>
      <p:sp>
        <p:nvSpPr>
          <p:cNvPr id="7" name="Text 5"/>
          <p:cNvSpPr txBox="1"/>
          <p:nvPr/>
        </p:nvSpPr>
        <p:spPr>
          <a:xfrm>
            <a:off x="822960" y="1956816"/>
            <a:ext cx="2148840" cy="42062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STANDARD SEAT</a:t>
            </a:r>
            <a:endParaRPr lang="en-US" sz="1100" dirty="0"/>
          </a:p>
        </p:txBody>
      </p:sp>
      <p:sp>
        <p:nvSpPr>
          <p:cNvPr id="8" name="Text 6"/>
          <p:cNvSpPr txBox="1"/>
          <p:nvPr/>
        </p:nvSpPr>
        <p:spPr>
          <a:xfrm>
            <a:off x="822960" y="2523744"/>
            <a:ext cx="4861408" cy="3383280"/>
          </a:xfrm>
          <a:prstGeom prst="rect">
            <a:avLst/>
          </a:prstGeom>
          <a:noFill/>
          <a:ln/>
        </p:spPr>
        <p:txBody>
          <a:bodyPr wrap="square" lIns="0" tIns="0" rIns="0" bIns="0" rtlCol="0" anchor="ctr"/>
          <a:lstStyle/>
          <a:p>
            <a:pPr marL="342900" indent="-342900">
              <a:lnSpc>
                <a:spcPts val="1600"/>
              </a:lnSpc>
              <a:spcAft>
                <a:spcPts val="1100"/>
              </a:spcAft>
              <a:buSzPct val="100000"/>
              <a:buChar char="•"/>
            </a:pPr>
            <a:r>
              <a:rPr lang="en-US" sz="1200" dirty="0">
                <a:solidFill>
                  <a:srgbClr val="6E635C"/>
                </a:solidFill>
                <a:latin typeface="Calibri" pitchFamily="34" charset="0"/>
                <a:ea typeface="Calibri" pitchFamily="34" charset="-122"/>
                <a:cs typeface="Calibri" pitchFamily="34" charset="-120"/>
              </a:rPr>
              <a:t>Default to Sonnet; reach for Opus deliberately, one hard problem at a time</a:t>
            </a:r>
            <a:endParaRPr lang="en-US" sz="1200" dirty="0"/>
          </a:p>
          <a:p>
            <a:pPr marL="342900" indent="-342900">
              <a:lnSpc>
                <a:spcPts val="1600"/>
              </a:lnSpc>
              <a:spcAft>
                <a:spcPts val="1100"/>
              </a:spcAft>
              <a:buSzPct val="100000"/>
              <a:buChar char="•"/>
            </a:pPr>
            <a:r>
              <a:rPr lang="en-US" sz="1200" dirty="0">
                <a:solidFill>
                  <a:srgbClr val="6E635C"/>
                </a:solidFill>
                <a:latin typeface="Calibri" pitchFamily="34" charset="0"/>
                <a:ea typeface="Calibri" pitchFamily="34" charset="-122"/>
                <a:cs typeface="Calibri" pitchFamily="34" charset="-120"/>
              </a:rPr>
              <a:t>Plan mode before any change touching more than two files</a:t>
            </a:r>
            <a:endParaRPr lang="en-US" sz="1200" dirty="0"/>
          </a:p>
          <a:p>
            <a:pPr marL="342900" indent="-342900">
              <a:lnSpc>
                <a:spcPts val="1600"/>
              </a:lnSpc>
              <a:spcAft>
                <a:spcPts val="1100"/>
              </a:spcAft>
              <a:buSzPct val="100000"/>
              <a:buChar char="•"/>
            </a:pPr>
            <a:r>
              <a:rPr lang="en-US" sz="1200" dirty="0">
                <a:solidFill>
                  <a:srgbClr val="6E635C"/>
                </a:solidFill>
                <a:latin typeface="Calibri" pitchFamily="34" charset="0"/>
                <a:ea typeface="Calibri" pitchFamily="34" charset="-122"/>
                <a:cs typeface="Calibri" pitchFamily="34" charset="-120"/>
              </a:rPr>
              <a:t>Name the files. "Fix check_in_screen.dart" beats "fix the check-in bug"</a:t>
            </a:r>
            <a:endParaRPr lang="en-US" sz="1200" dirty="0"/>
          </a:p>
          <a:p>
            <a:pPr marL="342900" indent="-342900">
              <a:lnSpc>
                <a:spcPts val="1600"/>
              </a:lnSpc>
              <a:spcAft>
                <a:spcPts val="1100"/>
              </a:spcAft>
              <a:buSzPct val="100000"/>
              <a:buChar char="•"/>
            </a:pPr>
            <a:r>
              <a:rPr lang="en-US" sz="1200" dirty="0">
                <a:solidFill>
                  <a:srgbClr val="6E635C"/>
                </a:solidFill>
                <a:latin typeface="Calibri" pitchFamily="34" charset="0"/>
                <a:ea typeface="Calibri" pitchFamily="34" charset="-122"/>
                <a:cs typeface="Calibri" pitchFamily="34" charset="-120"/>
              </a:rPr>
              <a:t>/clear the moment you switch feature — the single biggest saving</a:t>
            </a:r>
            <a:endParaRPr lang="en-US" sz="1200" dirty="0"/>
          </a:p>
          <a:p>
            <a:pPr marL="342900" indent="-342900">
              <a:lnSpc>
                <a:spcPts val="1600"/>
              </a:lnSpc>
              <a:spcAft>
                <a:spcPts val="1100"/>
              </a:spcAft>
              <a:buSzPct val="100000"/>
              <a:buChar char="•"/>
            </a:pPr>
            <a:r>
              <a:rPr lang="en-US" sz="1200" dirty="0">
                <a:solidFill>
                  <a:srgbClr val="6E635C"/>
                </a:solidFill>
                <a:latin typeface="Calibri" pitchFamily="34" charset="0"/>
                <a:ea typeface="Calibri" pitchFamily="34" charset="-122"/>
                <a:cs typeface="Calibri" pitchFamily="34" charset="-120"/>
              </a:rPr>
              <a:t>Keep CLAUDE.md under 200 lines; move workflow detail into skills</a:t>
            </a:r>
            <a:endParaRPr lang="en-US" sz="1200" dirty="0"/>
          </a:p>
          <a:p>
            <a:pPr marL="342900" indent="-342900">
              <a:lnSpc>
                <a:spcPts val="1600"/>
              </a:lnSpc>
              <a:spcAft>
                <a:spcPts val="1100"/>
              </a:spcAft>
              <a:buSzPct val="100000"/>
              <a:buChar char="•"/>
            </a:pPr>
            <a:r>
              <a:rPr lang="en-US" sz="1200" dirty="0">
                <a:solidFill>
                  <a:srgbClr val="6E635C"/>
                </a:solidFill>
                <a:latin typeface="Calibri" pitchFamily="34" charset="0"/>
                <a:ea typeface="Calibri" pitchFamily="34" charset="-122"/>
                <a:cs typeface="Calibri" pitchFamily="34" charset="-120"/>
              </a:rPr>
              <a:t>Delegate noisy work to a subagent, and switch off unused MCP servers</a:t>
            </a:r>
            <a:endParaRPr lang="en-US" sz="1200" dirty="0"/>
          </a:p>
        </p:txBody>
      </p:sp>
      <p:sp>
        <p:nvSpPr>
          <p:cNvPr id="9" name="Shape 7"/>
          <p:cNvSpPr/>
          <p:nvPr/>
        </p:nvSpPr>
        <p:spPr>
          <a:xfrm>
            <a:off x="6251296" y="1773936"/>
            <a:ext cx="5373472" cy="4279392"/>
          </a:xfrm>
          <a:prstGeom prst="roundRect">
            <a:avLst>
              <a:gd name="adj" fmla="val 1923"/>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0" name="Shape 8"/>
          <p:cNvSpPr/>
          <p:nvPr/>
        </p:nvSpPr>
        <p:spPr>
          <a:xfrm>
            <a:off x="6507328" y="1956816"/>
            <a:ext cx="2148840" cy="420624"/>
          </a:xfrm>
          <a:prstGeom prst="roundRect">
            <a:avLst>
              <a:gd name="adj" fmla="val 19565"/>
            </a:avLst>
          </a:prstGeom>
          <a:solidFill>
            <a:srgbClr val="A64B2A"/>
          </a:solidFill>
          <a:ln/>
        </p:spPr>
      </p:sp>
      <p:sp>
        <p:nvSpPr>
          <p:cNvPr id="11" name="Text 9"/>
          <p:cNvSpPr txBox="1"/>
          <p:nvPr/>
        </p:nvSpPr>
        <p:spPr>
          <a:xfrm>
            <a:off x="6507328" y="1956816"/>
            <a:ext cx="2148840" cy="42062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PREMIUM SEAT</a:t>
            </a:r>
            <a:endParaRPr lang="en-US" sz="1100" dirty="0"/>
          </a:p>
        </p:txBody>
      </p:sp>
      <p:sp>
        <p:nvSpPr>
          <p:cNvPr id="12" name="Text 10"/>
          <p:cNvSpPr txBox="1"/>
          <p:nvPr/>
        </p:nvSpPr>
        <p:spPr>
          <a:xfrm>
            <a:off x="6507328" y="2523744"/>
            <a:ext cx="4861408" cy="3383280"/>
          </a:xfrm>
          <a:prstGeom prst="rect">
            <a:avLst/>
          </a:prstGeom>
          <a:noFill/>
          <a:ln/>
        </p:spPr>
        <p:txBody>
          <a:bodyPr wrap="square" lIns="0" tIns="0" rIns="0" bIns="0" rtlCol="0" anchor="ctr"/>
          <a:lstStyle/>
          <a:p>
            <a:pPr marL="342900" indent="-342900">
              <a:lnSpc>
                <a:spcPts val="1600"/>
              </a:lnSpc>
              <a:spcAft>
                <a:spcPts val="1100"/>
              </a:spcAft>
              <a:buSzPct val="100000"/>
              <a:buChar char="•"/>
            </a:pPr>
            <a:r>
              <a:rPr lang="en-US" sz="1200" dirty="0">
                <a:solidFill>
                  <a:srgbClr val="6E635C"/>
                </a:solidFill>
                <a:latin typeface="Calibri" pitchFamily="34" charset="0"/>
                <a:ea typeface="Calibri" pitchFamily="34" charset="-122"/>
                <a:cs typeface="Calibri" pitchFamily="34" charset="-120"/>
              </a:rPr>
              <a:t>Opus as the working default, with xhigh effort on genuinely hard problems</a:t>
            </a:r>
            <a:endParaRPr lang="en-US" sz="1200" dirty="0"/>
          </a:p>
          <a:p>
            <a:pPr marL="342900" indent="-342900">
              <a:lnSpc>
                <a:spcPts val="1600"/>
              </a:lnSpc>
              <a:spcAft>
                <a:spcPts val="1100"/>
              </a:spcAft>
              <a:buSzPct val="100000"/>
              <a:buChar char="•"/>
            </a:pPr>
            <a:r>
              <a:rPr lang="en-US" sz="1200" dirty="0">
                <a:solidFill>
                  <a:srgbClr val="6E635C"/>
                </a:solidFill>
                <a:latin typeface="Calibri" pitchFamily="34" charset="0"/>
                <a:ea typeface="Calibri" pitchFamily="34" charset="-122"/>
                <a:cs typeface="Calibri" pitchFamily="34" charset="-120"/>
              </a:rPr>
              <a:t>Parallel sessions — one on a feature, one on tests, one on review</a:t>
            </a:r>
            <a:endParaRPr lang="en-US" sz="1200" dirty="0"/>
          </a:p>
          <a:p>
            <a:pPr marL="342900" indent="-342900">
              <a:lnSpc>
                <a:spcPts val="1600"/>
              </a:lnSpc>
              <a:spcAft>
                <a:spcPts val="1100"/>
              </a:spcAft>
              <a:buSzPct val="100000"/>
              <a:buChar char="•"/>
            </a:pPr>
            <a:r>
              <a:rPr lang="en-US" sz="1200" dirty="0">
                <a:solidFill>
                  <a:srgbClr val="6E635C"/>
                </a:solidFill>
                <a:latin typeface="Calibri" pitchFamily="34" charset="0"/>
                <a:ea typeface="Calibri" pitchFamily="34" charset="-122"/>
                <a:cs typeface="Calibri" pitchFamily="34" charset="-120"/>
              </a:rPr>
              <a:t>Longer autonomous runs: hand over a task with its acceptance criteria</a:t>
            </a:r>
            <a:endParaRPr lang="en-US" sz="1200" dirty="0"/>
          </a:p>
          <a:p>
            <a:pPr marL="342900" indent="-342900">
              <a:lnSpc>
                <a:spcPts val="1600"/>
              </a:lnSpc>
              <a:spcAft>
                <a:spcPts val="1100"/>
              </a:spcAft>
              <a:buSzPct val="100000"/>
              <a:buChar char="•"/>
            </a:pPr>
            <a:r>
              <a:rPr lang="en-US" sz="1200" dirty="0">
                <a:solidFill>
                  <a:srgbClr val="6E635C"/>
                </a:solidFill>
                <a:latin typeface="Calibri" pitchFamily="34" charset="0"/>
                <a:ea typeface="Calibri" pitchFamily="34" charset="-122"/>
                <a:cs typeface="Calibri" pitchFamily="34" charset="-120"/>
              </a:rPr>
              <a:t>opusplan — plan on Opus, execute on Sonnet — a strong default hybrid</a:t>
            </a:r>
            <a:endParaRPr lang="en-US" sz="1200" dirty="0"/>
          </a:p>
          <a:p>
            <a:pPr marL="342900" indent="-342900">
              <a:lnSpc>
                <a:spcPts val="1600"/>
              </a:lnSpc>
              <a:spcAft>
                <a:spcPts val="1100"/>
              </a:spcAft>
              <a:buSzPct val="100000"/>
              <a:buChar char="•"/>
            </a:pPr>
            <a:r>
              <a:rPr lang="en-US" sz="1200" dirty="0">
                <a:solidFill>
                  <a:srgbClr val="6E635C"/>
                </a:solidFill>
                <a:latin typeface="Calibri" pitchFamily="34" charset="0"/>
                <a:ea typeface="Calibri" pitchFamily="34" charset="-122"/>
                <a:cs typeface="Calibri" pitchFamily="34" charset="-120"/>
              </a:rPr>
              <a:t>Agent teams for real fan-out, kept small; each one is a full context window</a:t>
            </a:r>
            <a:endParaRPr lang="en-US" sz="1200" dirty="0"/>
          </a:p>
          <a:p>
            <a:pPr marL="342900" indent="-342900">
              <a:lnSpc>
                <a:spcPts val="1600"/>
              </a:lnSpc>
              <a:spcAft>
                <a:spcPts val="1100"/>
              </a:spcAft>
              <a:buSzPct val="100000"/>
              <a:buChar char="•"/>
            </a:pPr>
            <a:r>
              <a:rPr lang="en-US" sz="1200" dirty="0">
                <a:solidFill>
                  <a:srgbClr val="6E635C"/>
                </a:solidFill>
                <a:latin typeface="Calibri" pitchFamily="34" charset="0"/>
                <a:ea typeface="Calibri" pitchFamily="34" charset="-122"/>
                <a:cs typeface="Calibri" pitchFamily="34" charset="-120"/>
              </a:rPr>
              <a:t>Habits still matter: premium delays the ceiling, it does not remove it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566928" y="2075688"/>
            <a:ext cx="1371600" cy="1371600"/>
          </a:xfrm>
          <a:prstGeom prst="ellipse">
            <a:avLst/>
          </a:prstGeom>
          <a:solidFill>
            <a:srgbClr val="D97757"/>
          </a:solidFill>
          <a:ln/>
        </p:spPr>
      </p:sp>
      <p:sp>
        <p:nvSpPr>
          <p:cNvPr id="3" name="Text 1"/>
          <p:cNvSpPr txBox="1"/>
          <p:nvPr/>
        </p:nvSpPr>
        <p:spPr>
          <a:xfrm>
            <a:off x="566928" y="2075688"/>
            <a:ext cx="1371600" cy="1371600"/>
          </a:xfrm>
          <a:prstGeom prst="rect">
            <a:avLst/>
          </a:prstGeom>
          <a:noFill/>
          <a:ln/>
        </p:spPr>
        <p:txBody>
          <a:bodyPr wrap="square" lIns="0" tIns="0" rIns="0" bIns="0" rtlCol="0" anchor="ctr"/>
          <a:lstStyle/>
          <a:p>
            <a:pPr algn="ctr" indent="0" marL="0">
              <a:buNone/>
            </a:pPr>
            <a:r>
              <a:rPr lang="en-US" sz="5200" b="1" dirty="0">
                <a:solidFill>
                  <a:srgbClr val="1C1917"/>
                </a:solidFill>
                <a:latin typeface="Cambria" pitchFamily="34" charset="0"/>
                <a:ea typeface="Cambria" pitchFamily="34" charset="-122"/>
                <a:cs typeface="Cambria" pitchFamily="34" charset="-120"/>
              </a:rPr>
              <a:t>03</a:t>
            </a:r>
            <a:endParaRPr lang="en-US" sz="5200" dirty="0"/>
          </a:p>
        </p:txBody>
      </p:sp>
      <p:sp>
        <p:nvSpPr>
          <p:cNvPr id="4" name="Text 2"/>
          <p:cNvSpPr txBox="1"/>
          <p:nvPr/>
        </p:nvSpPr>
        <p:spPr>
          <a:xfrm>
            <a:off x="2286000" y="1901952"/>
            <a:ext cx="8778240" cy="237744"/>
          </a:xfrm>
          <a:prstGeom prst="rect">
            <a:avLst/>
          </a:prstGeom>
          <a:noFill/>
          <a:ln/>
        </p:spPr>
        <p:txBody>
          <a:bodyPr wrap="square" lIns="0" tIns="0" rIns="0" bIns="0" rtlCol="0" anchor="ctr"/>
          <a:lstStyle/>
          <a:p>
            <a:pPr indent="0" marL="0">
              <a:buNone/>
            </a:pPr>
            <a:r>
              <a:rPr lang="en-US" sz="1100" b="1" spc="240" kern="0" dirty="0">
                <a:solidFill>
                  <a:srgbClr val="D97757"/>
                </a:solidFill>
                <a:latin typeface="Calibri" pitchFamily="34" charset="0"/>
                <a:ea typeface="Calibri" pitchFamily="34" charset="-122"/>
                <a:cs typeface="Calibri" pitchFamily="34" charset="-120"/>
              </a:rPr>
              <a:t>PROMPTING</a:t>
            </a:r>
            <a:endParaRPr lang="en-US" sz="1100" dirty="0"/>
          </a:p>
        </p:txBody>
      </p:sp>
      <p:sp>
        <p:nvSpPr>
          <p:cNvPr id="5" name="Text 3"/>
          <p:cNvSpPr txBox="1"/>
          <p:nvPr/>
        </p:nvSpPr>
        <p:spPr>
          <a:xfrm>
            <a:off x="2286000" y="2176272"/>
            <a:ext cx="8778240" cy="1188720"/>
          </a:xfrm>
          <a:prstGeom prst="rect">
            <a:avLst/>
          </a:prstGeom>
          <a:noFill/>
          <a:ln/>
        </p:spPr>
        <p:txBody>
          <a:bodyPr wrap="square" lIns="0" tIns="0" rIns="0" bIns="0" rtlCol="0" anchor="t"/>
          <a:lstStyle/>
          <a:p>
            <a:pPr indent="0" marL="0">
              <a:lnSpc>
                <a:spcPts val="4000"/>
              </a:lnSpc>
              <a:buNone/>
            </a:pPr>
            <a:r>
              <a:rPr lang="en-US" sz="3400" b="1" dirty="0">
                <a:solidFill>
                  <a:srgbClr val="FAF9F7"/>
                </a:solidFill>
                <a:latin typeface="Cambria" pitchFamily="34" charset="0"/>
                <a:ea typeface="Cambria" pitchFamily="34" charset="-122"/>
                <a:cs typeface="Cambria" pitchFamily="34" charset="-120"/>
              </a:rPr>
              <a:t>Say the thing that removes the guesswork</a:t>
            </a:r>
            <a:endParaRPr lang="en-US" sz="3400" dirty="0"/>
          </a:p>
        </p:txBody>
      </p:sp>
      <p:sp>
        <p:nvSpPr>
          <p:cNvPr id="6" name="Text 4"/>
          <p:cNvSpPr txBox="1"/>
          <p:nvPr/>
        </p:nvSpPr>
        <p:spPr>
          <a:xfrm>
            <a:off x="2286000" y="3474720"/>
            <a:ext cx="8412480" cy="914400"/>
          </a:xfrm>
          <a:prstGeom prst="rect">
            <a:avLst/>
          </a:prstGeom>
          <a:noFill/>
          <a:ln/>
        </p:spPr>
        <p:txBody>
          <a:bodyPr wrap="square" lIns="0" tIns="0" rIns="0" bIns="0" rtlCol="0" anchor="t"/>
          <a:lstStyle/>
          <a:p>
            <a:pPr indent="0" marL="0">
              <a:lnSpc>
                <a:spcPts val="2200"/>
              </a:lnSpc>
              <a:buNone/>
            </a:pPr>
            <a:r>
              <a:rPr lang="en-US" sz="1450" dirty="0">
                <a:solidFill>
                  <a:srgbClr val="B8ADA6"/>
                </a:solidFill>
                <a:latin typeface="Calibri" pitchFamily="34" charset="0"/>
                <a:ea typeface="Calibri" pitchFamily="34" charset="-122"/>
                <a:cs typeface="Calibri" pitchFamily="34" charset="-120"/>
              </a:rPr>
              <a:t>Most disappointing answers are not model failures. They are under-specified requests that forced Claude to guess at context you already had.</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THE FIVE-PART PROMPT</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What a complete request contains</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Not every prompt needs all five — but when an answer disappoints, a missing part is usually why.</a:t>
            </a:r>
            <a:endParaRPr lang="en-US" sz="1350" dirty="0"/>
          </a:p>
        </p:txBody>
      </p:sp>
      <p:sp>
        <p:nvSpPr>
          <p:cNvPr id="5" name="Shape 3"/>
          <p:cNvSpPr/>
          <p:nvPr/>
        </p:nvSpPr>
        <p:spPr>
          <a:xfrm>
            <a:off x="566928" y="1755648"/>
            <a:ext cx="11057839"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786384" y="1911096"/>
            <a:ext cx="420624" cy="420624"/>
          </a:xfrm>
          <a:prstGeom prst="ellipse">
            <a:avLst/>
          </a:prstGeom>
          <a:solidFill>
            <a:srgbClr val="D97757"/>
          </a:solidFill>
          <a:ln w="12700">
            <a:solidFill>
              <a:srgbClr val="D97757"/>
            </a:solidFill>
            <a:prstDash val="solid"/>
          </a:ln>
        </p:spPr>
      </p:sp>
      <p:sp>
        <p:nvSpPr>
          <p:cNvPr id="7" name="Text 5"/>
          <p:cNvSpPr txBox="1"/>
          <p:nvPr/>
        </p:nvSpPr>
        <p:spPr>
          <a:xfrm>
            <a:off x="786384" y="19110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53312" y="1874520"/>
            <a:ext cx="10070287" cy="237744"/>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Role and context</a:t>
            </a:r>
            <a:endParaRPr lang="en-US" sz="1350" dirty="0"/>
          </a:p>
        </p:txBody>
      </p:sp>
      <p:sp>
        <p:nvSpPr>
          <p:cNvPr id="9" name="Text 7"/>
          <p:cNvSpPr txBox="1"/>
          <p:nvPr/>
        </p:nvSpPr>
        <p:spPr>
          <a:xfrm>
            <a:off x="1353312" y="2121408"/>
            <a:ext cx="10070287" cy="292608"/>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Who you are and what the system is. Claude cannot infer your landscape, release or client.</a:t>
            </a:r>
            <a:endParaRPr lang="en-US" sz="1150" dirty="0"/>
          </a:p>
        </p:txBody>
      </p:sp>
      <p:sp>
        <p:nvSpPr>
          <p:cNvPr id="10" name="Shape 8"/>
          <p:cNvSpPr/>
          <p:nvPr/>
        </p:nvSpPr>
        <p:spPr>
          <a:xfrm>
            <a:off x="566928" y="2578608"/>
            <a:ext cx="11057839"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1" name="Shape 9"/>
          <p:cNvSpPr/>
          <p:nvPr/>
        </p:nvSpPr>
        <p:spPr>
          <a:xfrm>
            <a:off x="786384" y="2734056"/>
            <a:ext cx="420624" cy="420624"/>
          </a:xfrm>
          <a:prstGeom prst="ellipse">
            <a:avLst/>
          </a:prstGeom>
          <a:solidFill>
            <a:srgbClr val="D97757"/>
          </a:solidFill>
          <a:ln w="12700">
            <a:solidFill>
              <a:srgbClr val="D97757"/>
            </a:solidFill>
            <a:prstDash val="solid"/>
          </a:ln>
        </p:spPr>
      </p:sp>
      <p:sp>
        <p:nvSpPr>
          <p:cNvPr id="12" name="Text 10"/>
          <p:cNvSpPr txBox="1"/>
          <p:nvPr/>
        </p:nvSpPr>
        <p:spPr>
          <a:xfrm>
            <a:off x="786384"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353312" y="2697480"/>
            <a:ext cx="10070287" cy="237744"/>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The concrete task</a:t>
            </a:r>
            <a:endParaRPr lang="en-US" sz="1350" dirty="0"/>
          </a:p>
        </p:txBody>
      </p:sp>
      <p:sp>
        <p:nvSpPr>
          <p:cNvPr id="14" name="Text 12"/>
          <p:cNvSpPr txBox="1"/>
          <p:nvPr/>
        </p:nvSpPr>
        <p:spPr>
          <a:xfrm>
            <a:off x="1353312" y="2944368"/>
            <a:ext cx="10070287" cy="292608"/>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One clear verb — draft, review, refactor, explain. "Improve" triggers broad, expensive scanning.</a:t>
            </a:r>
            <a:endParaRPr lang="en-US" sz="1150" dirty="0"/>
          </a:p>
        </p:txBody>
      </p:sp>
      <p:sp>
        <p:nvSpPr>
          <p:cNvPr id="15" name="Shape 13"/>
          <p:cNvSpPr/>
          <p:nvPr/>
        </p:nvSpPr>
        <p:spPr>
          <a:xfrm>
            <a:off x="566928" y="3401568"/>
            <a:ext cx="11057839"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6" name="Shape 14"/>
          <p:cNvSpPr/>
          <p:nvPr/>
        </p:nvSpPr>
        <p:spPr>
          <a:xfrm>
            <a:off x="786384" y="3557016"/>
            <a:ext cx="420624" cy="420624"/>
          </a:xfrm>
          <a:prstGeom prst="ellipse">
            <a:avLst/>
          </a:prstGeom>
          <a:solidFill>
            <a:srgbClr val="D97757"/>
          </a:solidFill>
          <a:ln w="12700">
            <a:solidFill>
              <a:srgbClr val="D97757"/>
            </a:solidFill>
            <a:prstDash val="solid"/>
          </a:ln>
        </p:spPr>
      </p:sp>
      <p:sp>
        <p:nvSpPr>
          <p:cNvPr id="17" name="Text 15"/>
          <p:cNvSpPr txBox="1"/>
          <p:nvPr/>
        </p:nvSpPr>
        <p:spPr>
          <a:xfrm>
            <a:off x="786384" y="35570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53312" y="3520440"/>
            <a:ext cx="10070287" cy="237744"/>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The inputs</a:t>
            </a:r>
            <a:endParaRPr lang="en-US" sz="1350" dirty="0"/>
          </a:p>
        </p:txBody>
      </p:sp>
      <p:sp>
        <p:nvSpPr>
          <p:cNvPr id="19" name="Text 17"/>
          <p:cNvSpPr txBox="1"/>
          <p:nvPr/>
        </p:nvSpPr>
        <p:spPr>
          <a:xfrm>
            <a:off x="1353312" y="3767328"/>
            <a:ext cx="10070287" cy="292608"/>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Point at real material: file paths, a spec extract, an error trace. Reference beats description.</a:t>
            </a:r>
            <a:endParaRPr lang="en-US" sz="1150" dirty="0"/>
          </a:p>
        </p:txBody>
      </p:sp>
      <p:sp>
        <p:nvSpPr>
          <p:cNvPr id="20" name="Shape 18"/>
          <p:cNvSpPr/>
          <p:nvPr/>
        </p:nvSpPr>
        <p:spPr>
          <a:xfrm>
            <a:off x="566928" y="4224528"/>
            <a:ext cx="11057839"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1" name="Shape 19"/>
          <p:cNvSpPr/>
          <p:nvPr/>
        </p:nvSpPr>
        <p:spPr>
          <a:xfrm>
            <a:off x="786384" y="4379976"/>
            <a:ext cx="420624" cy="420624"/>
          </a:xfrm>
          <a:prstGeom prst="ellipse">
            <a:avLst/>
          </a:prstGeom>
          <a:solidFill>
            <a:srgbClr val="D97757"/>
          </a:solidFill>
          <a:ln w="12700">
            <a:solidFill>
              <a:srgbClr val="D97757"/>
            </a:solidFill>
            <a:prstDash val="solid"/>
          </a:ln>
        </p:spPr>
      </p:sp>
      <p:sp>
        <p:nvSpPr>
          <p:cNvPr id="22" name="Text 20"/>
          <p:cNvSpPr txBox="1"/>
          <p:nvPr/>
        </p:nvSpPr>
        <p:spPr>
          <a:xfrm>
            <a:off x="786384" y="43799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353312" y="4343400"/>
            <a:ext cx="10070287" cy="237744"/>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Constraints</a:t>
            </a:r>
            <a:endParaRPr lang="en-US" sz="1350" dirty="0"/>
          </a:p>
        </p:txBody>
      </p:sp>
      <p:sp>
        <p:nvSpPr>
          <p:cNvPr id="24" name="Text 22"/>
          <p:cNvSpPr txBox="1"/>
          <p:nvPr/>
        </p:nvSpPr>
        <p:spPr>
          <a:xfrm>
            <a:off x="1353312" y="4590288"/>
            <a:ext cx="10070287" cy="292608"/>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Versions, standards, and what must not change. "OData V2 via SEGW, no RAP" rules out a wrong path.</a:t>
            </a:r>
            <a:endParaRPr lang="en-US" sz="1150" dirty="0"/>
          </a:p>
        </p:txBody>
      </p:sp>
      <p:sp>
        <p:nvSpPr>
          <p:cNvPr id="25" name="Shape 23"/>
          <p:cNvSpPr/>
          <p:nvPr/>
        </p:nvSpPr>
        <p:spPr>
          <a:xfrm>
            <a:off x="566928" y="5047488"/>
            <a:ext cx="11057839"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6" name="Shape 24"/>
          <p:cNvSpPr/>
          <p:nvPr/>
        </p:nvSpPr>
        <p:spPr>
          <a:xfrm>
            <a:off x="786384" y="5202936"/>
            <a:ext cx="420624" cy="420624"/>
          </a:xfrm>
          <a:prstGeom prst="ellipse">
            <a:avLst/>
          </a:prstGeom>
          <a:solidFill>
            <a:srgbClr val="D97757"/>
          </a:solidFill>
          <a:ln w="12700">
            <a:solidFill>
              <a:srgbClr val="D97757"/>
            </a:solidFill>
            <a:prstDash val="solid"/>
          </a:ln>
        </p:spPr>
      </p:sp>
      <p:sp>
        <p:nvSpPr>
          <p:cNvPr id="27" name="Text 25"/>
          <p:cNvSpPr txBox="1"/>
          <p:nvPr/>
        </p:nvSpPr>
        <p:spPr>
          <a:xfrm>
            <a:off x="786384" y="52029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1353312" y="5166360"/>
            <a:ext cx="10070287" cy="237744"/>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The shape of the output</a:t>
            </a:r>
            <a:endParaRPr lang="en-US" sz="1350" dirty="0"/>
          </a:p>
        </p:txBody>
      </p:sp>
      <p:sp>
        <p:nvSpPr>
          <p:cNvPr id="29" name="Text 27"/>
          <p:cNvSpPr txBox="1"/>
          <p:nvPr/>
        </p:nvSpPr>
        <p:spPr>
          <a:xfrm>
            <a:off x="1353312" y="5413248"/>
            <a:ext cx="10070287" cy="292608"/>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Table, numbered steps, ABAP class, markdown, JSON. Say how long, too — one page, ten cases.</a:t>
            </a:r>
            <a:endParaRPr lang="en-US" sz="1150" dirty="0"/>
          </a:p>
        </p:txBody>
      </p:sp>
      <p:sp>
        <p:nvSpPr>
          <p:cNvPr id="30" name="Shape 28"/>
          <p:cNvSpPr/>
          <p:nvPr/>
        </p:nvSpPr>
        <p:spPr>
          <a:xfrm>
            <a:off x="566928" y="5870448"/>
            <a:ext cx="11057839" cy="457200"/>
          </a:xfrm>
          <a:prstGeom prst="roundRect">
            <a:avLst>
              <a:gd name="adj" fmla="val 18000"/>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31" name="Text 29"/>
          <p:cNvSpPr txBox="1"/>
          <p:nvPr/>
        </p:nvSpPr>
        <p:spPr>
          <a:xfrm>
            <a:off x="841248" y="5971032"/>
            <a:ext cx="10509199" cy="274320"/>
          </a:xfrm>
          <a:prstGeom prst="rect">
            <a:avLst/>
          </a:prstGeom>
          <a:noFill/>
          <a:ln/>
        </p:spPr>
        <p:txBody>
          <a:bodyPr wrap="square" lIns="0" tIns="0" rIns="0" bIns="0" rtlCol="0" anchor="t"/>
          <a:lstStyle/>
          <a:p>
            <a:pPr indent="0" marL="0">
              <a:lnSpc>
                <a:spcPts val="1900"/>
              </a:lnSpc>
              <a:buNone/>
            </a:pPr>
            <a:r>
              <a:rPr lang="en-US" sz="1200" b="1" dirty="0">
                <a:solidFill>
                  <a:srgbClr val="1C1917"/>
                </a:solidFill>
                <a:latin typeface="Calibri" pitchFamily="34" charset="0"/>
                <a:ea typeface="Calibri" pitchFamily="34" charset="-122"/>
                <a:cs typeface="Calibri" pitchFamily="34" charset="-120"/>
              </a:rPr>
              <a:t>The test: could a colleague who has never seen your project act on this without a follow-up question?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SAME INTENT, DIFFERENT OUTCOME</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A real request from your own repository</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Both prompts ask for the same thing. Only one of them can be acted on.</a:t>
            </a:r>
            <a:endParaRPr lang="en-US" sz="1350" dirty="0"/>
          </a:p>
        </p:txBody>
      </p:sp>
      <p:sp>
        <p:nvSpPr>
          <p:cNvPr id="5" name="Shape 3"/>
          <p:cNvSpPr/>
          <p:nvPr/>
        </p:nvSpPr>
        <p:spPr>
          <a:xfrm>
            <a:off x="566928" y="1773936"/>
            <a:ext cx="5373472" cy="4114800"/>
          </a:xfrm>
          <a:prstGeom prst="roundRect">
            <a:avLst>
              <a:gd name="adj" fmla="val 200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822960" y="1956816"/>
            <a:ext cx="1600200" cy="384048"/>
          </a:xfrm>
          <a:prstGeom prst="roundRect">
            <a:avLst>
              <a:gd name="adj" fmla="val 21429"/>
            </a:avLst>
          </a:prstGeom>
          <a:solidFill>
            <a:srgbClr val="C0392B"/>
          </a:solidFill>
          <a:ln/>
        </p:spPr>
      </p:sp>
      <p:sp>
        <p:nvSpPr>
          <p:cNvPr id="7" name="Text 5"/>
          <p:cNvSpPr txBox="1"/>
          <p:nvPr/>
        </p:nvSpPr>
        <p:spPr>
          <a:xfrm>
            <a:off x="822960" y="1956816"/>
            <a:ext cx="160020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VAGUE</a:t>
            </a:r>
            <a:endParaRPr lang="en-US" sz="1100" dirty="0"/>
          </a:p>
        </p:txBody>
      </p:sp>
      <p:sp>
        <p:nvSpPr>
          <p:cNvPr id="8" name="Shape 6"/>
          <p:cNvSpPr/>
          <p:nvPr/>
        </p:nvSpPr>
        <p:spPr>
          <a:xfrm>
            <a:off x="822960" y="2487168"/>
            <a:ext cx="4861408" cy="786384"/>
          </a:xfrm>
          <a:prstGeom prst="roundRect">
            <a:avLst>
              <a:gd name="adj" fmla="val 10465"/>
            </a:avLst>
          </a:prstGeom>
          <a:solidFill>
            <a:srgbClr val="2B2320"/>
          </a:solidFill>
          <a:ln w="12700">
            <a:solidFill>
              <a:srgbClr val="2B2320"/>
            </a:solidFill>
            <a:prstDash val="solid"/>
          </a:ln>
        </p:spPr>
      </p:sp>
      <p:sp>
        <p:nvSpPr>
          <p:cNvPr id="9" name="Text 7"/>
          <p:cNvSpPr txBox="1"/>
          <p:nvPr/>
        </p:nvSpPr>
        <p:spPr>
          <a:xfrm>
            <a:off x="987552" y="2615184"/>
            <a:ext cx="4532224" cy="530352"/>
          </a:xfrm>
          <a:prstGeom prst="rect">
            <a:avLst/>
          </a:prstGeom>
          <a:noFill/>
          <a:ln/>
        </p:spPr>
        <p:txBody>
          <a:bodyPr wrap="square" lIns="0" tIns="0" rIns="0" bIns="0" rtlCol="0" anchor="t"/>
          <a:lstStyle/>
          <a:p>
            <a:pPr indent="0" marL="0">
              <a:lnSpc>
                <a:spcPts val="1500"/>
              </a:lnSpc>
              <a:buNone/>
            </a:pPr>
            <a:r>
              <a:rPr lang="en-US" sz="1050" dirty="0">
                <a:solidFill>
                  <a:srgbClr val="E8DFD8"/>
                </a:solidFill>
                <a:latin typeface="Consolas" pitchFamily="34" charset="0"/>
                <a:ea typeface="Consolas" pitchFamily="34" charset="-122"/>
                <a:cs typeface="Consolas" pitchFamily="34" charset="-120"/>
              </a:rPr>
              <a:t>the check-in feature is broken,</a:t>
            </a:r>
            <a:endParaRPr lang="en-US" sz="1050" dirty="0"/>
          </a:p>
          <a:p>
            <a:pPr indent="0" marL="0">
              <a:lnSpc>
                <a:spcPts val="1500"/>
              </a:lnSpc>
              <a:buNone/>
            </a:pPr>
            <a:r>
              <a:rPr lang="en-US" sz="1050" dirty="0">
                <a:solidFill>
                  <a:srgbClr val="E8DFD8"/>
                </a:solidFill>
                <a:latin typeface="Consolas" pitchFamily="34" charset="0"/>
                <a:ea typeface="Consolas" pitchFamily="34" charset="-122"/>
                <a:cs typeface="Consolas" pitchFamily="34" charset="-120"/>
              </a:rPr>
              <a:t>please fix it</a:t>
            </a:r>
            <a:endParaRPr lang="en-US" sz="1050" dirty="0"/>
          </a:p>
        </p:txBody>
      </p:sp>
      <p:sp>
        <p:nvSpPr>
          <p:cNvPr id="10" name="Text 8"/>
          <p:cNvSpPr txBox="1"/>
          <p:nvPr/>
        </p:nvSpPr>
        <p:spPr>
          <a:xfrm>
            <a:off x="822960" y="3438144"/>
            <a:ext cx="4861408" cy="237744"/>
          </a:xfrm>
          <a:prstGeom prst="rect">
            <a:avLst/>
          </a:prstGeom>
          <a:noFill/>
          <a:ln/>
        </p:spPr>
        <p:txBody>
          <a:bodyPr wrap="square" lIns="0" tIns="0" rIns="0" bIns="0" rtlCol="0" anchor="ctr"/>
          <a:lstStyle/>
          <a:p>
            <a:pPr indent="0" marL="0">
              <a:buNone/>
            </a:pPr>
            <a:r>
              <a:rPr lang="en-US" sz="1200" b="1" dirty="0">
                <a:solidFill>
                  <a:srgbClr val="1C1917"/>
                </a:solidFill>
                <a:latin typeface="Calibri" pitchFamily="34" charset="0"/>
                <a:ea typeface="Calibri" pitchFamily="34" charset="-122"/>
                <a:cs typeface="Calibri" pitchFamily="34" charset="-120"/>
              </a:rPr>
              <a:t>What happens</a:t>
            </a:r>
            <a:endParaRPr lang="en-US" sz="1200" dirty="0"/>
          </a:p>
        </p:txBody>
      </p:sp>
      <p:sp>
        <p:nvSpPr>
          <p:cNvPr id="11" name="Text 9"/>
          <p:cNvSpPr txBox="1"/>
          <p:nvPr/>
        </p:nvSpPr>
        <p:spPr>
          <a:xfrm>
            <a:off x="822960" y="3712464"/>
            <a:ext cx="4861408" cy="1975104"/>
          </a:xfrm>
          <a:prstGeom prst="rect">
            <a:avLst/>
          </a:prstGeom>
          <a:noFill/>
          <a:ln/>
        </p:spPr>
        <p:txBody>
          <a:bodyPr wrap="square" lIns="0" tIns="0" rIns="0" bIns="0" rtlCol="0" anchor="ctr"/>
          <a:lstStyle/>
          <a:p>
            <a:pPr marL="342900" indent="-342900">
              <a:lnSpc>
                <a:spcPts val="1800"/>
              </a:lnSpc>
              <a:spcAft>
                <a:spcPts val="800"/>
              </a:spcAft>
              <a:buSzPct val="100000"/>
              <a:buChar char="•"/>
            </a:pPr>
            <a:r>
              <a:rPr lang="en-US" sz="1150" dirty="0">
                <a:solidFill>
                  <a:srgbClr val="6E635C"/>
                </a:solidFill>
                <a:latin typeface="Calibri" pitchFamily="34" charset="0"/>
                <a:ea typeface="Calibri" pitchFamily="34" charset="-122"/>
                <a:cs typeface="Calibri" pitchFamily="34" charset="-120"/>
              </a:rPr>
              <a:t>Claude greps the repo and reads a dozen files to find "check-in"</a:t>
            </a:r>
            <a:endParaRPr lang="en-US" sz="1150" dirty="0"/>
          </a:p>
          <a:p>
            <a:pPr marL="342900" indent="-342900">
              <a:lnSpc>
                <a:spcPts val="1800"/>
              </a:lnSpc>
              <a:spcAft>
                <a:spcPts val="800"/>
              </a:spcAft>
              <a:buSzPct val="100000"/>
              <a:buChar char="•"/>
            </a:pPr>
            <a:r>
              <a:rPr lang="en-US" sz="1150" dirty="0">
                <a:solidFill>
                  <a:srgbClr val="6E635C"/>
                </a:solidFill>
                <a:latin typeface="Calibri" pitchFamily="34" charset="0"/>
                <a:ea typeface="Calibri" pitchFamily="34" charset="-122"/>
                <a:cs typeface="Calibri" pitchFamily="34" charset="-120"/>
              </a:rPr>
              <a:t>Guesses at which of GPS, distance, state toggle or dialog you meant</a:t>
            </a:r>
            <a:endParaRPr lang="en-US" sz="1150" dirty="0"/>
          </a:p>
          <a:p>
            <a:pPr marL="342900" indent="-342900">
              <a:lnSpc>
                <a:spcPts val="1800"/>
              </a:lnSpc>
              <a:spcAft>
                <a:spcPts val="800"/>
              </a:spcAft>
              <a:buSzPct val="100000"/>
              <a:buChar char="•"/>
            </a:pPr>
            <a:r>
              <a:rPr lang="en-US" sz="1150" dirty="0">
                <a:solidFill>
                  <a:srgbClr val="6E635C"/>
                </a:solidFill>
                <a:latin typeface="Calibri" pitchFamily="34" charset="0"/>
                <a:ea typeface="Calibri" pitchFamily="34" charset="-122"/>
                <a:cs typeface="Calibri" pitchFamily="34" charset="-120"/>
              </a:rPr>
              <a:t>Proposes a change you did not want, and you spend a turn correcting it</a:t>
            </a:r>
            <a:endParaRPr lang="en-US" sz="1150" dirty="0"/>
          </a:p>
          <a:p>
            <a:pPr marL="342900" indent="-342900">
              <a:lnSpc>
                <a:spcPts val="1800"/>
              </a:lnSpc>
              <a:spcAft>
                <a:spcPts val="800"/>
              </a:spcAft>
              <a:buSzPct val="100000"/>
              <a:buChar char="•"/>
            </a:pPr>
            <a:r>
              <a:rPr lang="en-US" sz="1150" dirty="0">
                <a:solidFill>
                  <a:srgbClr val="6E635C"/>
                </a:solidFill>
                <a:latin typeface="Calibri" pitchFamily="34" charset="0"/>
                <a:ea typeface="Calibri" pitchFamily="34" charset="-122"/>
                <a:cs typeface="Calibri" pitchFamily="34" charset="-120"/>
              </a:rPr>
              <a:t>Cost: thousands of wasted tokens and two extra round trips</a:t>
            </a:r>
            <a:endParaRPr lang="en-US" sz="1150" dirty="0"/>
          </a:p>
        </p:txBody>
      </p:sp>
      <p:sp>
        <p:nvSpPr>
          <p:cNvPr id="12" name="Shape 10"/>
          <p:cNvSpPr/>
          <p:nvPr/>
        </p:nvSpPr>
        <p:spPr>
          <a:xfrm>
            <a:off x="6251296" y="1773936"/>
            <a:ext cx="5373472" cy="4114800"/>
          </a:xfrm>
          <a:prstGeom prst="roundRect">
            <a:avLst>
              <a:gd name="adj" fmla="val 200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3" name="Shape 11"/>
          <p:cNvSpPr/>
          <p:nvPr/>
        </p:nvSpPr>
        <p:spPr>
          <a:xfrm>
            <a:off x="6507328" y="1956816"/>
            <a:ext cx="1600200" cy="384048"/>
          </a:xfrm>
          <a:prstGeom prst="roundRect">
            <a:avLst>
              <a:gd name="adj" fmla="val 21429"/>
            </a:avLst>
          </a:prstGeom>
          <a:solidFill>
            <a:srgbClr val="4A6B5D"/>
          </a:solidFill>
          <a:ln/>
        </p:spPr>
      </p:sp>
      <p:sp>
        <p:nvSpPr>
          <p:cNvPr id="14" name="Text 12"/>
          <p:cNvSpPr txBox="1"/>
          <p:nvPr/>
        </p:nvSpPr>
        <p:spPr>
          <a:xfrm>
            <a:off x="6507328" y="1956816"/>
            <a:ext cx="160020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SPECIFIC</a:t>
            </a:r>
            <a:endParaRPr lang="en-US" sz="1100" dirty="0"/>
          </a:p>
        </p:txBody>
      </p:sp>
      <p:sp>
        <p:nvSpPr>
          <p:cNvPr id="15" name="Shape 13"/>
          <p:cNvSpPr/>
          <p:nvPr/>
        </p:nvSpPr>
        <p:spPr>
          <a:xfrm>
            <a:off x="6507328" y="2487168"/>
            <a:ext cx="4861408" cy="1572768"/>
          </a:xfrm>
          <a:prstGeom prst="roundRect">
            <a:avLst>
              <a:gd name="adj" fmla="val 5233"/>
            </a:avLst>
          </a:prstGeom>
          <a:solidFill>
            <a:srgbClr val="2B2320"/>
          </a:solidFill>
          <a:ln w="12700">
            <a:solidFill>
              <a:srgbClr val="2B2320"/>
            </a:solidFill>
            <a:prstDash val="solid"/>
          </a:ln>
        </p:spPr>
      </p:sp>
      <p:sp>
        <p:nvSpPr>
          <p:cNvPr id="16" name="Text 14"/>
          <p:cNvSpPr txBox="1"/>
          <p:nvPr/>
        </p:nvSpPr>
        <p:spPr>
          <a:xfrm>
            <a:off x="6671920" y="2615184"/>
            <a:ext cx="4532224" cy="1316736"/>
          </a:xfrm>
          <a:prstGeom prst="rect">
            <a:avLst/>
          </a:prstGeom>
          <a:noFill/>
          <a:ln/>
        </p:spPr>
        <p:txBody>
          <a:bodyPr wrap="square" lIns="0" tIns="0" rIns="0" bIns="0" rtlCol="0" anchor="t"/>
          <a:lstStyle/>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In lib/features/check_in/, the button</a:t>
            </a: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stays enabled at 320 m even though</a:t>
            </a: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AppConstants.geofenceRadius is 100.</a:t>
            </a: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Read check_in_providers.dart and</a:t>
            </a: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check_in_button.dart, tell me where the</a:t>
            </a: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comparison is wrong, then fix it.</a:t>
            </a: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Do not change the mock distances.</a:t>
            </a:r>
            <a:endParaRPr lang="en-US" sz="1000" dirty="0"/>
          </a:p>
        </p:txBody>
      </p:sp>
      <p:sp>
        <p:nvSpPr>
          <p:cNvPr id="17" name="Text 15"/>
          <p:cNvSpPr txBox="1"/>
          <p:nvPr/>
        </p:nvSpPr>
        <p:spPr>
          <a:xfrm>
            <a:off x="6507328" y="4187952"/>
            <a:ext cx="4861408" cy="237744"/>
          </a:xfrm>
          <a:prstGeom prst="rect">
            <a:avLst/>
          </a:prstGeom>
          <a:noFill/>
          <a:ln/>
        </p:spPr>
        <p:txBody>
          <a:bodyPr wrap="square" lIns="0" tIns="0" rIns="0" bIns="0" rtlCol="0" anchor="ctr"/>
          <a:lstStyle/>
          <a:p>
            <a:pPr indent="0" marL="0">
              <a:buNone/>
            </a:pPr>
            <a:r>
              <a:rPr lang="en-US" sz="1200" b="1" dirty="0">
                <a:solidFill>
                  <a:srgbClr val="1C1917"/>
                </a:solidFill>
                <a:latin typeface="Calibri" pitchFamily="34" charset="0"/>
                <a:ea typeface="Calibri" pitchFamily="34" charset="-122"/>
                <a:cs typeface="Calibri" pitchFamily="34" charset="-120"/>
              </a:rPr>
              <a:t>What happens</a:t>
            </a:r>
            <a:endParaRPr lang="en-US" sz="1200" dirty="0"/>
          </a:p>
        </p:txBody>
      </p:sp>
      <p:sp>
        <p:nvSpPr>
          <p:cNvPr id="18" name="Text 16"/>
          <p:cNvSpPr txBox="1"/>
          <p:nvPr/>
        </p:nvSpPr>
        <p:spPr>
          <a:xfrm>
            <a:off x="6507328" y="4462272"/>
            <a:ext cx="4861408" cy="1225296"/>
          </a:xfrm>
          <a:prstGeom prst="rect">
            <a:avLst/>
          </a:prstGeom>
          <a:noFill/>
          <a:ln/>
        </p:spPr>
        <p:txBody>
          <a:bodyPr wrap="square" lIns="0" tIns="0" rIns="0" bIns="0" rtlCol="0" anchor="ctr"/>
          <a:lstStyle/>
          <a:p>
            <a:pPr marL="342900" indent="-342900">
              <a:lnSpc>
                <a:spcPts val="1800"/>
              </a:lnSpc>
              <a:spcAft>
                <a:spcPts val="800"/>
              </a:spcAft>
              <a:buSzPct val="100000"/>
              <a:buChar char="•"/>
            </a:pPr>
            <a:r>
              <a:rPr lang="en-US" sz="1150" dirty="0">
                <a:solidFill>
                  <a:srgbClr val="6E635C"/>
                </a:solidFill>
                <a:latin typeface="Calibri" pitchFamily="34" charset="0"/>
                <a:ea typeface="Calibri" pitchFamily="34" charset="-122"/>
                <a:cs typeface="Calibri" pitchFamily="34" charset="-120"/>
              </a:rPr>
              <a:t>Two files read, not the repository</a:t>
            </a:r>
            <a:endParaRPr lang="en-US" sz="1150" dirty="0"/>
          </a:p>
          <a:p>
            <a:pPr marL="342900" indent="-342900">
              <a:lnSpc>
                <a:spcPts val="1800"/>
              </a:lnSpc>
              <a:spcAft>
                <a:spcPts val="800"/>
              </a:spcAft>
              <a:buSzPct val="100000"/>
              <a:buChar char="•"/>
            </a:pPr>
            <a:r>
              <a:rPr lang="en-US" sz="1150" dirty="0">
                <a:solidFill>
                  <a:srgbClr val="6E635C"/>
                </a:solidFill>
                <a:latin typeface="Calibri" pitchFamily="34" charset="0"/>
                <a:ea typeface="Calibri" pitchFamily="34" charset="-122"/>
                <a:cs typeface="Calibri" pitchFamily="34" charset="-120"/>
              </a:rPr>
              <a:t>Diagnosis before edit, so you can disagree cheaply</a:t>
            </a:r>
            <a:endParaRPr lang="en-US" sz="1150" dirty="0"/>
          </a:p>
          <a:p>
            <a:pPr marL="342900" indent="-342900">
              <a:lnSpc>
                <a:spcPts val="1800"/>
              </a:lnSpc>
              <a:spcAft>
                <a:spcPts val="800"/>
              </a:spcAft>
              <a:buSzPct val="100000"/>
              <a:buChar char="•"/>
            </a:pPr>
            <a:r>
              <a:rPr lang="en-US" sz="1150" dirty="0">
                <a:solidFill>
                  <a:srgbClr val="6E635C"/>
                </a:solidFill>
                <a:latin typeface="Calibri" pitchFamily="34" charset="0"/>
                <a:ea typeface="Calibri" pitchFamily="34" charset="-122"/>
                <a:cs typeface="Calibri" pitchFamily="34" charset="-120"/>
              </a:rPr>
              <a:t>An explicit boundary on what must not change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REUSABLE PATTERNS</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Five prompt shapes worth memorising</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These carry across Flutter, ABAP and functional documentation alike.</a:t>
            </a:r>
            <a:endParaRPr lang="en-US" sz="1350" dirty="0"/>
          </a:p>
        </p:txBody>
      </p:sp>
      <p:sp>
        <p:nvSpPr>
          <p:cNvPr id="5" name="Shape 3"/>
          <p:cNvSpPr/>
          <p:nvPr/>
        </p:nvSpPr>
        <p:spPr>
          <a:xfrm>
            <a:off x="566928" y="1773936"/>
            <a:ext cx="11057839" cy="859536"/>
          </a:xfrm>
          <a:prstGeom prst="roundRect">
            <a:avLst>
              <a:gd name="adj" fmla="val 9574"/>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786384" y="1993392"/>
            <a:ext cx="420624" cy="420624"/>
          </a:xfrm>
          <a:prstGeom prst="ellipse">
            <a:avLst/>
          </a:prstGeom>
          <a:solidFill>
            <a:srgbClr val="D97757"/>
          </a:solidFill>
          <a:ln w="12700">
            <a:solidFill>
              <a:srgbClr val="D97757"/>
            </a:solidFill>
            <a:prstDash val="solid"/>
          </a:ln>
        </p:spPr>
      </p:sp>
      <p:sp>
        <p:nvSpPr>
          <p:cNvPr id="7" name="Text 5"/>
          <p:cNvSpPr txBox="1"/>
          <p:nvPr/>
        </p:nvSpPr>
        <p:spPr>
          <a:xfrm>
            <a:off x="786384" y="19933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53312" y="1892808"/>
            <a:ext cx="10070287" cy="237744"/>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Explore → plan → build → verify</a:t>
            </a:r>
            <a:endParaRPr lang="en-US" sz="1350" dirty="0"/>
          </a:p>
        </p:txBody>
      </p:sp>
      <p:sp>
        <p:nvSpPr>
          <p:cNvPr id="9" name="Text 7"/>
          <p:cNvSpPr txBox="1"/>
          <p:nvPr/>
        </p:nvSpPr>
        <p:spPr>
          <a:xfrm>
            <a:off x="1353312" y="2139696"/>
            <a:ext cx="10070287" cy="420624"/>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Ask Claude to read and summarise first, approve a plan, then let it write. Shift+Tab enters plan mode, which enforces exactly this.</a:t>
            </a:r>
            <a:endParaRPr lang="en-US" sz="1150" dirty="0"/>
          </a:p>
        </p:txBody>
      </p:sp>
      <p:sp>
        <p:nvSpPr>
          <p:cNvPr id="10" name="Shape 8"/>
          <p:cNvSpPr/>
          <p:nvPr/>
        </p:nvSpPr>
        <p:spPr>
          <a:xfrm>
            <a:off x="566928" y="2706624"/>
            <a:ext cx="11057839" cy="859536"/>
          </a:xfrm>
          <a:prstGeom prst="roundRect">
            <a:avLst>
              <a:gd name="adj" fmla="val 9574"/>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1" name="Shape 9"/>
          <p:cNvSpPr/>
          <p:nvPr/>
        </p:nvSpPr>
        <p:spPr>
          <a:xfrm>
            <a:off x="786384" y="2926080"/>
            <a:ext cx="420624" cy="420624"/>
          </a:xfrm>
          <a:prstGeom prst="ellipse">
            <a:avLst/>
          </a:prstGeom>
          <a:solidFill>
            <a:srgbClr val="D97757"/>
          </a:solidFill>
          <a:ln w="12700">
            <a:solidFill>
              <a:srgbClr val="D97757"/>
            </a:solidFill>
            <a:prstDash val="solid"/>
          </a:ln>
        </p:spPr>
      </p:sp>
      <p:sp>
        <p:nvSpPr>
          <p:cNvPr id="12" name="Text 10"/>
          <p:cNvSpPr txBox="1"/>
          <p:nvPr/>
        </p:nvSpPr>
        <p:spPr>
          <a:xfrm>
            <a:off x="786384" y="29260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353312" y="2825496"/>
            <a:ext cx="10070287" cy="237744"/>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Test first</a:t>
            </a:r>
            <a:endParaRPr lang="en-US" sz="1350" dirty="0"/>
          </a:p>
        </p:txBody>
      </p:sp>
      <p:sp>
        <p:nvSpPr>
          <p:cNvPr id="14" name="Text 12"/>
          <p:cNvSpPr txBox="1"/>
          <p:nvPr/>
        </p:nvSpPr>
        <p:spPr>
          <a:xfrm>
            <a:off x="1353312" y="3072384"/>
            <a:ext cx="10070287" cy="420624"/>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"Write failing tests for these cases, confirm they fail, then implement until they pass." The strongest guard against confidently wrong code.</a:t>
            </a:r>
            <a:endParaRPr lang="en-US" sz="1150" dirty="0"/>
          </a:p>
        </p:txBody>
      </p:sp>
      <p:sp>
        <p:nvSpPr>
          <p:cNvPr id="15" name="Shape 13"/>
          <p:cNvSpPr/>
          <p:nvPr/>
        </p:nvSpPr>
        <p:spPr>
          <a:xfrm>
            <a:off x="566928" y="3639312"/>
            <a:ext cx="11057839" cy="859536"/>
          </a:xfrm>
          <a:prstGeom prst="roundRect">
            <a:avLst>
              <a:gd name="adj" fmla="val 9574"/>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6" name="Shape 14"/>
          <p:cNvSpPr/>
          <p:nvPr/>
        </p:nvSpPr>
        <p:spPr>
          <a:xfrm>
            <a:off x="786384" y="3858768"/>
            <a:ext cx="420624" cy="420624"/>
          </a:xfrm>
          <a:prstGeom prst="ellipse">
            <a:avLst/>
          </a:prstGeom>
          <a:solidFill>
            <a:srgbClr val="D97757"/>
          </a:solidFill>
          <a:ln w="12700">
            <a:solidFill>
              <a:srgbClr val="D97757"/>
            </a:solidFill>
            <a:prstDash val="solid"/>
          </a:ln>
        </p:spPr>
      </p:sp>
      <p:sp>
        <p:nvSpPr>
          <p:cNvPr id="17" name="Text 15"/>
          <p:cNvSpPr txBox="1"/>
          <p:nvPr/>
        </p:nvSpPr>
        <p:spPr>
          <a:xfrm>
            <a:off x="786384" y="38587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53312" y="3758184"/>
            <a:ext cx="10070287" cy="237744"/>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Give it a way to check itself</a:t>
            </a:r>
            <a:endParaRPr lang="en-US" sz="1350" dirty="0"/>
          </a:p>
        </p:txBody>
      </p:sp>
      <p:sp>
        <p:nvSpPr>
          <p:cNvPr id="19" name="Text 17"/>
          <p:cNvSpPr txBox="1"/>
          <p:nvPr/>
        </p:nvSpPr>
        <p:spPr>
          <a:xfrm>
            <a:off x="1353312" y="4005072"/>
            <a:ext cx="10070287" cy="420624"/>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Paste the error, the failing assertion, a screenshot, the expected payload. When Claude can verify, it self-corrects before you have to.</a:t>
            </a:r>
            <a:endParaRPr lang="en-US" sz="1150" dirty="0"/>
          </a:p>
        </p:txBody>
      </p:sp>
      <p:sp>
        <p:nvSpPr>
          <p:cNvPr id="20" name="Shape 18"/>
          <p:cNvSpPr/>
          <p:nvPr/>
        </p:nvSpPr>
        <p:spPr>
          <a:xfrm>
            <a:off x="566928" y="4572000"/>
            <a:ext cx="11057839" cy="859536"/>
          </a:xfrm>
          <a:prstGeom prst="roundRect">
            <a:avLst>
              <a:gd name="adj" fmla="val 9574"/>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1" name="Shape 19"/>
          <p:cNvSpPr/>
          <p:nvPr/>
        </p:nvSpPr>
        <p:spPr>
          <a:xfrm>
            <a:off x="786384" y="4791456"/>
            <a:ext cx="420624" cy="420624"/>
          </a:xfrm>
          <a:prstGeom prst="ellipse">
            <a:avLst/>
          </a:prstGeom>
          <a:solidFill>
            <a:srgbClr val="D97757"/>
          </a:solidFill>
          <a:ln w="12700">
            <a:solidFill>
              <a:srgbClr val="D97757"/>
            </a:solidFill>
            <a:prstDash val="solid"/>
          </a:ln>
        </p:spPr>
      </p:sp>
      <p:sp>
        <p:nvSpPr>
          <p:cNvPr id="22" name="Text 20"/>
          <p:cNvSpPr txBox="1"/>
          <p:nvPr/>
        </p:nvSpPr>
        <p:spPr>
          <a:xfrm>
            <a:off x="786384" y="47914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353312" y="4690872"/>
            <a:ext cx="10070287" cy="237744"/>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Ask for options, not an answer</a:t>
            </a:r>
            <a:endParaRPr lang="en-US" sz="1350" dirty="0"/>
          </a:p>
        </p:txBody>
      </p:sp>
      <p:sp>
        <p:nvSpPr>
          <p:cNvPr id="24" name="Text 22"/>
          <p:cNvSpPr txBox="1"/>
          <p:nvPr/>
        </p:nvSpPr>
        <p:spPr>
          <a:xfrm>
            <a:off x="1353312" y="4937760"/>
            <a:ext cx="10070287" cy="420624"/>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"Give me three approaches with trade-offs, then recommend one." Best for architecture and design decisions.</a:t>
            </a:r>
            <a:endParaRPr lang="en-US" sz="1150" dirty="0"/>
          </a:p>
        </p:txBody>
      </p:sp>
      <p:sp>
        <p:nvSpPr>
          <p:cNvPr id="25" name="Shape 23"/>
          <p:cNvSpPr/>
          <p:nvPr/>
        </p:nvSpPr>
        <p:spPr>
          <a:xfrm>
            <a:off x="566928" y="5504688"/>
            <a:ext cx="11057839" cy="859536"/>
          </a:xfrm>
          <a:prstGeom prst="roundRect">
            <a:avLst>
              <a:gd name="adj" fmla="val 9574"/>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6" name="Shape 24"/>
          <p:cNvSpPr/>
          <p:nvPr/>
        </p:nvSpPr>
        <p:spPr>
          <a:xfrm>
            <a:off x="786384" y="5724144"/>
            <a:ext cx="420624" cy="420624"/>
          </a:xfrm>
          <a:prstGeom prst="ellipse">
            <a:avLst/>
          </a:prstGeom>
          <a:solidFill>
            <a:srgbClr val="D97757"/>
          </a:solidFill>
          <a:ln w="12700">
            <a:solidFill>
              <a:srgbClr val="D97757"/>
            </a:solidFill>
            <a:prstDash val="solid"/>
          </a:ln>
        </p:spPr>
      </p:sp>
      <p:sp>
        <p:nvSpPr>
          <p:cNvPr id="27" name="Text 25"/>
          <p:cNvSpPr txBox="1"/>
          <p:nvPr/>
        </p:nvSpPr>
        <p:spPr>
          <a:xfrm>
            <a:off x="786384" y="57241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1353312" y="5623560"/>
            <a:ext cx="10070287" cy="237744"/>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Course-correct early</a:t>
            </a:r>
            <a:endParaRPr lang="en-US" sz="1350" dirty="0"/>
          </a:p>
        </p:txBody>
      </p:sp>
      <p:sp>
        <p:nvSpPr>
          <p:cNvPr id="29" name="Text 27"/>
          <p:cNvSpPr txBox="1"/>
          <p:nvPr/>
        </p:nvSpPr>
        <p:spPr>
          <a:xfrm>
            <a:off x="1353312" y="5870448"/>
            <a:ext cx="10070287" cy="420624"/>
          </a:xfrm>
          <a:prstGeom prst="rect">
            <a:avLst/>
          </a:prstGeom>
          <a:noFill/>
          <a:ln/>
        </p:spPr>
        <p:txBody>
          <a:bodyPr wrap="square" lIns="0" tIns="0" rIns="0" bIns="0" rtlCol="0" anchor="ctr"/>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Escape stops a wrong direction immediately. /rewind restores conversation and files to an earlier checkpoint. Neither is a failure — both are cheap.</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566928" y="2075688"/>
            <a:ext cx="1371600" cy="1371600"/>
          </a:xfrm>
          <a:prstGeom prst="ellipse">
            <a:avLst/>
          </a:prstGeom>
          <a:solidFill>
            <a:srgbClr val="D97757"/>
          </a:solidFill>
          <a:ln/>
        </p:spPr>
      </p:sp>
      <p:sp>
        <p:nvSpPr>
          <p:cNvPr id="3" name="Text 1"/>
          <p:cNvSpPr txBox="1"/>
          <p:nvPr/>
        </p:nvSpPr>
        <p:spPr>
          <a:xfrm>
            <a:off x="566928" y="2075688"/>
            <a:ext cx="1371600" cy="1371600"/>
          </a:xfrm>
          <a:prstGeom prst="rect">
            <a:avLst/>
          </a:prstGeom>
          <a:noFill/>
          <a:ln/>
        </p:spPr>
        <p:txBody>
          <a:bodyPr wrap="square" lIns="0" tIns="0" rIns="0" bIns="0" rtlCol="0" anchor="ctr"/>
          <a:lstStyle/>
          <a:p>
            <a:pPr algn="ctr" indent="0" marL="0">
              <a:buNone/>
            </a:pPr>
            <a:r>
              <a:rPr lang="en-US" sz="5200" b="1" dirty="0">
                <a:solidFill>
                  <a:srgbClr val="1C1917"/>
                </a:solidFill>
                <a:latin typeface="Cambria" pitchFamily="34" charset="0"/>
                <a:ea typeface="Cambria" pitchFamily="34" charset="-122"/>
                <a:cs typeface="Cambria" pitchFamily="34" charset="-120"/>
              </a:rPr>
              <a:t>04</a:t>
            </a:r>
            <a:endParaRPr lang="en-US" sz="5200" dirty="0"/>
          </a:p>
        </p:txBody>
      </p:sp>
      <p:sp>
        <p:nvSpPr>
          <p:cNvPr id="4" name="Text 2"/>
          <p:cNvSpPr txBox="1"/>
          <p:nvPr/>
        </p:nvSpPr>
        <p:spPr>
          <a:xfrm>
            <a:off x="2286000" y="1901952"/>
            <a:ext cx="8778240" cy="237744"/>
          </a:xfrm>
          <a:prstGeom prst="rect">
            <a:avLst/>
          </a:prstGeom>
          <a:noFill/>
          <a:ln/>
        </p:spPr>
        <p:txBody>
          <a:bodyPr wrap="square" lIns="0" tIns="0" rIns="0" bIns="0" rtlCol="0" anchor="ctr"/>
          <a:lstStyle/>
          <a:p>
            <a:pPr indent="0" marL="0">
              <a:buNone/>
            </a:pPr>
            <a:r>
              <a:rPr lang="en-US" sz="1100" b="1" spc="240" kern="0" dirty="0">
                <a:solidFill>
                  <a:srgbClr val="D97757"/>
                </a:solidFill>
                <a:latin typeface="Calibri" pitchFamily="34" charset="0"/>
                <a:ea typeface="Calibri" pitchFamily="34" charset="-122"/>
                <a:cs typeface="Calibri" pitchFamily="34" charset="-120"/>
              </a:rPr>
              <a:t>CODE SESSIONS</a:t>
            </a:r>
            <a:endParaRPr lang="en-US" sz="1100" dirty="0"/>
          </a:p>
        </p:txBody>
      </p:sp>
      <p:sp>
        <p:nvSpPr>
          <p:cNvPr id="5" name="Text 3"/>
          <p:cNvSpPr txBox="1"/>
          <p:nvPr/>
        </p:nvSpPr>
        <p:spPr>
          <a:xfrm>
            <a:off x="2286000" y="2176272"/>
            <a:ext cx="8778240" cy="1188720"/>
          </a:xfrm>
          <a:prstGeom prst="rect">
            <a:avLst/>
          </a:prstGeom>
          <a:noFill/>
          <a:ln/>
        </p:spPr>
        <p:txBody>
          <a:bodyPr wrap="square" lIns="0" tIns="0" rIns="0" bIns="0" rtlCol="0" anchor="t"/>
          <a:lstStyle/>
          <a:p>
            <a:pPr indent="0" marL="0">
              <a:lnSpc>
                <a:spcPts val="4000"/>
              </a:lnSpc>
              <a:buNone/>
            </a:pPr>
            <a:r>
              <a:rPr lang="en-US" sz="3400" b="1" dirty="0">
                <a:solidFill>
                  <a:srgbClr val="FAF9F7"/>
                </a:solidFill>
                <a:latin typeface="Cambria" pitchFamily="34" charset="0"/>
                <a:ea typeface="Cambria" pitchFamily="34" charset="-122"/>
                <a:cs typeface="Cambria" pitchFamily="34" charset="-120"/>
              </a:rPr>
              <a:t>Running a session, not sending messages</a:t>
            </a:r>
            <a:endParaRPr lang="en-US" sz="3400" dirty="0"/>
          </a:p>
        </p:txBody>
      </p:sp>
      <p:sp>
        <p:nvSpPr>
          <p:cNvPr id="6" name="Text 4"/>
          <p:cNvSpPr txBox="1"/>
          <p:nvPr/>
        </p:nvSpPr>
        <p:spPr>
          <a:xfrm>
            <a:off x="2286000" y="3474720"/>
            <a:ext cx="8412480" cy="914400"/>
          </a:xfrm>
          <a:prstGeom prst="rect">
            <a:avLst/>
          </a:prstGeom>
          <a:noFill/>
          <a:ln/>
        </p:spPr>
        <p:txBody>
          <a:bodyPr wrap="square" lIns="0" tIns="0" rIns="0" bIns="0" rtlCol="0" anchor="t"/>
          <a:lstStyle/>
          <a:p>
            <a:pPr indent="0" marL="0">
              <a:lnSpc>
                <a:spcPts val="2200"/>
              </a:lnSpc>
              <a:buNone/>
            </a:pPr>
            <a:r>
              <a:rPr lang="en-US" sz="1450" dirty="0">
                <a:solidFill>
                  <a:srgbClr val="B8ADA6"/>
                </a:solidFill>
                <a:latin typeface="Calibri" pitchFamily="34" charset="0"/>
                <a:ea typeface="Calibri" pitchFamily="34" charset="-122"/>
                <a:cs typeface="Calibri" pitchFamily="34" charset="-120"/>
              </a:rPr>
              <a:t>A Claude Code session is a working environment with a lifecycle. Treating it as a chat window is what makes it expensive and unpredictable.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THE WORKING LOOP</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Five moves that make a session predictable</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Repeat per task, not per day. The loop resets when the task changes.</a:t>
            </a:r>
            <a:endParaRPr lang="en-US" sz="1350" dirty="0"/>
          </a:p>
        </p:txBody>
      </p:sp>
      <p:sp>
        <p:nvSpPr>
          <p:cNvPr id="5" name="Shape 3"/>
          <p:cNvSpPr/>
          <p:nvPr/>
        </p:nvSpPr>
        <p:spPr>
          <a:xfrm>
            <a:off x="566928" y="1847088"/>
            <a:ext cx="2021373" cy="3200400"/>
          </a:xfrm>
          <a:prstGeom prst="roundRect">
            <a:avLst>
              <a:gd name="adj" fmla="val 4071"/>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1321582" y="2066544"/>
            <a:ext cx="512064" cy="512064"/>
          </a:xfrm>
          <a:prstGeom prst="ellipse">
            <a:avLst/>
          </a:prstGeom>
          <a:solidFill>
            <a:srgbClr val="D97757"/>
          </a:solidFill>
          <a:ln w="12700">
            <a:solidFill>
              <a:srgbClr val="D97757"/>
            </a:solidFill>
            <a:prstDash val="solid"/>
          </a:ln>
        </p:spPr>
      </p:sp>
      <p:sp>
        <p:nvSpPr>
          <p:cNvPr id="7" name="Text 5"/>
          <p:cNvSpPr txBox="1"/>
          <p:nvPr/>
        </p:nvSpPr>
        <p:spPr>
          <a:xfrm>
            <a:off x="1321582" y="206654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713232" y="2743200"/>
            <a:ext cx="1728765" cy="274320"/>
          </a:xfrm>
          <a:prstGeom prst="rect">
            <a:avLst/>
          </a:prstGeom>
          <a:noFill/>
          <a:ln/>
        </p:spPr>
        <p:txBody>
          <a:bodyPr wrap="square" lIns="0" tIns="0" rIns="0" bIns="0" rtlCol="0" anchor="ctr"/>
          <a:lstStyle/>
          <a:p>
            <a:pPr algn="ctr" indent="0" marL="0">
              <a:buNone/>
            </a:pPr>
            <a:r>
              <a:rPr lang="en-US" sz="1450" b="1" dirty="0">
                <a:solidFill>
                  <a:srgbClr val="1C1917"/>
                </a:solidFill>
                <a:latin typeface="Calibri" pitchFamily="34" charset="0"/>
                <a:ea typeface="Calibri" pitchFamily="34" charset="-122"/>
                <a:cs typeface="Calibri" pitchFamily="34" charset="-120"/>
              </a:rPr>
              <a:t>Frame</a:t>
            </a:r>
            <a:endParaRPr lang="en-US" sz="1450" dirty="0"/>
          </a:p>
        </p:txBody>
      </p:sp>
      <p:sp>
        <p:nvSpPr>
          <p:cNvPr id="9" name="Text 7"/>
          <p:cNvSpPr txBox="1"/>
          <p:nvPr/>
        </p:nvSpPr>
        <p:spPr>
          <a:xfrm>
            <a:off x="749808" y="3072384"/>
            <a:ext cx="1655613" cy="1773936"/>
          </a:xfrm>
          <a:prstGeom prst="rect">
            <a:avLst/>
          </a:prstGeom>
          <a:noFill/>
          <a:ln/>
        </p:spPr>
        <p:txBody>
          <a:bodyPr wrap="square" lIns="0" tIns="0" rIns="0" bIns="0" rtlCol="0" anchor="t"/>
          <a:lstStyle/>
          <a:p>
            <a:pPr indent="0" marL="0">
              <a:lnSpc>
                <a:spcPts val="1500"/>
              </a:lnSpc>
              <a:buNone/>
            </a:pPr>
            <a:r>
              <a:rPr lang="en-US" sz="1100" dirty="0">
                <a:solidFill>
                  <a:srgbClr val="6E635C"/>
                </a:solidFill>
                <a:latin typeface="Calibri" pitchFamily="34" charset="0"/>
                <a:ea typeface="Calibri" pitchFamily="34" charset="-122"/>
                <a:cs typeface="Calibri" pitchFamily="34" charset="-120"/>
              </a:rPr>
              <a:t>One task, one branch. State the goal and the definition of done before anything else.</a:t>
            </a:r>
            <a:endParaRPr lang="en-US" sz="1100" dirty="0"/>
          </a:p>
        </p:txBody>
      </p:sp>
      <p:sp>
        <p:nvSpPr>
          <p:cNvPr id="10" name="Text 8"/>
          <p:cNvSpPr txBox="1"/>
          <p:nvPr/>
        </p:nvSpPr>
        <p:spPr>
          <a:xfrm>
            <a:off x="2606589" y="3035808"/>
            <a:ext cx="201168" cy="274320"/>
          </a:xfrm>
          <a:prstGeom prst="rect">
            <a:avLst/>
          </a:prstGeom>
          <a:noFill/>
          <a:ln/>
        </p:spPr>
        <p:txBody>
          <a:bodyPr wrap="square" lIns="0" tIns="0" rIns="0" bIns="0" rtlCol="0" anchor="ctr"/>
          <a:lstStyle/>
          <a:p>
            <a:pPr algn="ctr" indent="0" marL="0">
              <a:buNone/>
            </a:pPr>
            <a:r>
              <a:rPr lang="en-US" sz="2000" b="1" dirty="0">
                <a:solidFill>
                  <a:srgbClr val="D97757"/>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826045" y="1847088"/>
            <a:ext cx="2021373" cy="3200400"/>
          </a:xfrm>
          <a:prstGeom prst="roundRect">
            <a:avLst>
              <a:gd name="adj" fmla="val 4071"/>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2" name="Shape 10"/>
          <p:cNvSpPr/>
          <p:nvPr/>
        </p:nvSpPr>
        <p:spPr>
          <a:xfrm>
            <a:off x="3580699" y="2066544"/>
            <a:ext cx="512064" cy="512064"/>
          </a:xfrm>
          <a:prstGeom prst="ellipse">
            <a:avLst/>
          </a:prstGeom>
          <a:solidFill>
            <a:srgbClr val="D97757"/>
          </a:solidFill>
          <a:ln w="12700">
            <a:solidFill>
              <a:srgbClr val="D97757"/>
            </a:solidFill>
            <a:prstDash val="solid"/>
          </a:ln>
        </p:spPr>
      </p:sp>
      <p:sp>
        <p:nvSpPr>
          <p:cNvPr id="13" name="Text 11"/>
          <p:cNvSpPr txBox="1"/>
          <p:nvPr/>
        </p:nvSpPr>
        <p:spPr>
          <a:xfrm>
            <a:off x="3580699" y="206654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2972349" y="2743200"/>
            <a:ext cx="1728765" cy="274320"/>
          </a:xfrm>
          <a:prstGeom prst="rect">
            <a:avLst/>
          </a:prstGeom>
          <a:noFill/>
          <a:ln/>
        </p:spPr>
        <p:txBody>
          <a:bodyPr wrap="square" lIns="0" tIns="0" rIns="0" bIns="0" rtlCol="0" anchor="ctr"/>
          <a:lstStyle/>
          <a:p>
            <a:pPr algn="ctr" indent="0" marL="0">
              <a:buNone/>
            </a:pPr>
            <a:r>
              <a:rPr lang="en-US" sz="1450" b="1" dirty="0">
                <a:solidFill>
                  <a:srgbClr val="1C1917"/>
                </a:solidFill>
                <a:latin typeface="Calibri" pitchFamily="34" charset="0"/>
                <a:ea typeface="Calibri" pitchFamily="34" charset="-122"/>
                <a:cs typeface="Calibri" pitchFamily="34" charset="-120"/>
              </a:rPr>
              <a:t>Explore</a:t>
            </a:r>
            <a:endParaRPr lang="en-US" sz="1450" dirty="0"/>
          </a:p>
        </p:txBody>
      </p:sp>
      <p:sp>
        <p:nvSpPr>
          <p:cNvPr id="15" name="Text 13"/>
          <p:cNvSpPr txBox="1"/>
          <p:nvPr/>
        </p:nvSpPr>
        <p:spPr>
          <a:xfrm>
            <a:off x="3008925" y="3072384"/>
            <a:ext cx="1655613" cy="1773936"/>
          </a:xfrm>
          <a:prstGeom prst="rect">
            <a:avLst/>
          </a:prstGeom>
          <a:noFill/>
          <a:ln/>
        </p:spPr>
        <p:txBody>
          <a:bodyPr wrap="square" lIns="0" tIns="0" rIns="0" bIns="0" rtlCol="0" anchor="t"/>
          <a:lstStyle/>
          <a:p>
            <a:pPr indent="0" marL="0">
              <a:lnSpc>
                <a:spcPts val="1500"/>
              </a:lnSpc>
              <a:buNone/>
            </a:pPr>
            <a:r>
              <a:rPr lang="en-US" sz="1100" dirty="0">
                <a:solidFill>
                  <a:srgbClr val="6E635C"/>
                </a:solidFill>
                <a:latin typeface="Calibri" pitchFamily="34" charset="0"/>
                <a:ea typeface="Calibri" pitchFamily="34" charset="-122"/>
                <a:cs typeface="Calibri" pitchFamily="34" charset="-120"/>
              </a:rPr>
              <a:t>Ask Claude to read and summarise the relevant files. No edits yet — you are buying a shared understanding.</a:t>
            </a:r>
            <a:endParaRPr lang="en-US" sz="1100" dirty="0"/>
          </a:p>
        </p:txBody>
      </p:sp>
      <p:sp>
        <p:nvSpPr>
          <p:cNvPr id="16" name="Text 14"/>
          <p:cNvSpPr txBox="1"/>
          <p:nvPr/>
        </p:nvSpPr>
        <p:spPr>
          <a:xfrm>
            <a:off x="4865705" y="3035808"/>
            <a:ext cx="201168" cy="274320"/>
          </a:xfrm>
          <a:prstGeom prst="rect">
            <a:avLst/>
          </a:prstGeom>
          <a:noFill/>
          <a:ln/>
        </p:spPr>
        <p:txBody>
          <a:bodyPr wrap="square" lIns="0" tIns="0" rIns="0" bIns="0" rtlCol="0" anchor="ctr"/>
          <a:lstStyle/>
          <a:p>
            <a:pPr algn="ctr" indent="0" marL="0">
              <a:buNone/>
            </a:pPr>
            <a:r>
              <a:rPr lang="en-US" sz="2000" b="1" dirty="0">
                <a:solidFill>
                  <a:srgbClr val="D97757"/>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5085161" y="1847088"/>
            <a:ext cx="2021373" cy="3200400"/>
          </a:xfrm>
          <a:prstGeom prst="roundRect">
            <a:avLst>
              <a:gd name="adj" fmla="val 4071"/>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8" name="Shape 16"/>
          <p:cNvSpPr/>
          <p:nvPr/>
        </p:nvSpPr>
        <p:spPr>
          <a:xfrm>
            <a:off x="5839816" y="2066544"/>
            <a:ext cx="512064" cy="512064"/>
          </a:xfrm>
          <a:prstGeom prst="ellipse">
            <a:avLst/>
          </a:prstGeom>
          <a:solidFill>
            <a:srgbClr val="D97757"/>
          </a:solidFill>
          <a:ln w="12700">
            <a:solidFill>
              <a:srgbClr val="D97757"/>
            </a:solidFill>
            <a:prstDash val="solid"/>
          </a:ln>
        </p:spPr>
      </p:sp>
      <p:sp>
        <p:nvSpPr>
          <p:cNvPr id="19" name="Text 17"/>
          <p:cNvSpPr txBox="1"/>
          <p:nvPr/>
        </p:nvSpPr>
        <p:spPr>
          <a:xfrm>
            <a:off x="5839816" y="206654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5231465" y="2743200"/>
            <a:ext cx="1728765" cy="274320"/>
          </a:xfrm>
          <a:prstGeom prst="rect">
            <a:avLst/>
          </a:prstGeom>
          <a:noFill/>
          <a:ln/>
        </p:spPr>
        <p:txBody>
          <a:bodyPr wrap="square" lIns="0" tIns="0" rIns="0" bIns="0" rtlCol="0" anchor="ctr"/>
          <a:lstStyle/>
          <a:p>
            <a:pPr algn="ctr" indent="0" marL="0">
              <a:buNone/>
            </a:pPr>
            <a:r>
              <a:rPr lang="en-US" sz="1450" b="1" dirty="0">
                <a:solidFill>
                  <a:srgbClr val="1C1917"/>
                </a:solidFill>
                <a:latin typeface="Calibri" pitchFamily="34" charset="0"/>
                <a:ea typeface="Calibri" pitchFamily="34" charset="-122"/>
                <a:cs typeface="Calibri" pitchFamily="34" charset="-120"/>
              </a:rPr>
              <a:t>Plan</a:t>
            </a:r>
            <a:endParaRPr lang="en-US" sz="1450" dirty="0"/>
          </a:p>
        </p:txBody>
      </p:sp>
      <p:sp>
        <p:nvSpPr>
          <p:cNvPr id="21" name="Text 19"/>
          <p:cNvSpPr txBox="1"/>
          <p:nvPr/>
        </p:nvSpPr>
        <p:spPr>
          <a:xfrm>
            <a:off x="5268041" y="3072384"/>
            <a:ext cx="1655613" cy="1773936"/>
          </a:xfrm>
          <a:prstGeom prst="rect">
            <a:avLst/>
          </a:prstGeom>
          <a:noFill/>
          <a:ln/>
        </p:spPr>
        <p:txBody>
          <a:bodyPr wrap="square" lIns="0" tIns="0" rIns="0" bIns="0" rtlCol="0" anchor="t"/>
          <a:lstStyle/>
          <a:p>
            <a:pPr indent="0" marL="0">
              <a:lnSpc>
                <a:spcPts val="1500"/>
              </a:lnSpc>
              <a:buNone/>
            </a:pPr>
            <a:r>
              <a:rPr lang="en-US" sz="1100" dirty="0">
                <a:solidFill>
                  <a:srgbClr val="6E635C"/>
                </a:solidFill>
                <a:latin typeface="Calibri" pitchFamily="34" charset="0"/>
                <a:ea typeface="Calibri" pitchFamily="34" charset="-122"/>
                <a:cs typeface="Calibri" pitchFamily="34" charset="-120"/>
              </a:rPr>
              <a:t>Shift+Tab into plan mode. Claude proposes; you approve, narrow or reject. Cheapest place to catch a wrong direction.</a:t>
            </a:r>
            <a:endParaRPr lang="en-US" sz="1100" dirty="0"/>
          </a:p>
        </p:txBody>
      </p:sp>
      <p:sp>
        <p:nvSpPr>
          <p:cNvPr id="22" name="Text 20"/>
          <p:cNvSpPr txBox="1"/>
          <p:nvPr/>
        </p:nvSpPr>
        <p:spPr>
          <a:xfrm>
            <a:off x="7124822" y="3035808"/>
            <a:ext cx="201168" cy="274320"/>
          </a:xfrm>
          <a:prstGeom prst="rect">
            <a:avLst/>
          </a:prstGeom>
          <a:noFill/>
          <a:ln/>
        </p:spPr>
        <p:txBody>
          <a:bodyPr wrap="square" lIns="0" tIns="0" rIns="0" bIns="0" rtlCol="0" anchor="ctr"/>
          <a:lstStyle/>
          <a:p>
            <a:pPr algn="ctr" indent="0" marL="0">
              <a:buNone/>
            </a:pPr>
            <a:r>
              <a:rPr lang="en-US" sz="2000" b="1" dirty="0">
                <a:solidFill>
                  <a:srgbClr val="D97757"/>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7344278" y="1847088"/>
            <a:ext cx="2021373" cy="3200400"/>
          </a:xfrm>
          <a:prstGeom prst="roundRect">
            <a:avLst>
              <a:gd name="adj" fmla="val 4071"/>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4" name="Shape 22"/>
          <p:cNvSpPr/>
          <p:nvPr/>
        </p:nvSpPr>
        <p:spPr>
          <a:xfrm>
            <a:off x="8098932" y="2066544"/>
            <a:ext cx="512064" cy="512064"/>
          </a:xfrm>
          <a:prstGeom prst="ellipse">
            <a:avLst/>
          </a:prstGeom>
          <a:solidFill>
            <a:srgbClr val="D97757"/>
          </a:solidFill>
          <a:ln w="12700">
            <a:solidFill>
              <a:srgbClr val="D97757"/>
            </a:solidFill>
            <a:prstDash val="solid"/>
          </a:ln>
        </p:spPr>
      </p:sp>
      <p:sp>
        <p:nvSpPr>
          <p:cNvPr id="25" name="Text 23"/>
          <p:cNvSpPr txBox="1"/>
          <p:nvPr/>
        </p:nvSpPr>
        <p:spPr>
          <a:xfrm>
            <a:off x="8098932" y="206654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txBox="1"/>
          <p:nvPr/>
        </p:nvSpPr>
        <p:spPr>
          <a:xfrm>
            <a:off x="7490582" y="2743200"/>
            <a:ext cx="1728765" cy="274320"/>
          </a:xfrm>
          <a:prstGeom prst="rect">
            <a:avLst/>
          </a:prstGeom>
          <a:noFill/>
          <a:ln/>
        </p:spPr>
        <p:txBody>
          <a:bodyPr wrap="square" lIns="0" tIns="0" rIns="0" bIns="0" rtlCol="0" anchor="ctr"/>
          <a:lstStyle/>
          <a:p>
            <a:pPr algn="ctr" indent="0" marL="0">
              <a:buNone/>
            </a:pPr>
            <a:r>
              <a:rPr lang="en-US" sz="1450" b="1" dirty="0">
                <a:solidFill>
                  <a:srgbClr val="1C1917"/>
                </a:solidFill>
                <a:latin typeface="Calibri" pitchFamily="34" charset="0"/>
                <a:ea typeface="Calibri" pitchFamily="34" charset="-122"/>
                <a:cs typeface="Calibri" pitchFamily="34" charset="-120"/>
              </a:rPr>
              <a:t>Build</a:t>
            </a:r>
            <a:endParaRPr lang="en-US" sz="1450" dirty="0"/>
          </a:p>
        </p:txBody>
      </p:sp>
      <p:sp>
        <p:nvSpPr>
          <p:cNvPr id="27" name="Text 25"/>
          <p:cNvSpPr txBox="1"/>
          <p:nvPr/>
        </p:nvSpPr>
        <p:spPr>
          <a:xfrm>
            <a:off x="7527158" y="3072384"/>
            <a:ext cx="1655613" cy="1773936"/>
          </a:xfrm>
          <a:prstGeom prst="rect">
            <a:avLst/>
          </a:prstGeom>
          <a:noFill/>
          <a:ln/>
        </p:spPr>
        <p:txBody>
          <a:bodyPr wrap="square" lIns="0" tIns="0" rIns="0" bIns="0" rtlCol="0" anchor="t"/>
          <a:lstStyle/>
          <a:p>
            <a:pPr indent="0" marL="0">
              <a:lnSpc>
                <a:spcPts val="1500"/>
              </a:lnSpc>
              <a:buNone/>
            </a:pPr>
            <a:r>
              <a:rPr lang="en-US" sz="1100" dirty="0">
                <a:solidFill>
                  <a:srgbClr val="6E635C"/>
                </a:solidFill>
                <a:latin typeface="Calibri" pitchFamily="34" charset="0"/>
                <a:ea typeface="Calibri" pitchFamily="34" charset="-122"/>
                <a:cs typeface="Calibri" pitchFamily="34" charset="-120"/>
              </a:rPr>
              <a:t>Small increments. One file, run it, then continue. Give verification targets as you go.</a:t>
            </a:r>
            <a:endParaRPr lang="en-US" sz="1100" dirty="0"/>
          </a:p>
        </p:txBody>
      </p:sp>
      <p:sp>
        <p:nvSpPr>
          <p:cNvPr id="28" name="Text 26"/>
          <p:cNvSpPr txBox="1"/>
          <p:nvPr/>
        </p:nvSpPr>
        <p:spPr>
          <a:xfrm>
            <a:off x="9383939" y="3035808"/>
            <a:ext cx="201168" cy="274320"/>
          </a:xfrm>
          <a:prstGeom prst="rect">
            <a:avLst/>
          </a:prstGeom>
          <a:noFill/>
          <a:ln/>
        </p:spPr>
        <p:txBody>
          <a:bodyPr wrap="square" lIns="0" tIns="0" rIns="0" bIns="0" rtlCol="0" anchor="ctr"/>
          <a:lstStyle/>
          <a:p>
            <a:pPr algn="ctr" indent="0" marL="0">
              <a:buNone/>
            </a:pPr>
            <a:r>
              <a:rPr lang="en-US" sz="2000" b="1" dirty="0">
                <a:solidFill>
                  <a:srgbClr val="D97757"/>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9603395" y="1847088"/>
            <a:ext cx="2021373" cy="3200400"/>
          </a:xfrm>
          <a:prstGeom prst="roundRect">
            <a:avLst>
              <a:gd name="adj" fmla="val 4071"/>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30" name="Shape 28"/>
          <p:cNvSpPr/>
          <p:nvPr/>
        </p:nvSpPr>
        <p:spPr>
          <a:xfrm>
            <a:off x="10358049" y="2066544"/>
            <a:ext cx="512064" cy="512064"/>
          </a:xfrm>
          <a:prstGeom prst="ellipse">
            <a:avLst/>
          </a:prstGeom>
          <a:solidFill>
            <a:srgbClr val="D97757"/>
          </a:solidFill>
          <a:ln w="12700">
            <a:solidFill>
              <a:srgbClr val="D97757"/>
            </a:solidFill>
            <a:prstDash val="solid"/>
          </a:ln>
        </p:spPr>
      </p:sp>
      <p:sp>
        <p:nvSpPr>
          <p:cNvPr id="31" name="Text 29"/>
          <p:cNvSpPr txBox="1"/>
          <p:nvPr/>
        </p:nvSpPr>
        <p:spPr>
          <a:xfrm>
            <a:off x="10358049" y="206654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2" name="Text 30"/>
          <p:cNvSpPr txBox="1"/>
          <p:nvPr/>
        </p:nvSpPr>
        <p:spPr>
          <a:xfrm>
            <a:off x="9749699" y="2743200"/>
            <a:ext cx="1728765" cy="274320"/>
          </a:xfrm>
          <a:prstGeom prst="rect">
            <a:avLst/>
          </a:prstGeom>
          <a:noFill/>
          <a:ln/>
        </p:spPr>
        <p:txBody>
          <a:bodyPr wrap="square" lIns="0" tIns="0" rIns="0" bIns="0" rtlCol="0" anchor="ctr"/>
          <a:lstStyle/>
          <a:p>
            <a:pPr algn="ctr" indent="0" marL="0">
              <a:buNone/>
            </a:pPr>
            <a:r>
              <a:rPr lang="en-US" sz="1450" b="1" dirty="0">
                <a:solidFill>
                  <a:srgbClr val="1C1917"/>
                </a:solidFill>
                <a:latin typeface="Calibri" pitchFamily="34" charset="0"/>
                <a:ea typeface="Calibri" pitchFamily="34" charset="-122"/>
                <a:cs typeface="Calibri" pitchFamily="34" charset="-120"/>
              </a:rPr>
              <a:t>Verify &amp; close</a:t>
            </a:r>
            <a:endParaRPr lang="en-US" sz="1450" dirty="0"/>
          </a:p>
        </p:txBody>
      </p:sp>
      <p:sp>
        <p:nvSpPr>
          <p:cNvPr id="33" name="Text 31"/>
          <p:cNvSpPr txBox="1"/>
          <p:nvPr/>
        </p:nvSpPr>
        <p:spPr>
          <a:xfrm>
            <a:off x="9786275" y="3072384"/>
            <a:ext cx="1655613" cy="1773936"/>
          </a:xfrm>
          <a:prstGeom prst="rect">
            <a:avLst/>
          </a:prstGeom>
          <a:noFill/>
          <a:ln/>
        </p:spPr>
        <p:txBody>
          <a:bodyPr wrap="square" lIns="0" tIns="0" rIns="0" bIns="0" rtlCol="0" anchor="t"/>
          <a:lstStyle/>
          <a:p>
            <a:pPr indent="0" marL="0">
              <a:lnSpc>
                <a:spcPts val="1500"/>
              </a:lnSpc>
              <a:buNone/>
            </a:pPr>
            <a:r>
              <a:rPr lang="en-US" sz="1100" dirty="0">
                <a:solidFill>
                  <a:srgbClr val="6E635C"/>
                </a:solidFill>
                <a:latin typeface="Calibri" pitchFamily="34" charset="0"/>
                <a:ea typeface="Calibri" pitchFamily="34" charset="-122"/>
                <a:cs typeface="Calibri" pitchFamily="34" charset="-120"/>
              </a:rPr>
              <a:t>Run the tests, read the diff yourself, commit with a real message, then /clear before the next task.</a:t>
            </a:r>
            <a:endParaRPr lang="en-US" sz="1100" dirty="0"/>
          </a:p>
        </p:txBody>
      </p:sp>
      <p:sp>
        <p:nvSpPr>
          <p:cNvPr id="34" name="Shape 32"/>
          <p:cNvSpPr/>
          <p:nvPr/>
        </p:nvSpPr>
        <p:spPr>
          <a:xfrm>
            <a:off x="566928" y="5230368"/>
            <a:ext cx="11057839" cy="969264"/>
          </a:xfrm>
          <a:prstGeom prst="roundRect">
            <a:avLst>
              <a:gd name="adj" fmla="val 8491"/>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35" name="Text 33"/>
          <p:cNvSpPr txBox="1"/>
          <p:nvPr/>
        </p:nvSpPr>
        <p:spPr>
          <a:xfrm>
            <a:off x="841248" y="5431536"/>
            <a:ext cx="2103120" cy="274320"/>
          </a:xfrm>
          <a:prstGeom prst="rect">
            <a:avLst/>
          </a:prstGeom>
          <a:noFill/>
          <a:ln/>
        </p:spPr>
        <p:txBody>
          <a:bodyPr wrap="square" lIns="0" tIns="0" rIns="0" bIns="0" rtlCol="0" anchor="ctr"/>
          <a:lstStyle/>
          <a:p>
            <a:pPr indent="0" marL="0">
              <a:buNone/>
            </a:pPr>
            <a:r>
              <a:rPr lang="en-US" sz="1350" b="1" dirty="0">
                <a:solidFill>
                  <a:srgbClr val="A64B2A"/>
                </a:solidFill>
                <a:latin typeface="Calibri" pitchFamily="34" charset="0"/>
                <a:ea typeface="Calibri" pitchFamily="34" charset="-122"/>
                <a:cs typeface="Calibri" pitchFamily="34" charset="-120"/>
              </a:rPr>
              <a:t>Never skip step 5.</a:t>
            </a:r>
            <a:endParaRPr lang="en-US" sz="1350" dirty="0"/>
          </a:p>
        </p:txBody>
      </p:sp>
      <p:sp>
        <p:nvSpPr>
          <p:cNvPr id="36" name="Text 34"/>
          <p:cNvSpPr txBox="1"/>
          <p:nvPr/>
        </p:nvSpPr>
        <p:spPr>
          <a:xfrm>
            <a:off x="3035808" y="5413248"/>
            <a:ext cx="8314639" cy="640080"/>
          </a:xfrm>
          <a:prstGeom prst="rect">
            <a:avLst/>
          </a:prstGeom>
          <a:noFill/>
          <a:ln/>
        </p:spPr>
        <p:txBody>
          <a:bodyPr wrap="square" lIns="0" tIns="0" rIns="0" bIns="0" rtlCol="0" anchor="t"/>
          <a:lstStyle/>
          <a:p>
            <a:pPr indent="0" marL="0">
              <a:lnSpc>
                <a:spcPts val="1800"/>
              </a:lnSpc>
              <a:buNone/>
            </a:pPr>
            <a:r>
              <a:rPr lang="en-US" sz="1250" dirty="0">
                <a:solidFill>
                  <a:srgbClr val="1C1917"/>
                </a:solidFill>
                <a:latin typeface="Calibri" pitchFamily="34" charset="0"/>
                <a:ea typeface="Calibri" pitchFamily="34" charset="-122"/>
                <a:cs typeface="Calibri" pitchFamily="34" charset="-120"/>
              </a:rPr>
              <a:t>Reviewing the diff is your job, not Claude's. An unread diff is an unreviewed change, however good the explanation above it looked.</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CHEAT SHEET</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The commands that actually change your day</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Ten of these cover almost everything. Type / in the session to see the full list.</a:t>
            </a:r>
            <a:endParaRPr lang="en-US" sz="1350" dirty="0"/>
          </a:p>
        </p:txBody>
      </p:sp>
      <p:sp>
        <p:nvSpPr>
          <p:cNvPr id="5" name="Shape 3"/>
          <p:cNvSpPr/>
          <p:nvPr/>
        </p:nvSpPr>
        <p:spPr>
          <a:xfrm>
            <a:off x="566928" y="1755648"/>
            <a:ext cx="5373472"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749808" y="1911096"/>
            <a:ext cx="1481328" cy="420624"/>
          </a:xfrm>
          <a:prstGeom prst="roundRect">
            <a:avLst>
              <a:gd name="adj" fmla="val 17391"/>
            </a:avLst>
          </a:prstGeom>
          <a:solidFill>
            <a:srgbClr val="1C1917"/>
          </a:solidFill>
          <a:ln w="12700">
            <a:solidFill>
              <a:srgbClr val="1C1917"/>
            </a:solidFill>
            <a:prstDash val="solid"/>
          </a:ln>
        </p:spPr>
      </p:sp>
      <p:sp>
        <p:nvSpPr>
          <p:cNvPr id="7" name="Text 5"/>
          <p:cNvSpPr txBox="1"/>
          <p:nvPr/>
        </p:nvSpPr>
        <p:spPr>
          <a:xfrm>
            <a:off x="749808" y="1911096"/>
            <a:ext cx="1481328" cy="420624"/>
          </a:xfrm>
          <a:prstGeom prst="rect">
            <a:avLst/>
          </a:prstGeom>
          <a:noFill/>
          <a:ln/>
        </p:spPr>
        <p:txBody>
          <a:bodyPr wrap="square" lIns="0" tIns="0" rIns="0" bIns="0" rtlCol="0" anchor="ctr"/>
          <a:lstStyle/>
          <a:p>
            <a:pPr algn="ctr" indent="0" marL="0">
              <a:buNone/>
            </a:pPr>
            <a:r>
              <a:rPr lang="en-US" sz="1100" b="1" dirty="0">
                <a:solidFill>
                  <a:srgbClr val="D97757"/>
                </a:solidFill>
                <a:latin typeface="Consolas" pitchFamily="34" charset="0"/>
                <a:ea typeface="Consolas" pitchFamily="34" charset="-122"/>
                <a:cs typeface="Consolas" pitchFamily="34" charset="-120"/>
              </a:rPr>
              <a:t>/clear</a:t>
            </a:r>
            <a:endParaRPr lang="en-US" sz="1100" dirty="0"/>
          </a:p>
        </p:txBody>
      </p:sp>
      <p:sp>
        <p:nvSpPr>
          <p:cNvPr id="8" name="Text 6"/>
          <p:cNvSpPr txBox="1"/>
          <p:nvPr/>
        </p:nvSpPr>
        <p:spPr>
          <a:xfrm>
            <a:off x="2359152" y="1874520"/>
            <a:ext cx="3398368" cy="493776"/>
          </a:xfrm>
          <a:prstGeom prst="rect">
            <a:avLst/>
          </a:prstGeom>
          <a:noFill/>
          <a:ln/>
        </p:spPr>
        <p:txBody>
          <a:bodyPr wrap="square" lIns="0" tIns="0" rIns="0" bIns="0" rtlCol="0" anchor="ctr"/>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Wipe context and start fresh. Free, and the single biggest saving when switching tasks.</a:t>
            </a:r>
            <a:endParaRPr lang="en-US" sz="1050" dirty="0"/>
          </a:p>
        </p:txBody>
      </p:sp>
      <p:sp>
        <p:nvSpPr>
          <p:cNvPr id="9" name="Shape 7"/>
          <p:cNvSpPr/>
          <p:nvPr/>
        </p:nvSpPr>
        <p:spPr>
          <a:xfrm>
            <a:off x="566928" y="2578608"/>
            <a:ext cx="5373472"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0" name="Shape 8"/>
          <p:cNvSpPr/>
          <p:nvPr/>
        </p:nvSpPr>
        <p:spPr>
          <a:xfrm>
            <a:off x="749808" y="2734056"/>
            <a:ext cx="1481328" cy="420624"/>
          </a:xfrm>
          <a:prstGeom prst="roundRect">
            <a:avLst>
              <a:gd name="adj" fmla="val 17391"/>
            </a:avLst>
          </a:prstGeom>
          <a:solidFill>
            <a:srgbClr val="1C1917"/>
          </a:solidFill>
          <a:ln w="12700">
            <a:solidFill>
              <a:srgbClr val="1C1917"/>
            </a:solidFill>
            <a:prstDash val="solid"/>
          </a:ln>
        </p:spPr>
      </p:sp>
      <p:sp>
        <p:nvSpPr>
          <p:cNvPr id="11" name="Text 9"/>
          <p:cNvSpPr txBox="1"/>
          <p:nvPr/>
        </p:nvSpPr>
        <p:spPr>
          <a:xfrm>
            <a:off x="749808" y="2734056"/>
            <a:ext cx="1481328" cy="420624"/>
          </a:xfrm>
          <a:prstGeom prst="rect">
            <a:avLst/>
          </a:prstGeom>
          <a:noFill/>
          <a:ln/>
        </p:spPr>
        <p:txBody>
          <a:bodyPr wrap="square" lIns="0" tIns="0" rIns="0" bIns="0" rtlCol="0" anchor="ctr"/>
          <a:lstStyle/>
          <a:p>
            <a:pPr algn="ctr" indent="0" marL="0">
              <a:buNone/>
            </a:pPr>
            <a:r>
              <a:rPr lang="en-US" sz="1100" b="1" dirty="0">
                <a:solidFill>
                  <a:srgbClr val="D97757"/>
                </a:solidFill>
                <a:latin typeface="Consolas" pitchFamily="34" charset="0"/>
                <a:ea typeface="Consolas" pitchFamily="34" charset="-122"/>
                <a:cs typeface="Consolas" pitchFamily="34" charset="-120"/>
              </a:rPr>
              <a:t>/compact</a:t>
            </a:r>
            <a:endParaRPr lang="en-US" sz="1100" dirty="0"/>
          </a:p>
        </p:txBody>
      </p:sp>
      <p:sp>
        <p:nvSpPr>
          <p:cNvPr id="12" name="Text 10"/>
          <p:cNvSpPr txBox="1"/>
          <p:nvPr/>
        </p:nvSpPr>
        <p:spPr>
          <a:xfrm>
            <a:off x="2359152" y="2697480"/>
            <a:ext cx="3398368" cy="493776"/>
          </a:xfrm>
          <a:prstGeom prst="rect">
            <a:avLst/>
          </a:prstGeom>
          <a:noFill/>
          <a:ln/>
        </p:spPr>
        <p:txBody>
          <a:bodyPr wrap="square" lIns="0" tIns="0" rIns="0" bIns="0" rtlCol="0" anchor="ctr"/>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Summarise history but keep continuity. Add focus: /compact keep the test output.</a:t>
            </a:r>
            <a:endParaRPr lang="en-US" sz="1050" dirty="0"/>
          </a:p>
        </p:txBody>
      </p:sp>
      <p:sp>
        <p:nvSpPr>
          <p:cNvPr id="13" name="Shape 11"/>
          <p:cNvSpPr/>
          <p:nvPr/>
        </p:nvSpPr>
        <p:spPr>
          <a:xfrm>
            <a:off x="566928" y="3401568"/>
            <a:ext cx="5373472"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4" name="Shape 12"/>
          <p:cNvSpPr/>
          <p:nvPr/>
        </p:nvSpPr>
        <p:spPr>
          <a:xfrm>
            <a:off x="749808" y="3557016"/>
            <a:ext cx="1481328" cy="420624"/>
          </a:xfrm>
          <a:prstGeom prst="roundRect">
            <a:avLst>
              <a:gd name="adj" fmla="val 17391"/>
            </a:avLst>
          </a:prstGeom>
          <a:solidFill>
            <a:srgbClr val="1C1917"/>
          </a:solidFill>
          <a:ln w="12700">
            <a:solidFill>
              <a:srgbClr val="1C1917"/>
            </a:solidFill>
            <a:prstDash val="solid"/>
          </a:ln>
        </p:spPr>
      </p:sp>
      <p:sp>
        <p:nvSpPr>
          <p:cNvPr id="15" name="Text 13"/>
          <p:cNvSpPr txBox="1"/>
          <p:nvPr/>
        </p:nvSpPr>
        <p:spPr>
          <a:xfrm>
            <a:off x="749808" y="3557016"/>
            <a:ext cx="1481328" cy="420624"/>
          </a:xfrm>
          <a:prstGeom prst="rect">
            <a:avLst/>
          </a:prstGeom>
          <a:noFill/>
          <a:ln/>
        </p:spPr>
        <p:txBody>
          <a:bodyPr wrap="square" lIns="0" tIns="0" rIns="0" bIns="0" rtlCol="0" anchor="ctr"/>
          <a:lstStyle/>
          <a:p>
            <a:pPr algn="ctr" indent="0" marL="0">
              <a:buNone/>
            </a:pPr>
            <a:r>
              <a:rPr lang="en-US" sz="1100" b="1" dirty="0">
                <a:solidFill>
                  <a:srgbClr val="D97757"/>
                </a:solidFill>
                <a:latin typeface="Consolas" pitchFamily="34" charset="0"/>
                <a:ea typeface="Consolas" pitchFamily="34" charset="-122"/>
                <a:cs typeface="Consolas" pitchFamily="34" charset="-120"/>
              </a:rPr>
              <a:t>/context</a:t>
            </a:r>
            <a:endParaRPr lang="en-US" sz="1100" dirty="0"/>
          </a:p>
        </p:txBody>
      </p:sp>
      <p:sp>
        <p:nvSpPr>
          <p:cNvPr id="16" name="Text 14"/>
          <p:cNvSpPr txBox="1"/>
          <p:nvPr/>
        </p:nvSpPr>
        <p:spPr>
          <a:xfrm>
            <a:off x="2359152" y="3520440"/>
            <a:ext cx="3398368" cy="493776"/>
          </a:xfrm>
          <a:prstGeom prst="rect">
            <a:avLst/>
          </a:prstGeom>
          <a:noFill/>
          <a:ln/>
        </p:spPr>
        <p:txBody>
          <a:bodyPr wrap="square" lIns="0" tIns="0" rIns="0" bIns="0" rtlCol="0" anchor="ctr"/>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See exactly what is occupying the window right now.</a:t>
            </a:r>
            <a:endParaRPr lang="en-US" sz="1050" dirty="0"/>
          </a:p>
        </p:txBody>
      </p:sp>
      <p:sp>
        <p:nvSpPr>
          <p:cNvPr id="17" name="Shape 15"/>
          <p:cNvSpPr/>
          <p:nvPr/>
        </p:nvSpPr>
        <p:spPr>
          <a:xfrm>
            <a:off x="566928" y="4224528"/>
            <a:ext cx="5373472"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8" name="Shape 16"/>
          <p:cNvSpPr/>
          <p:nvPr/>
        </p:nvSpPr>
        <p:spPr>
          <a:xfrm>
            <a:off x="749808" y="4379976"/>
            <a:ext cx="1481328" cy="420624"/>
          </a:xfrm>
          <a:prstGeom prst="roundRect">
            <a:avLst>
              <a:gd name="adj" fmla="val 17391"/>
            </a:avLst>
          </a:prstGeom>
          <a:solidFill>
            <a:srgbClr val="1C1917"/>
          </a:solidFill>
          <a:ln w="12700">
            <a:solidFill>
              <a:srgbClr val="1C1917"/>
            </a:solidFill>
            <a:prstDash val="solid"/>
          </a:ln>
        </p:spPr>
      </p:sp>
      <p:sp>
        <p:nvSpPr>
          <p:cNvPr id="19" name="Text 17"/>
          <p:cNvSpPr txBox="1"/>
          <p:nvPr/>
        </p:nvSpPr>
        <p:spPr>
          <a:xfrm>
            <a:off x="749808" y="4379976"/>
            <a:ext cx="1481328" cy="420624"/>
          </a:xfrm>
          <a:prstGeom prst="rect">
            <a:avLst/>
          </a:prstGeom>
          <a:noFill/>
          <a:ln/>
        </p:spPr>
        <p:txBody>
          <a:bodyPr wrap="square" lIns="0" tIns="0" rIns="0" bIns="0" rtlCol="0" anchor="ctr"/>
          <a:lstStyle/>
          <a:p>
            <a:pPr algn="ctr" indent="0" marL="0">
              <a:buNone/>
            </a:pPr>
            <a:r>
              <a:rPr lang="en-US" sz="1100" b="1" dirty="0">
                <a:solidFill>
                  <a:srgbClr val="D97757"/>
                </a:solidFill>
                <a:latin typeface="Consolas" pitchFamily="34" charset="0"/>
                <a:ea typeface="Consolas" pitchFamily="34" charset="-122"/>
                <a:cs typeface="Consolas" pitchFamily="34" charset="-120"/>
              </a:rPr>
              <a:t>/usage</a:t>
            </a:r>
            <a:endParaRPr lang="en-US" sz="1100" dirty="0"/>
          </a:p>
        </p:txBody>
      </p:sp>
      <p:sp>
        <p:nvSpPr>
          <p:cNvPr id="20" name="Text 18"/>
          <p:cNvSpPr txBox="1"/>
          <p:nvPr/>
        </p:nvSpPr>
        <p:spPr>
          <a:xfrm>
            <a:off x="2359152" y="4343400"/>
            <a:ext cx="3398368" cy="493776"/>
          </a:xfrm>
          <a:prstGeom prst="rect">
            <a:avLst/>
          </a:prstGeom>
          <a:noFill/>
          <a:ln/>
        </p:spPr>
        <p:txBody>
          <a:bodyPr wrap="square" lIns="0" tIns="0" rIns="0" bIns="0" rtlCol="0" anchor="ctr"/>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Plan bars, activity, and attribution by skill, subagent and MCP server.</a:t>
            </a:r>
            <a:endParaRPr lang="en-US" sz="1050" dirty="0"/>
          </a:p>
        </p:txBody>
      </p:sp>
      <p:sp>
        <p:nvSpPr>
          <p:cNvPr id="21" name="Shape 19"/>
          <p:cNvSpPr/>
          <p:nvPr/>
        </p:nvSpPr>
        <p:spPr>
          <a:xfrm>
            <a:off x="566928" y="5047488"/>
            <a:ext cx="5373472"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2" name="Shape 20"/>
          <p:cNvSpPr/>
          <p:nvPr/>
        </p:nvSpPr>
        <p:spPr>
          <a:xfrm>
            <a:off x="749808" y="5202936"/>
            <a:ext cx="1481328" cy="420624"/>
          </a:xfrm>
          <a:prstGeom prst="roundRect">
            <a:avLst>
              <a:gd name="adj" fmla="val 17391"/>
            </a:avLst>
          </a:prstGeom>
          <a:solidFill>
            <a:srgbClr val="1C1917"/>
          </a:solidFill>
          <a:ln w="12700">
            <a:solidFill>
              <a:srgbClr val="1C1917"/>
            </a:solidFill>
            <a:prstDash val="solid"/>
          </a:ln>
        </p:spPr>
      </p:sp>
      <p:sp>
        <p:nvSpPr>
          <p:cNvPr id="23" name="Text 21"/>
          <p:cNvSpPr txBox="1"/>
          <p:nvPr/>
        </p:nvSpPr>
        <p:spPr>
          <a:xfrm>
            <a:off x="749808" y="5202936"/>
            <a:ext cx="1481328" cy="420624"/>
          </a:xfrm>
          <a:prstGeom prst="rect">
            <a:avLst/>
          </a:prstGeom>
          <a:noFill/>
          <a:ln/>
        </p:spPr>
        <p:txBody>
          <a:bodyPr wrap="square" lIns="0" tIns="0" rIns="0" bIns="0" rtlCol="0" anchor="ctr"/>
          <a:lstStyle/>
          <a:p>
            <a:pPr algn="ctr" indent="0" marL="0">
              <a:buNone/>
            </a:pPr>
            <a:r>
              <a:rPr lang="en-US" sz="1100" b="1" dirty="0">
                <a:solidFill>
                  <a:srgbClr val="D97757"/>
                </a:solidFill>
                <a:latin typeface="Consolas" pitchFamily="34" charset="0"/>
                <a:ea typeface="Consolas" pitchFamily="34" charset="-122"/>
                <a:cs typeface="Consolas" pitchFamily="34" charset="-120"/>
              </a:rPr>
              <a:t>/model</a:t>
            </a:r>
            <a:endParaRPr lang="en-US" sz="1100" dirty="0"/>
          </a:p>
        </p:txBody>
      </p:sp>
      <p:sp>
        <p:nvSpPr>
          <p:cNvPr id="24" name="Text 22"/>
          <p:cNvSpPr txBox="1"/>
          <p:nvPr/>
        </p:nvSpPr>
        <p:spPr>
          <a:xfrm>
            <a:off x="2359152" y="5166360"/>
            <a:ext cx="3398368" cy="493776"/>
          </a:xfrm>
          <a:prstGeom prst="rect">
            <a:avLst/>
          </a:prstGeom>
          <a:noFill/>
          <a:ln/>
        </p:spPr>
        <p:txBody>
          <a:bodyPr wrap="square" lIns="0" tIns="0" rIns="0" bIns="0" rtlCol="0" anchor="ctr"/>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Switch model mid-session — sonnet, opus, opusplan, or opus[1m].</a:t>
            </a:r>
            <a:endParaRPr lang="en-US" sz="1050" dirty="0"/>
          </a:p>
        </p:txBody>
      </p:sp>
      <p:sp>
        <p:nvSpPr>
          <p:cNvPr id="25" name="Shape 23"/>
          <p:cNvSpPr/>
          <p:nvPr/>
        </p:nvSpPr>
        <p:spPr>
          <a:xfrm>
            <a:off x="6251296" y="1755648"/>
            <a:ext cx="5373472"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6" name="Shape 24"/>
          <p:cNvSpPr/>
          <p:nvPr/>
        </p:nvSpPr>
        <p:spPr>
          <a:xfrm>
            <a:off x="6434176" y="1911096"/>
            <a:ext cx="1481328" cy="420624"/>
          </a:xfrm>
          <a:prstGeom prst="roundRect">
            <a:avLst>
              <a:gd name="adj" fmla="val 17391"/>
            </a:avLst>
          </a:prstGeom>
          <a:solidFill>
            <a:srgbClr val="1C1917"/>
          </a:solidFill>
          <a:ln w="12700">
            <a:solidFill>
              <a:srgbClr val="1C1917"/>
            </a:solidFill>
            <a:prstDash val="solid"/>
          </a:ln>
        </p:spPr>
      </p:sp>
      <p:sp>
        <p:nvSpPr>
          <p:cNvPr id="27" name="Text 25"/>
          <p:cNvSpPr txBox="1"/>
          <p:nvPr/>
        </p:nvSpPr>
        <p:spPr>
          <a:xfrm>
            <a:off x="6434176" y="1911096"/>
            <a:ext cx="1481328" cy="420624"/>
          </a:xfrm>
          <a:prstGeom prst="rect">
            <a:avLst/>
          </a:prstGeom>
          <a:noFill/>
          <a:ln/>
        </p:spPr>
        <p:txBody>
          <a:bodyPr wrap="square" lIns="0" tIns="0" rIns="0" bIns="0" rtlCol="0" anchor="ctr"/>
          <a:lstStyle/>
          <a:p>
            <a:pPr algn="ctr" indent="0" marL="0">
              <a:buNone/>
            </a:pPr>
            <a:r>
              <a:rPr lang="en-US" sz="1100" b="1" dirty="0">
                <a:solidFill>
                  <a:srgbClr val="D97757"/>
                </a:solidFill>
                <a:latin typeface="Consolas" pitchFamily="34" charset="0"/>
                <a:ea typeface="Consolas" pitchFamily="34" charset="-122"/>
                <a:cs typeface="Consolas" pitchFamily="34" charset="-120"/>
              </a:rPr>
              <a:t>/effort</a:t>
            </a:r>
            <a:endParaRPr lang="en-US" sz="1100" dirty="0"/>
          </a:p>
        </p:txBody>
      </p:sp>
      <p:sp>
        <p:nvSpPr>
          <p:cNvPr id="28" name="Text 26"/>
          <p:cNvSpPr txBox="1"/>
          <p:nvPr/>
        </p:nvSpPr>
        <p:spPr>
          <a:xfrm>
            <a:off x="8043520" y="1874520"/>
            <a:ext cx="3398368" cy="493776"/>
          </a:xfrm>
          <a:prstGeom prst="rect">
            <a:avLst/>
          </a:prstGeom>
          <a:noFill/>
          <a:ln/>
        </p:spPr>
        <p:txBody>
          <a:bodyPr wrap="square" lIns="0" tIns="0" rIns="0" bIns="0" rtlCol="0" anchor="ctr"/>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Dial reasoning depth: low, medium, high, xhigh, max. Lower it for routine edits.</a:t>
            </a:r>
            <a:endParaRPr lang="en-US" sz="1050" dirty="0"/>
          </a:p>
        </p:txBody>
      </p:sp>
      <p:sp>
        <p:nvSpPr>
          <p:cNvPr id="29" name="Shape 27"/>
          <p:cNvSpPr/>
          <p:nvPr/>
        </p:nvSpPr>
        <p:spPr>
          <a:xfrm>
            <a:off x="6251296" y="2578608"/>
            <a:ext cx="5373472"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30" name="Shape 28"/>
          <p:cNvSpPr/>
          <p:nvPr/>
        </p:nvSpPr>
        <p:spPr>
          <a:xfrm>
            <a:off x="6434176" y="2734056"/>
            <a:ext cx="1481328" cy="420624"/>
          </a:xfrm>
          <a:prstGeom prst="roundRect">
            <a:avLst>
              <a:gd name="adj" fmla="val 17391"/>
            </a:avLst>
          </a:prstGeom>
          <a:solidFill>
            <a:srgbClr val="1C1917"/>
          </a:solidFill>
          <a:ln w="12700">
            <a:solidFill>
              <a:srgbClr val="1C1917"/>
            </a:solidFill>
            <a:prstDash val="solid"/>
          </a:ln>
        </p:spPr>
      </p:sp>
      <p:sp>
        <p:nvSpPr>
          <p:cNvPr id="31" name="Text 29"/>
          <p:cNvSpPr txBox="1"/>
          <p:nvPr/>
        </p:nvSpPr>
        <p:spPr>
          <a:xfrm>
            <a:off x="6434176" y="2734056"/>
            <a:ext cx="1481328" cy="420624"/>
          </a:xfrm>
          <a:prstGeom prst="rect">
            <a:avLst/>
          </a:prstGeom>
          <a:noFill/>
          <a:ln/>
        </p:spPr>
        <p:txBody>
          <a:bodyPr wrap="square" lIns="0" tIns="0" rIns="0" bIns="0" rtlCol="0" anchor="ctr"/>
          <a:lstStyle/>
          <a:p>
            <a:pPr algn="ctr" indent="0" marL="0">
              <a:buNone/>
            </a:pPr>
            <a:r>
              <a:rPr lang="en-US" sz="1100" b="1" dirty="0">
                <a:solidFill>
                  <a:srgbClr val="D97757"/>
                </a:solidFill>
                <a:latin typeface="Consolas" pitchFamily="34" charset="0"/>
                <a:ea typeface="Consolas" pitchFamily="34" charset="-122"/>
                <a:cs typeface="Consolas" pitchFamily="34" charset="-120"/>
              </a:rPr>
              <a:t>/rewind</a:t>
            </a:r>
            <a:endParaRPr lang="en-US" sz="1100" dirty="0"/>
          </a:p>
        </p:txBody>
      </p:sp>
      <p:sp>
        <p:nvSpPr>
          <p:cNvPr id="32" name="Text 30"/>
          <p:cNvSpPr txBox="1"/>
          <p:nvPr/>
        </p:nvSpPr>
        <p:spPr>
          <a:xfrm>
            <a:off x="8043520" y="2697480"/>
            <a:ext cx="3398368" cy="493776"/>
          </a:xfrm>
          <a:prstGeom prst="rect">
            <a:avLst/>
          </a:prstGeom>
          <a:noFill/>
          <a:ln/>
        </p:spPr>
        <p:txBody>
          <a:bodyPr wrap="square" lIns="0" tIns="0" rIns="0" bIns="0" rtlCol="0" anchor="ctr"/>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Roll conversation and files back to an earlier checkpoint after a wrong turn.</a:t>
            </a:r>
            <a:endParaRPr lang="en-US" sz="1050" dirty="0"/>
          </a:p>
        </p:txBody>
      </p:sp>
      <p:sp>
        <p:nvSpPr>
          <p:cNvPr id="33" name="Shape 31"/>
          <p:cNvSpPr/>
          <p:nvPr/>
        </p:nvSpPr>
        <p:spPr>
          <a:xfrm>
            <a:off x="6251296" y="3401568"/>
            <a:ext cx="5373472"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34" name="Shape 32"/>
          <p:cNvSpPr/>
          <p:nvPr/>
        </p:nvSpPr>
        <p:spPr>
          <a:xfrm>
            <a:off x="6434176" y="3557016"/>
            <a:ext cx="1481328" cy="420624"/>
          </a:xfrm>
          <a:prstGeom prst="roundRect">
            <a:avLst>
              <a:gd name="adj" fmla="val 17391"/>
            </a:avLst>
          </a:prstGeom>
          <a:solidFill>
            <a:srgbClr val="1C1917"/>
          </a:solidFill>
          <a:ln w="12700">
            <a:solidFill>
              <a:srgbClr val="1C1917"/>
            </a:solidFill>
            <a:prstDash val="solid"/>
          </a:ln>
        </p:spPr>
      </p:sp>
      <p:sp>
        <p:nvSpPr>
          <p:cNvPr id="35" name="Text 33"/>
          <p:cNvSpPr txBox="1"/>
          <p:nvPr/>
        </p:nvSpPr>
        <p:spPr>
          <a:xfrm>
            <a:off x="6434176" y="3557016"/>
            <a:ext cx="1481328" cy="420624"/>
          </a:xfrm>
          <a:prstGeom prst="rect">
            <a:avLst/>
          </a:prstGeom>
          <a:noFill/>
          <a:ln/>
        </p:spPr>
        <p:txBody>
          <a:bodyPr wrap="square" lIns="0" tIns="0" rIns="0" bIns="0" rtlCol="0" anchor="ctr"/>
          <a:lstStyle/>
          <a:p>
            <a:pPr algn="ctr" indent="0" marL="0">
              <a:buNone/>
            </a:pPr>
            <a:r>
              <a:rPr lang="en-US" sz="1100" b="1" dirty="0">
                <a:solidFill>
                  <a:srgbClr val="D97757"/>
                </a:solidFill>
                <a:latin typeface="Consolas" pitchFamily="34" charset="0"/>
                <a:ea typeface="Consolas" pitchFamily="34" charset="-122"/>
                <a:cs typeface="Consolas" pitchFamily="34" charset="-120"/>
              </a:rPr>
              <a:t>/rename</a:t>
            </a:r>
            <a:endParaRPr lang="en-US" sz="1100" dirty="0"/>
          </a:p>
        </p:txBody>
      </p:sp>
      <p:sp>
        <p:nvSpPr>
          <p:cNvPr id="36" name="Text 34"/>
          <p:cNvSpPr txBox="1"/>
          <p:nvPr/>
        </p:nvSpPr>
        <p:spPr>
          <a:xfrm>
            <a:off x="8043520" y="3520440"/>
            <a:ext cx="3398368" cy="493776"/>
          </a:xfrm>
          <a:prstGeom prst="rect">
            <a:avLst/>
          </a:prstGeom>
          <a:noFill/>
          <a:ln/>
        </p:spPr>
        <p:txBody>
          <a:bodyPr wrap="square" lIns="0" tIns="0" rIns="0" bIns="0" rtlCol="0" anchor="ctr"/>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Name a session before clearing it, then /resume it later.</a:t>
            </a:r>
            <a:endParaRPr lang="en-US" sz="1050" dirty="0"/>
          </a:p>
        </p:txBody>
      </p:sp>
      <p:sp>
        <p:nvSpPr>
          <p:cNvPr id="37" name="Shape 35"/>
          <p:cNvSpPr/>
          <p:nvPr/>
        </p:nvSpPr>
        <p:spPr>
          <a:xfrm>
            <a:off x="6251296" y="4224528"/>
            <a:ext cx="5373472"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38" name="Shape 36"/>
          <p:cNvSpPr/>
          <p:nvPr/>
        </p:nvSpPr>
        <p:spPr>
          <a:xfrm>
            <a:off x="6434176" y="4379976"/>
            <a:ext cx="1481328" cy="420624"/>
          </a:xfrm>
          <a:prstGeom prst="roundRect">
            <a:avLst>
              <a:gd name="adj" fmla="val 17391"/>
            </a:avLst>
          </a:prstGeom>
          <a:solidFill>
            <a:srgbClr val="1C1917"/>
          </a:solidFill>
          <a:ln w="12700">
            <a:solidFill>
              <a:srgbClr val="1C1917"/>
            </a:solidFill>
            <a:prstDash val="solid"/>
          </a:ln>
        </p:spPr>
      </p:sp>
      <p:sp>
        <p:nvSpPr>
          <p:cNvPr id="39" name="Text 37"/>
          <p:cNvSpPr txBox="1"/>
          <p:nvPr/>
        </p:nvSpPr>
        <p:spPr>
          <a:xfrm>
            <a:off x="6434176" y="4379976"/>
            <a:ext cx="1481328" cy="420624"/>
          </a:xfrm>
          <a:prstGeom prst="rect">
            <a:avLst/>
          </a:prstGeom>
          <a:noFill/>
          <a:ln/>
        </p:spPr>
        <p:txBody>
          <a:bodyPr wrap="square" lIns="0" tIns="0" rIns="0" bIns="0" rtlCol="0" anchor="ctr"/>
          <a:lstStyle/>
          <a:p>
            <a:pPr algn="ctr" indent="0" marL="0">
              <a:buNone/>
            </a:pPr>
            <a:r>
              <a:rPr lang="en-US" sz="1100" b="1" dirty="0">
                <a:solidFill>
                  <a:srgbClr val="D97757"/>
                </a:solidFill>
                <a:latin typeface="Consolas" pitchFamily="34" charset="0"/>
                <a:ea typeface="Consolas" pitchFamily="34" charset="-122"/>
                <a:cs typeface="Consolas" pitchFamily="34" charset="-120"/>
              </a:rPr>
              <a:t>/mcp</a:t>
            </a:r>
            <a:endParaRPr lang="en-US" sz="1100" dirty="0"/>
          </a:p>
        </p:txBody>
      </p:sp>
      <p:sp>
        <p:nvSpPr>
          <p:cNvPr id="40" name="Text 38"/>
          <p:cNvSpPr txBox="1"/>
          <p:nvPr/>
        </p:nvSpPr>
        <p:spPr>
          <a:xfrm>
            <a:off x="8043520" y="4343400"/>
            <a:ext cx="3398368" cy="493776"/>
          </a:xfrm>
          <a:prstGeom prst="rect">
            <a:avLst/>
          </a:prstGeom>
          <a:noFill/>
          <a:ln/>
        </p:spPr>
        <p:txBody>
          <a:bodyPr wrap="square" lIns="0" tIns="0" rIns="0" bIns="0" rtlCol="0" anchor="ctr"/>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List connected servers and switch off the ones this task does not need.</a:t>
            </a:r>
            <a:endParaRPr lang="en-US" sz="1050" dirty="0"/>
          </a:p>
        </p:txBody>
      </p:sp>
      <p:sp>
        <p:nvSpPr>
          <p:cNvPr id="41" name="Shape 39"/>
          <p:cNvSpPr/>
          <p:nvPr/>
        </p:nvSpPr>
        <p:spPr>
          <a:xfrm>
            <a:off x="6251296" y="5047488"/>
            <a:ext cx="5373472"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42" name="Shape 40"/>
          <p:cNvSpPr/>
          <p:nvPr/>
        </p:nvSpPr>
        <p:spPr>
          <a:xfrm>
            <a:off x="6434176" y="5202936"/>
            <a:ext cx="1481328" cy="420624"/>
          </a:xfrm>
          <a:prstGeom prst="roundRect">
            <a:avLst>
              <a:gd name="adj" fmla="val 17391"/>
            </a:avLst>
          </a:prstGeom>
          <a:solidFill>
            <a:srgbClr val="1C1917"/>
          </a:solidFill>
          <a:ln w="12700">
            <a:solidFill>
              <a:srgbClr val="1C1917"/>
            </a:solidFill>
            <a:prstDash val="solid"/>
          </a:ln>
        </p:spPr>
      </p:sp>
      <p:sp>
        <p:nvSpPr>
          <p:cNvPr id="43" name="Text 41"/>
          <p:cNvSpPr txBox="1"/>
          <p:nvPr/>
        </p:nvSpPr>
        <p:spPr>
          <a:xfrm>
            <a:off x="6434176" y="5202936"/>
            <a:ext cx="1481328" cy="420624"/>
          </a:xfrm>
          <a:prstGeom prst="rect">
            <a:avLst/>
          </a:prstGeom>
          <a:noFill/>
          <a:ln/>
        </p:spPr>
        <p:txBody>
          <a:bodyPr wrap="square" lIns="0" tIns="0" rIns="0" bIns="0" rtlCol="0" anchor="ctr"/>
          <a:lstStyle/>
          <a:p>
            <a:pPr algn="ctr" indent="0" marL="0">
              <a:buNone/>
            </a:pPr>
            <a:r>
              <a:rPr lang="en-US" sz="1100" b="1" dirty="0">
                <a:solidFill>
                  <a:srgbClr val="D97757"/>
                </a:solidFill>
                <a:latin typeface="Consolas" pitchFamily="34" charset="0"/>
                <a:ea typeface="Consolas" pitchFamily="34" charset="-122"/>
                <a:cs typeface="Consolas" pitchFamily="34" charset="-120"/>
              </a:rPr>
              <a:t>Shift+Tab</a:t>
            </a:r>
            <a:endParaRPr lang="en-US" sz="1100" dirty="0"/>
          </a:p>
        </p:txBody>
      </p:sp>
      <p:sp>
        <p:nvSpPr>
          <p:cNvPr id="44" name="Text 42"/>
          <p:cNvSpPr txBox="1"/>
          <p:nvPr/>
        </p:nvSpPr>
        <p:spPr>
          <a:xfrm>
            <a:off x="8043520" y="5166360"/>
            <a:ext cx="3398368" cy="493776"/>
          </a:xfrm>
          <a:prstGeom prst="rect">
            <a:avLst/>
          </a:prstGeom>
          <a:noFill/>
          <a:ln/>
        </p:spPr>
        <p:txBody>
          <a:bodyPr wrap="square" lIns="0" tIns="0" rIns="0" bIns="0" rtlCol="0" anchor="ctr"/>
          <a:lstStyle/>
          <a:p>
            <a:pPr indent="0" marL="0">
              <a:lnSpc>
                <a:spcPts val="1350"/>
              </a:lnSpc>
              <a:buNone/>
            </a:pPr>
            <a:r>
              <a:rPr lang="en-US" sz="1050" dirty="0">
                <a:solidFill>
                  <a:srgbClr val="6E635C"/>
                </a:solidFill>
                <a:latin typeface="Calibri" pitchFamily="34" charset="0"/>
                <a:ea typeface="Calibri" pitchFamily="34" charset="-122"/>
                <a:cs typeface="Calibri" pitchFamily="34" charset="-120"/>
              </a:rPr>
              <a:t>Cycle permission modes, including plan mode. Escape stops a run instantly.</a:t>
            </a:r>
            <a:endParaRPr lang="en-US" sz="1050" dirty="0"/>
          </a:p>
        </p:txBody>
      </p:sp>
      <p:sp>
        <p:nvSpPr>
          <p:cNvPr id="45" name="Shape 43"/>
          <p:cNvSpPr/>
          <p:nvPr/>
        </p:nvSpPr>
        <p:spPr>
          <a:xfrm>
            <a:off x="566928" y="5888736"/>
            <a:ext cx="11057839" cy="512064"/>
          </a:xfrm>
          <a:prstGeom prst="roundRect">
            <a:avLst>
              <a:gd name="adj" fmla="val 16071"/>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46" name="Text 44"/>
          <p:cNvSpPr txBox="1"/>
          <p:nvPr/>
        </p:nvSpPr>
        <p:spPr>
          <a:xfrm>
            <a:off x="841248" y="5998464"/>
            <a:ext cx="10509199" cy="329184"/>
          </a:xfrm>
          <a:prstGeom prst="rect">
            <a:avLst/>
          </a:prstGeom>
          <a:noFill/>
          <a:ln/>
        </p:spPr>
        <p:txBody>
          <a:bodyPr wrap="square" lIns="0" tIns="0" rIns="0" bIns="0" rtlCol="0" anchor="t"/>
          <a:lstStyle/>
          <a:p>
            <a:pPr indent="0" marL="0">
              <a:lnSpc>
                <a:spcPts val="1900"/>
              </a:lnSpc>
              <a:buNone/>
            </a:pPr>
            <a:r>
              <a:rPr lang="en-US" sz="1200" dirty="0">
                <a:solidFill>
                  <a:srgbClr val="1C1917"/>
                </a:solidFill>
                <a:latin typeface="Calibri" pitchFamily="34" charset="0"/>
                <a:ea typeface="Calibri" pitchFamily="34" charset="-122"/>
                <a:cs typeface="Calibri" pitchFamily="34" charset="-120"/>
              </a:rPr>
              <a:t>Worth trying once: /insights writes an HTML report on how you actually work — where requests get misunderstood, where you lose time.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SET-UP THAT PAYS EVERY SESSION</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Tell Claude what it cannot infer</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Loaded automatically at session start. Run /init once and then keep it tight.</a:t>
            </a:r>
            <a:endParaRPr lang="en-US" sz="1350" dirty="0"/>
          </a:p>
        </p:txBody>
      </p:sp>
      <p:sp>
        <p:nvSpPr>
          <p:cNvPr id="5" name="Text 3"/>
          <p:cNvSpPr txBox="1"/>
          <p:nvPr/>
        </p:nvSpPr>
        <p:spPr>
          <a:xfrm>
            <a:off x="566928" y="1828800"/>
            <a:ext cx="5989320" cy="274320"/>
          </a:xfrm>
          <a:prstGeom prst="rect">
            <a:avLst/>
          </a:prstGeom>
          <a:noFill/>
          <a:ln/>
        </p:spPr>
        <p:txBody>
          <a:bodyPr wrap="square" lIns="0" tIns="0" rIns="0" bIns="0" rtlCol="0" anchor="ctr"/>
          <a:lstStyle/>
          <a:p>
            <a:pPr indent="0" marL="0">
              <a:buNone/>
            </a:pPr>
            <a:r>
              <a:rPr lang="en-US" sz="1400" b="1" dirty="0">
                <a:solidFill>
                  <a:srgbClr val="1C1917"/>
                </a:solidFill>
                <a:latin typeface="Calibri" pitchFamily="34" charset="0"/>
                <a:ea typeface="Calibri" pitchFamily="34" charset="-122"/>
                <a:cs typeface="Calibri" pitchFamily="34" charset="-120"/>
              </a:rPr>
              <a:t>What belongs in it</a:t>
            </a:r>
            <a:endParaRPr lang="en-US" sz="1400" dirty="0"/>
          </a:p>
        </p:txBody>
      </p:sp>
      <p:sp>
        <p:nvSpPr>
          <p:cNvPr id="6" name="Text 4"/>
          <p:cNvSpPr txBox="1"/>
          <p:nvPr/>
        </p:nvSpPr>
        <p:spPr>
          <a:xfrm>
            <a:off x="566928" y="2176272"/>
            <a:ext cx="5989320" cy="173736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250" dirty="0">
                <a:solidFill>
                  <a:srgbClr val="6E635C"/>
                </a:solidFill>
                <a:latin typeface="Calibri" pitchFamily="34" charset="0"/>
                <a:ea typeface="Calibri" pitchFamily="34" charset="-122"/>
                <a:cs typeface="Calibri" pitchFamily="34" charset="-120"/>
              </a:rPr>
              <a:t>How to run, build and test — the exact commands</a:t>
            </a:r>
            <a:endParaRPr lang="en-US" sz="1250" dirty="0"/>
          </a:p>
          <a:p>
            <a:pPr marL="342900" indent="-342900">
              <a:lnSpc>
                <a:spcPts val="1800"/>
              </a:lnSpc>
              <a:spcAft>
                <a:spcPts val="1000"/>
              </a:spcAft>
              <a:buSzPct val="100000"/>
              <a:buChar char="•"/>
            </a:pPr>
            <a:r>
              <a:rPr lang="en-US" sz="1250" dirty="0">
                <a:solidFill>
                  <a:srgbClr val="6E635C"/>
                </a:solidFill>
                <a:latin typeface="Calibri" pitchFamily="34" charset="0"/>
                <a:ea typeface="Calibri" pitchFamily="34" charset="-122"/>
                <a:cs typeface="Calibri" pitchFamily="34" charset="-120"/>
              </a:rPr>
              <a:t>Architecture in three lines: layers, state management, navigation</a:t>
            </a:r>
            <a:endParaRPr lang="en-US" sz="1250" dirty="0"/>
          </a:p>
          <a:p>
            <a:pPr marL="342900" indent="-342900">
              <a:lnSpc>
                <a:spcPts val="1800"/>
              </a:lnSpc>
              <a:spcAft>
                <a:spcPts val="1000"/>
              </a:spcAft>
              <a:buSzPct val="100000"/>
              <a:buChar char="•"/>
            </a:pPr>
            <a:r>
              <a:rPr lang="en-US" sz="1250" dirty="0">
                <a:solidFill>
                  <a:srgbClr val="6E635C"/>
                </a:solidFill>
                <a:latin typeface="Calibri" pitchFamily="34" charset="0"/>
                <a:ea typeface="Calibri" pitchFamily="34" charset="-122"/>
                <a:cs typeface="Calibri" pitchFamily="34" charset="-120"/>
              </a:rPr>
              <a:t>Conventions you actually enforce, not aspirations</a:t>
            </a:r>
            <a:endParaRPr lang="en-US" sz="1250" dirty="0"/>
          </a:p>
          <a:p>
            <a:pPr marL="342900" indent="-342900">
              <a:lnSpc>
                <a:spcPts val="1800"/>
              </a:lnSpc>
              <a:spcAft>
                <a:spcPts val="1000"/>
              </a:spcAft>
              <a:buSzPct val="100000"/>
              <a:buChar char="•"/>
            </a:pPr>
            <a:r>
              <a:rPr lang="en-US" sz="1250" dirty="0">
                <a:solidFill>
                  <a:srgbClr val="6E635C"/>
                </a:solidFill>
                <a:latin typeface="Calibri" pitchFamily="34" charset="0"/>
                <a:ea typeface="Calibri" pitchFamily="34" charset="-122"/>
                <a:cs typeface="Calibri" pitchFamily="34" charset="-120"/>
              </a:rPr>
              <a:t>Things that must never change without asking</a:t>
            </a:r>
            <a:endParaRPr lang="en-US" sz="1250" dirty="0"/>
          </a:p>
          <a:p>
            <a:pPr marL="342900" indent="-342900">
              <a:lnSpc>
                <a:spcPts val="1800"/>
              </a:lnSpc>
              <a:spcAft>
                <a:spcPts val="1000"/>
              </a:spcAft>
              <a:buSzPct val="100000"/>
              <a:buChar char="•"/>
            </a:pPr>
            <a:r>
              <a:rPr lang="en-US" sz="1250" dirty="0">
                <a:solidFill>
                  <a:srgbClr val="6E635C"/>
                </a:solidFill>
                <a:latin typeface="Calibri" pitchFamily="34" charset="0"/>
                <a:ea typeface="Calibri" pitchFamily="34" charset="-122"/>
                <a:cs typeface="Calibri" pitchFamily="34" charset="-120"/>
              </a:rPr>
              <a:t>Compaction instructions: what to preserve when summarising</a:t>
            </a:r>
            <a:endParaRPr lang="en-US" sz="1250" dirty="0"/>
          </a:p>
        </p:txBody>
      </p:sp>
      <p:sp>
        <p:nvSpPr>
          <p:cNvPr id="7" name="Shape 5"/>
          <p:cNvSpPr/>
          <p:nvPr/>
        </p:nvSpPr>
        <p:spPr>
          <a:xfrm>
            <a:off x="566928" y="4041648"/>
            <a:ext cx="5989320" cy="1828800"/>
          </a:xfrm>
          <a:prstGeom prst="roundRect">
            <a:avLst>
              <a:gd name="adj" fmla="val 4500"/>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8" name="Text 6"/>
          <p:cNvSpPr txBox="1"/>
          <p:nvPr/>
        </p:nvSpPr>
        <p:spPr>
          <a:xfrm>
            <a:off x="822960" y="4206240"/>
            <a:ext cx="5477256" cy="256032"/>
          </a:xfrm>
          <a:prstGeom prst="rect">
            <a:avLst/>
          </a:prstGeom>
          <a:noFill/>
          <a:ln/>
        </p:spPr>
        <p:txBody>
          <a:bodyPr wrap="square" lIns="0" tIns="0" rIns="0" bIns="0" rtlCol="0" anchor="ctr"/>
          <a:lstStyle/>
          <a:p>
            <a:pPr indent="0" marL="0">
              <a:buNone/>
            </a:pPr>
            <a:r>
              <a:rPr lang="en-US" sz="1300" b="1" dirty="0">
                <a:solidFill>
                  <a:srgbClr val="A64B2A"/>
                </a:solidFill>
                <a:latin typeface="Calibri" pitchFamily="34" charset="0"/>
                <a:ea typeface="Calibri" pitchFamily="34" charset="-122"/>
                <a:cs typeface="Calibri" pitchFamily="34" charset="-120"/>
              </a:rPr>
              <a:t>Keep it under 200 lines</a:t>
            </a:r>
            <a:endParaRPr lang="en-US" sz="1300" dirty="0"/>
          </a:p>
        </p:txBody>
      </p:sp>
      <p:sp>
        <p:nvSpPr>
          <p:cNvPr id="9" name="Text 7"/>
          <p:cNvSpPr txBox="1"/>
          <p:nvPr/>
        </p:nvSpPr>
        <p:spPr>
          <a:xfrm>
            <a:off x="822960" y="4517136"/>
            <a:ext cx="5477256" cy="1225296"/>
          </a:xfrm>
          <a:prstGeom prst="rect">
            <a:avLst/>
          </a:prstGeom>
          <a:noFill/>
          <a:ln/>
        </p:spPr>
        <p:txBody>
          <a:bodyPr wrap="square" lIns="0" tIns="0" rIns="0" bIns="0" rtlCol="0" anchor="t"/>
          <a:lstStyle/>
          <a:p>
            <a:pPr indent="0" marL="0">
              <a:lnSpc>
                <a:spcPts val="1700"/>
              </a:lnSpc>
              <a:buNone/>
            </a:pPr>
            <a:r>
              <a:rPr lang="en-US" sz="1200" dirty="0">
                <a:solidFill>
                  <a:srgbClr val="6E635C"/>
                </a:solidFill>
                <a:latin typeface="Calibri" pitchFamily="34" charset="0"/>
                <a:ea typeface="Calibri" pitchFamily="34" charset="-122"/>
                <a:cs typeface="Calibri" pitchFamily="34" charset="-120"/>
              </a:rPr>
              <a:t>Every line is in context on every request, whether or not it is relevant. Move workflow-specific detail — release steps, review checklists, transport procedure — into skills, which load only when invoked.</a:t>
            </a:r>
            <a:endParaRPr lang="en-US" sz="1200" dirty="0"/>
          </a:p>
        </p:txBody>
      </p:sp>
      <p:sp>
        <p:nvSpPr>
          <p:cNvPr id="10" name="Text 8"/>
          <p:cNvSpPr txBox="1"/>
          <p:nvPr/>
        </p:nvSpPr>
        <p:spPr>
          <a:xfrm>
            <a:off x="6867144" y="1828800"/>
            <a:ext cx="4757623" cy="274320"/>
          </a:xfrm>
          <a:prstGeom prst="rect">
            <a:avLst/>
          </a:prstGeom>
          <a:noFill/>
          <a:ln/>
        </p:spPr>
        <p:txBody>
          <a:bodyPr wrap="square" lIns="0" tIns="0" rIns="0" bIns="0" rtlCol="0" anchor="ctr"/>
          <a:lstStyle/>
          <a:p>
            <a:pPr indent="0" marL="0">
              <a:buNone/>
            </a:pPr>
            <a:r>
              <a:rPr lang="en-US" sz="1400" b="1" dirty="0">
                <a:solidFill>
                  <a:srgbClr val="1C1917"/>
                </a:solidFill>
                <a:latin typeface="Calibri" pitchFamily="34" charset="0"/>
                <a:ea typeface="Calibri" pitchFamily="34" charset="-122"/>
                <a:cs typeface="Calibri" pitchFamily="34" charset="-120"/>
              </a:rPr>
              <a:t>For this repository</a:t>
            </a:r>
            <a:endParaRPr lang="en-US" sz="1400" dirty="0"/>
          </a:p>
        </p:txBody>
      </p:sp>
      <p:sp>
        <p:nvSpPr>
          <p:cNvPr id="11" name="Shape 9"/>
          <p:cNvSpPr/>
          <p:nvPr/>
        </p:nvSpPr>
        <p:spPr>
          <a:xfrm>
            <a:off x="6867144" y="2176272"/>
            <a:ext cx="4757623" cy="3694176"/>
          </a:xfrm>
          <a:prstGeom prst="roundRect">
            <a:avLst>
              <a:gd name="adj" fmla="val 2228"/>
            </a:avLst>
          </a:prstGeom>
          <a:solidFill>
            <a:srgbClr val="2B2320"/>
          </a:solidFill>
          <a:ln w="12700">
            <a:solidFill>
              <a:srgbClr val="2B2320"/>
            </a:solidFill>
            <a:prstDash val="solid"/>
          </a:ln>
        </p:spPr>
      </p:sp>
      <p:sp>
        <p:nvSpPr>
          <p:cNvPr id="12" name="Text 10"/>
          <p:cNvSpPr txBox="1"/>
          <p:nvPr/>
        </p:nvSpPr>
        <p:spPr>
          <a:xfrm>
            <a:off x="7031736" y="2304288"/>
            <a:ext cx="4428439" cy="3438144"/>
          </a:xfrm>
          <a:prstGeom prst="rect">
            <a:avLst/>
          </a:prstGeom>
          <a:noFill/>
          <a:ln/>
        </p:spPr>
        <p:txBody>
          <a:bodyPr wrap="square" lIns="0" tIns="0" rIns="0" bIns="0" rtlCol="0" anchor="t"/>
          <a:lstStyle/>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 CRM Pocket Feed</a:t>
            </a:r>
            <a:endParaRPr lang="en-US" sz="950" dirty="0"/>
          </a:p>
          <a:p>
            <a:pPr indent="0" marL="0">
              <a:lnSpc>
                <a:spcPts val="1250"/>
              </a:lnSpc>
              <a:buNone/>
            </a:pP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 Commands</a:t>
            </a: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flutter pub get / analyze / test</a:t>
            </a:r>
            <a:endParaRPr lang="en-US" sz="950" dirty="0"/>
          </a:p>
          <a:p>
            <a:pPr indent="0" marL="0">
              <a:lnSpc>
                <a:spcPts val="1250"/>
              </a:lnSpc>
              <a:buNone/>
            </a:pP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 Architecture</a:t>
            </a: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lib/features/&lt;feature&gt;/{screen,</a:t>
            </a: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widgets,providers}; shared in lib/shared.</a:t>
            </a: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Riverpod 2 for state. GoRouter 17,</a:t>
            </a: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named routes only. Material 3.</a:t>
            </a:r>
            <a:endParaRPr lang="en-US" sz="950" dirty="0"/>
          </a:p>
          <a:p>
            <a:pPr indent="0" marL="0">
              <a:lnSpc>
                <a:spcPts val="1250"/>
              </a:lnSpc>
              <a:buNone/>
            </a:pP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 Rules</a:t>
            </a: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 No raw hex colours - use AppTheme.</a:t>
            </a: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 No dynamic types in lib/.</a:t>
            </a: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 Constants live in AppConstants;</a:t>
            </a: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  never inline 100.0 or 5 MB.</a:t>
            </a: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 Mock data only; no network calls.</a:t>
            </a:r>
            <a:endParaRPr lang="en-US" sz="950" dirty="0"/>
          </a:p>
          <a:p>
            <a:pPr indent="0" marL="0">
              <a:lnSpc>
                <a:spcPts val="1250"/>
              </a:lnSpc>
              <a:buNone/>
            </a:pP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 Compact instructions</a:t>
            </a: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Keep failing test output and the</a:t>
            </a:r>
            <a:endParaRPr lang="en-US" sz="950" dirty="0"/>
          </a:p>
          <a:p>
            <a:pPr indent="0" marL="0">
              <a:lnSpc>
                <a:spcPts val="1250"/>
              </a:lnSpc>
              <a:buNone/>
            </a:pPr>
            <a:r>
              <a:rPr lang="en-US" sz="950" dirty="0">
                <a:solidFill>
                  <a:srgbClr val="E8DFD8"/>
                </a:solidFill>
                <a:latin typeface="Consolas" pitchFamily="34" charset="0"/>
                <a:ea typeface="Consolas" pitchFamily="34" charset="-122"/>
                <a:cs typeface="Consolas" pitchFamily="34" charset="-120"/>
              </a:rPr>
              <a:t>current diff.</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566928" y="2075688"/>
            <a:ext cx="1371600" cy="1371600"/>
          </a:xfrm>
          <a:prstGeom prst="ellipse">
            <a:avLst/>
          </a:prstGeom>
          <a:solidFill>
            <a:srgbClr val="D97757"/>
          </a:solidFill>
          <a:ln/>
        </p:spPr>
      </p:sp>
      <p:sp>
        <p:nvSpPr>
          <p:cNvPr id="3" name="Text 1"/>
          <p:cNvSpPr txBox="1"/>
          <p:nvPr/>
        </p:nvSpPr>
        <p:spPr>
          <a:xfrm>
            <a:off x="566928" y="2075688"/>
            <a:ext cx="1371600" cy="1371600"/>
          </a:xfrm>
          <a:prstGeom prst="rect">
            <a:avLst/>
          </a:prstGeom>
          <a:noFill/>
          <a:ln/>
        </p:spPr>
        <p:txBody>
          <a:bodyPr wrap="square" lIns="0" tIns="0" rIns="0" bIns="0" rtlCol="0" anchor="ctr"/>
          <a:lstStyle/>
          <a:p>
            <a:pPr algn="ctr" indent="0" marL="0">
              <a:buNone/>
            </a:pPr>
            <a:r>
              <a:rPr lang="en-US" sz="5200" b="1" dirty="0">
                <a:solidFill>
                  <a:srgbClr val="1C1917"/>
                </a:solidFill>
                <a:latin typeface="Cambria" pitchFamily="34" charset="0"/>
                <a:ea typeface="Cambria" pitchFamily="34" charset="-122"/>
                <a:cs typeface="Cambria" pitchFamily="34" charset="-120"/>
              </a:rPr>
              <a:t>05</a:t>
            </a:r>
            <a:endParaRPr lang="en-US" sz="5200" dirty="0"/>
          </a:p>
        </p:txBody>
      </p:sp>
      <p:sp>
        <p:nvSpPr>
          <p:cNvPr id="4" name="Text 2"/>
          <p:cNvSpPr txBox="1"/>
          <p:nvPr/>
        </p:nvSpPr>
        <p:spPr>
          <a:xfrm>
            <a:off x="2286000" y="1901952"/>
            <a:ext cx="8778240" cy="237744"/>
          </a:xfrm>
          <a:prstGeom prst="rect">
            <a:avLst/>
          </a:prstGeom>
          <a:noFill/>
          <a:ln/>
        </p:spPr>
        <p:txBody>
          <a:bodyPr wrap="square" lIns="0" tIns="0" rIns="0" bIns="0" rtlCol="0" anchor="ctr"/>
          <a:lstStyle/>
          <a:p>
            <a:pPr indent="0" marL="0">
              <a:buNone/>
            </a:pPr>
            <a:r>
              <a:rPr lang="en-US" sz="1100" b="1" spc="240" kern="0" dirty="0">
                <a:solidFill>
                  <a:srgbClr val="D97757"/>
                </a:solidFill>
                <a:latin typeface="Calibri" pitchFamily="34" charset="0"/>
                <a:ea typeface="Calibri" pitchFamily="34" charset="-122"/>
                <a:cs typeface="Calibri" pitchFamily="34" charset="-120"/>
              </a:rPr>
              <a:t>TESTING</a:t>
            </a:r>
            <a:endParaRPr lang="en-US" sz="1100" dirty="0"/>
          </a:p>
        </p:txBody>
      </p:sp>
      <p:sp>
        <p:nvSpPr>
          <p:cNvPr id="5" name="Text 3"/>
          <p:cNvSpPr txBox="1"/>
          <p:nvPr/>
        </p:nvSpPr>
        <p:spPr>
          <a:xfrm>
            <a:off x="2286000" y="2176272"/>
            <a:ext cx="8778240" cy="1188720"/>
          </a:xfrm>
          <a:prstGeom prst="rect">
            <a:avLst/>
          </a:prstGeom>
          <a:noFill/>
          <a:ln/>
        </p:spPr>
        <p:txBody>
          <a:bodyPr wrap="square" lIns="0" tIns="0" rIns="0" bIns="0" rtlCol="0" anchor="t"/>
          <a:lstStyle/>
          <a:p>
            <a:pPr indent="0" marL="0">
              <a:lnSpc>
                <a:spcPts val="4000"/>
              </a:lnSpc>
              <a:buNone/>
            </a:pPr>
            <a:r>
              <a:rPr lang="en-US" sz="3400" b="1" dirty="0">
                <a:solidFill>
                  <a:srgbClr val="FAF9F7"/>
                </a:solidFill>
                <a:latin typeface="Cambria" pitchFamily="34" charset="0"/>
                <a:ea typeface="Cambria" pitchFamily="34" charset="-122"/>
                <a:cs typeface="Cambria" pitchFamily="34" charset="-120"/>
              </a:rPr>
              <a:t>Tests that catch defects, not tests that agree</a:t>
            </a:r>
            <a:endParaRPr lang="en-US" sz="3400" dirty="0"/>
          </a:p>
        </p:txBody>
      </p:sp>
      <p:sp>
        <p:nvSpPr>
          <p:cNvPr id="6" name="Text 4"/>
          <p:cNvSpPr txBox="1"/>
          <p:nvPr/>
        </p:nvSpPr>
        <p:spPr>
          <a:xfrm>
            <a:off x="2286000" y="3474720"/>
            <a:ext cx="8412480" cy="914400"/>
          </a:xfrm>
          <a:prstGeom prst="rect">
            <a:avLst/>
          </a:prstGeom>
          <a:noFill/>
          <a:ln/>
        </p:spPr>
        <p:txBody>
          <a:bodyPr wrap="square" lIns="0" tIns="0" rIns="0" bIns="0" rtlCol="0" anchor="t"/>
          <a:lstStyle/>
          <a:p>
            <a:pPr indent="0" marL="0">
              <a:lnSpc>
                <a:spcPts val="2200"/>
              </a:lnSpc>
              <a:buNone/>
            </a:pPr>
            <a:r>
              <a:rPr lang="en-US" sz="1450" dirty="0">
                <a:solidFill>
                  <a:srgbClr val="B8ADA6"/>
                </a:solidFill>
                <a:latin typeface="Calibri" pitchFamily="34" charset="0"/>
                <a:ea typeface="Calibri" pitchFamily="34" charset="-122"/>
                <a:cs typeface="Calibri" pitchFamily="34" charset="-120"/>
              </a:rPr>
              <a:t>Asked casually, Claude will happily write tests that restate the implementation. Asked properly, it is very good at finding the cases you did not think of.</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STRATEGY FIRST</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Decide what to test before asking for tests</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Your repo has one widget test against five feature modules. That is the gap to close.</a:t>
            </a:r>
            <a:endParaRPr lang="en-US" sz="1350" dirty="0"/>
          </a:p>
        </p:txBody>
      </p:sp>
      <p:sp>
        <p:nvSpPr>
          <p:cNvPr id="5" name="Shape 3"/>
          <p:cNvSpPr/>
          <p:nvPr/>
        </p:nvSpPr>
        <p:spPr>
          <a:xfrm>
            <a:off x="566928" y="1847088"/>
            <a:ext cx="5760720" cy="969264"/>
          </a:xfrm>
          <a:prstGeom prst="roundRect">
            <a:avLst>
              <a:gd name="adj" fmla="val 8491"/>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768096" y="2029968"/>
            <a:ext cx="1207008" cy="457200"/>
          </a:xfrm>
          <a:prstGeom prst="roundRect">
            <a:avLst>
              <a:gd name="adj" fmla="val 16000"/>
            </a:avLst>
          </a:prstGeom>
          <a:solidFill>
            <a:srgbClr val="4A6B5D"/>
          </a:solidFill>
          <a:ln/>
        </p:spPr>
      </p:sp>
      <p:sp>
        <p:nvSpPr>
          <p:cNvPr id="7" name="Text 5"/>
          <p:cNvSpPr txBox="1"/>
          <p:nvPr/>
        </p:nvSpPr>
        <p:spPr>
          <a:xfrm>
            <a:off x="768096" y="2029968"/>
            <a:ext cx="1207008"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Unit</a:t>
            </a:r>
            <a:endParaRPr lang="en-US" sz="1150" dirty="0"/>
          </a:p>
        </p:txBody>
      </p:sp>
      <p:sp>
        <p:nvSpPr>
          <p:cNvPr id="8" name="Text 6"/>
          <p:cNvSpPr txBox="1"/>
          <p:nvPr/>
        </p:nvSpPr>
        <p:spPr>
          <a:xfrm>
            <a:off x="2139696" y="2029968"/>
            <a:ext cx="3950208" cy="731520"/>
          </a:xfrm>
          <a:prstGeom prst="rect">
            <a:avLst/>
          </a:prstGeom>
          <a:noFill/>
          <a:ln/>
        </p:spPr>
        <p:txBody>
          <a:bodyPr wrap="square" lIns="0" tIns="0" rIns="0" bIns="0" rtlCol="0" anchor="t"/>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Pure logic with no widgets: distance vs geofence radius, file-size and extension validation, date helpers, lead classification.</a:t>
            </a:r>
            <a:endParaRPr lang="en-US" sz="1150" dirty="0"/>
          </a:p>
        </p:txBody>
      </p:sp>
      <p:sp>
        <p:nvSpPr>
          <p:cNvPr id="9" name="Shape 7"/>
          <p:cNvSpPr/>
          <p:nvPr/>
        </p:nvSpPr>
        <p:spPr>
          <a:xfrm>
            <a:off x="566928" y="2944368"/>
            <a:ext cx="5760720" cy="969264"/>
          </a:xfrm>
          <a:prstGeom prst="roundRect">
            <a:avLst>
              <a:gd name="adj" fmla="val 8491"/>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0" name="Shape 8"/>
          <p:cNvSpPr/>
          <p:nvPr/>
        </p:nvSpPr>
        <p:spPr>
          <a:xfrm>
            <a:off x="768096" y="3127248"/>
            <a:ext cx="1207008" cy="457200"/>
          </a:xfrm>
          <a:prstGeom prst="roundRect">
            <a:avLst>
              <a:gd name="adj" fmla="val 16000"/>
            </a:avLst>
          </a:prstGeom>
          <a:solidFill>
            <a:srgbClr val="D97757"/>
          </a:solidFill>
          <a:ln/>
        </p:spPr>
      </p:sp>
      <p:sp>
        <p:nvSpPr>
          <p:cNvPr id="11" name="Text 9"/>
          <p:cNvSpPr txBox="1"/>
          <p:nvPr/>
        </p:nvSpPr>
        <p:spPr>
          <a:xfrm>
            <a:off x="768096" y="3127248"/>
            <a:ext cx="1207008"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Widget</a:t>
            </a:r>
            <a:endParaRPr lang="en-US" sz="1150" dirty="0"/>
          </a:p>
        </p:txBody>
      </p:sp>
      <p:sp>
        <p:nvSpPr>
          <p:cNvPr id="12" name="Text 10"/>
          <p:cNvSpPr txBox="1"/>
          <p:nvPr/>
        </p:nvSpPr>
        <p:spPr>
          <a:xfrm>
            <a:off x="2139696" y="3127248"/>
            <a:ext cx="3950208" cy="731520"/>
          </a:xfrm>
          <a:prstGeom prst="rect">
            <a:avLst/>
          </a:prstGeom>
          <a:noFill/>
          <a:ln/>
        </p:spPr>
        <p:txBody>
          <a:bodyPr wrap="square" lIns="0" tIns="0" rIns="0" bIns="0" rtlCol="0" anchor="t"/>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A single screen or component with a pumped widget tree: does the check-in button disable out of range, does the mandatory counter update.</a:t>
            </a:r>
            <a:endParaRPr lang="en-US" sz="1150" dirty="0"/>
          </a:p>
        </p:txBody>
      </p:sp>
      <p:sp>
        <p:nvSpPr>
          <p:cNvPr id="13" name="Shape 11"/>
          <p:cNvSpPr/>
          <p:nvPr/>
        </p:nvSpPr>
        <p:spPr>
          <a:xfrm>
            <a:off x="566928" y="4041648"/>
            <a:ext cx="5760720" cy="969264"/>
          </a:xfrm>
          <a:prstGeom prst="roundRect">
            <a:avLst>
              <a:gd name="adj" fmla="val 8491"/>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4" name="Shape 12"/>
          <p:cNvSpPr/>
          <p:nvPr/>
        </p:nvSpPr>
        <p:spPr>
          <a:xfrm>
            <a:off x="768096" y="4224528"/>
            <a:ext cx="1207008" cy="457200"/>
          </a:xfrm>
          <a:prstGeom prst="roundRect">
            <a:avLst>
              <a:gd name="adj" fmla="val 16000"/>
            </a:avLst>
          </a:prstGeom>
          <a:solidFill>
            <a:srgbClr val="A64B2A"/>
          </a:solidFill>
          <a:ln/>
        </p:spPr>
      </p:sp>
      <p:sp>
        <p:nvSpPr>
          <p:cNvPr id="15" name="Text 13"/>
          <p:cNvSpPr txBox="1"/>
          <p:nvPr/>
        </p:nvSpPr>
        <p:spPr>
          <a:xfrm>
            <a:off x="768096" y="4224528"/>
            <a:ext cx="1207008"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Integration</a:t>
            </a:r>
            <a:endParaRPr lang="en-US" sz="1150" dirty="0"/>
          </a:p>
        </p:txBody>
      </p:sp>
      <p:sp>
        <p:nvSpPr>
          <p:cNvPr id="16" name="Text 14"/>
          <p:cNvSpPr txBox="1"/>
          <p:nvPr/>
        </p:nvSpPr>
        <p:spPr>
          <a:xfrm>
            <a:off x="2139696" y="4224528"/>
            <a:ext cx="3950208" cy="731520"/>
          </a:xfrm>
          <a:prstGeom prst="rect">
            <a:avLst/>
          </a:prstGeom>
          <a:noFill/>
          <a:ln/>
        </p:spPr>
        <p:txBody>
          <a:bodyPr wrap="square" lIns="0" tIns="0" rIns="0" bIns="0" rtlCol="0" anchor="t"/>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A whole journey across screens: plan a visit → check in → create a lead → upload KYC → submit.</a:t>
            </a:r>
            <a:endParaRPr lang="en-US" sz="1150" dirty="0"/>
          </a:p>
        </p:txBody>
      </p:sp>
      <p:sp>
        <p:nvSpPr>
          <p:cNvPr id="17" name="Shape 15"/>
          <p:cNvSpPr/>
          <p:nvPr/>
        </p:nvSpPr>
        <p:spPr>
          <a:xfrm>
            <a:off x="566928" y="5138928"/>
            <a:ext cx="5760720" cy="914400"/>
          </a:xfrm>
          <a:prstGeom prst="roundRect">
            <a:avLst>
              <a:gd name="adj" fmla="val 9000"/>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8" name="Text 16"/>
          <p:cNvSpPr txBox="1"/>
          <p:nvPr/>
        </p:nvSpPr>
        <p:spPr>
          <a:xfrm>
            <a:off x="822960" y="5321808"/>
            <a:ext cx="5248656" cy="603504"/>
          </a:xfrm>
          <a:prstGeom prst="rect">
            <a:avLst/>
          </a:prstGeom>
          <a:noFill/>
          <a:ln/>
        </p:spPr>
        <p:txBody>
          <a:bodyPr wrap="square" lIns="0" tIns="0" rIns="0" bIns="0" rtlCol="0" anchor="t"/>
          <a:lstStyle/>
          <a:p>
            <a:pPr indent="0" marL="0">
              <a:lnSpc>
                <a:spcPts val="1700"/>
              </a:lnSpc>
              <a:buNone/>
            </a:pPr>
            <a:r>
              <a:rPr lang="en-US" sz="1200" dirty="0">
                <a:solidFill>
                  <a:srgbClr val="1C1917"/>
                </a:solidFill>
                <a:latin typeface="Calibri" pitchFamily="34" charset="0"/>
                <a:ea typeface="Calibri" pitchFamily="34" charset="-122"/>
                <a:cs typeface="Calibri" pitchFamily="34" charset="-120"/>
              </a:rPr>
              <a:t>Most value per token sits in the unit layer: it is fast, deterministic, and it is where your geofence, file-validation and classification rules actually live.</a:t>
            </a:r>
            <a:endParaRPr lang="en-US" sz="1200" dirty="0"/>
          </a:p>
        </p:txBody>
      </p:sp>
      <p:sp>
        <p:nvSpPr>
          <p:cNvPr id="19" name="Text 17"/>
          <p:cNvSpPr txBox="1"/>
          <p:nvPr/>
        </p:nvSpPr>
        <p:spPr>
          <a:xfrm>
            <a:off x="6638544" y="1847088"/>
            <a:ext cx="4986223" cy="274320"/>
          </a:xfrm>
          <a:prstGeom prst="rect">
            <a:avLst/>
          </a:prstGeom>
          <a:noFill/>
          <a:ln/>
        </p:spPr>
        <p:txBody>
          <a:bodyPr wrap="square" lIns="0" tIns="0" rIns="0" bIns="0" rtlCol="0" anchor="ctr"/>
          <a:lstStyle/>
          <a:p>
            <a:pPr indent="0" marL="0">
              <a:buNone/>
            </a:pPr>
            <a:r>
              <a:rPr lang="en-US" sz="1400" b="1" dirty="0">
                <a:solidFill>
                  <a:srgbClr val="1C1917"/>
                </a:solidFill>
                <a:latin typeface="Calibri" pitchFamily="34" charset="0"/>
                <a:ea typeface="Calibri" pitchFamily="34" charset="-122"/>
                <a:cs typeface="Calibri" pitchFamily="34" charset="-120"/>
              </a:rPr>
              <a:t>Ask for the plan before the code</a:t>
            </a:r>
            <a:endParaRPr lang="en-US" sz="1400" dirty="0"/>
          </a:p>
        </p:txBody>
      </p:sp>
      <p:sp>
        <p:nvSpPr>
          <p:cNvPr id="20" name="Shape 18"/>
          <p:cNvSpPr/>
          <p:nvPr/>
        </p:nvSpPr>
        <p:spPr>
          <a:xfrm>
            <a:off x="6638544" y="2194560"/>
            <a:ext cx="4986223" cy="2286000"/>
          </a:xfrm>
          <a:prstGeom prst="roundRect">
            <a:avLst>
              <a:gd name="adj" fmla="val 3600"/>
            </a:avLst>
          </a:prstGeom>
          <a:solidFill>
            <a:srgbClr val="2B2320"/>
          </a:solidFill>
          <a:ln w="12700">
            <a:solidFill>
              <a:srgbClr val="2B2320"/>
            </a:solidFill>
            <a:prstDash val="solid"/>
          </a:ln>
        </p:spPr>
      </p:sp>
      <p:sp>
        <p:nvSpPr>
          <p:cNvPr id="21" name="Text 19"/>
          <p:cNvSpPr txBox="1"/>
          <p:nvPr/>
        </p:nvSpPr>
        <p:spPr>
          <a:xfrm>
            <a:off x="6803136" y="2322576"/>
            <a:ext cx="4657039" cy="2029968"/>
          </a:xfrm>
          <a:prstGeom prst="rect">
            <a:avLst/>
          </a:prstGeom>
          <a:noFill/>
          <a:ln/>
        </p:spPr>
        <p:txBody>
          <a:bodyPr wrap="square" lIns="0" tIns="0" rIns="0" bIns="0" rtlCol="0" anchor="t"/>
          <a:lstStyle/>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Read lib/features/check_in/ and</a:t>
            </a: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lib/core/constant/app_constant.dart.</a:t>
            </a:r>
            <a:endParaRPr lang="en-US" sz="1000" dirty="0"/>
          </a:p>
          <a:p>
            <a:pPr indent="0" marL="0">
              <a:lnSpc>
                <a:spcPts val="1500"/>
              </a:lnSpc>
              <a:buNone/>
            </a:pP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List the behaviours that need tests,</a:t>
            </a: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as a table: behaviour, layer</a:t>
            </a: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(unit/widget/integration), risk if it</a:t>
            </a: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breaks. Do not write any test code yet.</a:t>
            </a:r>
            <a:endParaRPr lang="en-US" sz="1000" dirty="0"/>
          </a:p>
          <a:p>
            <a:pPr indent="0" marL="0">
              <a:lnSpc>
                <a:spcPts val="1500"/>
              </a:lnSpc>
              <a:buNone/>
            </a:pP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Flag anything that is currently</a:t>
            </a: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untestable because logic sits inside</a:t>
            </a:r>
            <a:endParaRPr lang="en-US" sz="1000" dirty="0"/>
          </a:p>
          <a:p>
            <a:pPr indent="0" marL="0">
              <a:lnSpc>
                <a:spcPts val="1500"/>
              </a:lnSpc>
              <a:buNone/>
            </a:pPr>
            <a:r>
              <a:rPr lang="en-US" sz="1000" dirty="0">
                <a:solidFill>
                  <a:srgbClr val="E8DFD8"/>
                </a:solidFill>
                <a:latin typeface="Consolas" pitchFamily="34" charset="0"/>
                <a:ea typeface="Consolas" pitchFamily="34" charset="-122"/>
                <a:cs typeface="Consolas" pitchFamily="34" charset="-120"/>
              </a:rPr>
              <a:t>a widget build method.</a:t>
            </a:r>
            <a:endParaRPr lang="en-US" sz="1000" dirty="0"/>
          </a:p>
        </p:txBody>
      </p:sp>
      <p:sp>
        <p:nvSpPr>
          <p:cNvPr id="22" name="Shape 20"/>
          <p:cNvSpPr/>
          <p:nvPr/>
        </p:nvSpPr>
        <p:spPr>
          <a:xfrm>
            <a:off x="6638544" y="4626864"/>
            <a:ext cx="4986223" cy="1481328"/>
          </a:xfrm>
          <a:prstGeom prst="roundRect">
            <a:avLst>
              <a:gd name="adj" fmla="val 5556"/>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3" name="Text 21"/>
          <p:cNvSpPr txBox="1"/>
          <p:nvPr/>
        </p:nvSpPr>
        <p:spPr>
          <a:xfrm>
            <a:off x="6876288" y="4791456"/>
            <a:ext cx="4529023" cy="237744"/>
          </a:xfrm>
          <a:prstGeom prst="rect">
            <a:avLst/>
          </a:prstGeom>
          <a:noFill/>
          <a:ln/>
        </p:spPr>
        <p:txBody>
          <a:bodyPr wrap="square" lIns="0" tIns="0" rIns="0" bIns="0" rtlCol="0" anchor="ctr"/>
          <a:lstStyle/>
          <a:p>
            <a:pPr indent="0" marL="0">
              <a:buNone/>
            </a:pPr>
            <a:r>
              <a:rPr lang="en-US" sz="1250" b="1" dirty="0">
                <a:solidFill>
                  <a:srgbClr val="A64B2A"/>
                </a:solidFill>
                <a:latin typeface="Calibri" pitchFamily="34" charset="0"/>
                <a:ea typeface="Calibri" pitchFamily="34" charset="-122"/>
                <a:cs typeface="Calibri" pitchFamily="34" charset="-120"/>
              </a:rPr>
              <a:t>Why this order</a:t>
            </a:r>
            <a:endParaRPr lang="en-US" sz="1250" dirty="0"/>
          </a:p>
        </p:txBody>
      </p:sp>
      <p:sp>
        <p:nvSpPr>
          <p:cNvPr id="24" name="Text 22"/>
          <p:cNvSpPr txBox="1"/>
          <p:nvPr/>
        </p:nvSpPr>
        <p:spPr>
          <a:xfrm>
            <a:off x="6876288" y="5065776"/>
            <a:ext cx="4529023" cy="914400"/>
          </a:xfrm>
          <a:prstGeom prst="rect">
            <a:avLst/>
          </a:prstGeom>
          <a:noFill/>
          <a:ln/>
        </p:spPr>
        <p:txBody>
          <a:bodyPr wrap="square" lIns="0" tIns="0" rIns="0" bIns="0" rtlCol="0" anchor="t"/>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You review a short table instead of 400 lines of test code — and the "currently untestable" answer usually points at the real design problem.</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FROM RULES TO CASES</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Boundary, negative and error cases</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Give Claude the rule and its limits, and ask explicitly for the edges. It will find cases you would skip.</a:t>
            </a:r>
            <a:endParaRPr lang="en-US" sz="13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773936"/>
          <a:ext cx="11057839" cy="914400"/>
        </p:xfrm>
        <a:graphic>
          <a:graphicData uri="http://schemas.openxmlformats.org/drawingml/2006/table">
            <a:tbl>
              <a:tblPr/>
              <a:tblGrid>
                <a:gridCol w="384048"/>
                <a:gridCol w="2395728"/>
                <a:gridCol w="2212848"/>
                <a:gridCol w="3931920"/>
                <a:gridCol w="2133295"/>
              </a:tblGrid>
              <a:tr h="315468">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Case</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Input</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Expected</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b="1" dirty="0">
                          <a:solidFill>
                            <a:srgbClr val="1C1917"/>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Well inside geofence</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45 m from customer</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Check-in enabled</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Happy path</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Exactly on the boundary</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100.0 m, radius 100.0</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Enabled — inclusive comparison</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Boundary</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One metre outside</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100.1 m</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Disabled, out-of-range banner shown</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Boundary</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Far outside</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320 m</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Disabled; cancellation dialog offered</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Negative</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GPS unavailable</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Location permission denied</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GPS error view, no crash, retry offered</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Error</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KYC file at the cap</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5.00 MB PDF</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Boundary</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KYC file over the cap</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5.01 MB PDF</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Rejected with size message</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Boundary</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Disallowed extension</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.docx file</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Rejected; jpg/jpeg/png/pdf only</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Negative</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Remarks at the limit</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300 characters</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Accepted, counter reads 300/300</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Boundary</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Remarks over the limit</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301 characters</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Input blocked at 300</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c>
                  <a:txBody>
                    <a:bodyPr/>
                    <a:lstStyle/>
                    <a:p>
                      <a:pPr indent="0" marL="0">
                        <a:buNone/>
                      </a:pPr>
                      <a:r>
                        <a:rPr lang="en-US" sz="1050" dirty="0">
                          <a:solidFill>
                            <a:srgbClr val="1C1917"/>
                          </a:solidFill>
                          <a:latin typeface="Calibri" pitchFamily="34" charset="0"/>
                          <a:ea typeface="Calibri" pitchFamily="34" charset="-122"/>
                          <a:cs typeface="Calibri" pitchFamily="34" charset="-120"/>
                        </a:rPr>
                        <a:t>Boundary</a:t>
                      </a:r>
                      <a:endParaRPr lang="en-US" sz="1050" dirty="0">
                        <a:latin typeface="Calibri" charset="0"/>
                        <a:ea typeface="Calibri" charset="0"/>
                        <a:cs typeface="Calibri" charset="0"/>
                      </a:endParaRPr>
                    </a:p>
                  </a:txBody>
                  <a:tcPr marL="101600" marR="101600" marT="50800" marB="50800" anchor="ctr">
                    <a:lnL w="12700" cap="flat" cmpd="sng" algn="ctr">
                      <a:solidFill>
                        <a:srgbClr val="E6E0DA"/>
                      </a:solidFill>
                      <a:prstDash val="solid"/>
                      <a:round/>
                      <a:headEnd type="none" w="med" len="med"/>
                      <a:tailEnd type="none" w="med" len="med"/>
                    </a:lnL>
                    <a:lnR w="12700" cap="flat" cmpd="sng" algn="ctr">
                      <a:solidFill>
                        <a:srgbClr val="E6E0DA"/>
                      </a:solidFill>
                      <a:prstDash val="solid"/>
                      <a:round/>
                      <a:headEnd type="none" w="med" len="med"/>
                      <a:tailEnd type="none" w="med" len="med"/>
                    </a:lnR>
                    <a:lnT w="12700" cap="flat" cmpd="sng" algn="ctr">
                      <a:solidFill>
                        <a:srgbClr val="E6E0DA"/>
                      </a:solidFill>
                      <a:prstDash val="solid"/>
                      <a:round/>
                      <a:headEnd type="none" w="med" len="med"/>
                      <a:tailEnd type="none" w="med" len="med"/>
                    </a:lnT>
                    <a:lnB w="12700" cap="flat" cmpd="sng" algn="ctr">
                      <a:solidFill>
                        <a:srgbClr val="E6E0DA"/>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394960"/>
            <a:ext cx="11057839" cy="786384"/>
          </a:xfrm>
          <a:prstGeom prst="roundRect">
            <a:avLst>
              <a:gd name="adj" fmla="val 10465"/>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7" name="Text 4"/>
          <p:cNvSpPr txBox="1"/>
          <p:nvPr/>
        </p:nvSpPr>
        <p:spPr>
          <a:xfrm>
            <a:off x="841248" y="5522976"/>
            <a:ext cx="2377440" cy="237744"/>
          </a:xfrm>
          <a:prstGeom prst="rect">
            <a:avLst/>
          </a:prstGeom>
          <a:noFill/>
          <a:ln/>
        </p:spPr>
        <p:txBody>
          <a:bodyPr wrap="square" lIns="0" tIns="0" rIns="0" bIns="0" rtlCol="0" anchor="ctr"/>
          <a:lstStyle/>
          <a:p>
            <a:pPr indent="0" marL="0">
              <a:buNone/>
            </a:pPr>
            <a:r>
              <a:rPr lang="en-US" sz="1200" b="1" dirty="0">
                <a:solidFill>
                  <a:srgbClr val="A64B2A"/>
                </a:solidFill>
                <a:latin typeface="Calibri" pitchFamily="34" charset="0"/>
                <a:ea typeface="Calibri" pitchFamily="34" charset="-122"/>
                <a:cs typeface="Calibri" pitchFamily="34" charset="-120"/>
              </a:rPr>
              <a:t>The prompt behind this</a:t>
            </a:r>
            <a:endParaRPr lang="en-US" sz="1200" dirty="0"/>
          </a:p>
        </p:txBody>
      </p:sp>
      <p:sp>
        <p:nvSpPr>
          <p:cNvPr id="8" name="Text 5"/>
          <p:cNvSpPr txBox="1"/>
          <p:nvPr/>
        </p:nvSpPr>
        <p:spPr>
          <a:xfrm>
            <a:off x="3401568" y="5486400"/>
            <a:ext cx="7948879" cy="603504"/>
          </a:xfrm>
          <a:prstGeom prst="rect">
            <a:avLst/>
          </a:prstGeom>
          <a:noFill/>
          <a:ln/>
        </p:spPr>
        <p:txBody>
          <a:bodyPr wrap="square" lIns="0" tIns="0" rIns="0" bIns="0" rtlCol="0" anchor="t"/>
          <a:lstStyle/>
          <a:p>
            <a:pPr indent="0" marL="0">
              <a:lnSpc>
                <a:spcPts val="1450"/>
              </a:lnSpc>
              <a:buNone/>
            </a:pPr>
            <a:r>
              <a:rPr lang="en-US" sz="1100" i="1" dirty="0">
                <a:solidFill>
                  <a:srgbClr val="1C1917"/>
                </a:solidFill>
                <a:latin typeface="Calibri" pitchFamily="34" charset="0"/>
                <a:ea typeface="Calibri" pitchFamily="34" charset="-122"/>
                <a:cs typeface="Calibri" pitchFamily="34" charset="-120"/>
              </a:rPr>
              <a:t>"Using AppConstants, produce a test-case table for geofenced check-in and KYC upload. Include the exact boundary on each side of every limit, one error path, and one case you think we have overlooked. Table only — no code yet."</a:t>
            </a:r>
            <a:endParaRPr lang="en-US" sz="1100" dirty="0"/>
          </a:p>
        </p:txBody>
      </p:sp>
      <p:sp>
        <p:nvSpPr>
          <p:cNvPr id="9" name="Text 6"/>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900" i="1" dirty="0">
                <a:solidFill>
                  <a:srgbClr val="9C918A"/>
                </a:solidFill>
                <a:latin typeface="Calibri" pitchFamily="34" charset="0"/>
                <a:ea typeface="Calibri" pitchFamily="34" charset="-122"/>
                <a:cs typeface="Calibri" pitchFamily="34" charset="-120"/>
              </a:rPr>
              <a:t>Values taken from AppConstants: geofenceRadius 100 m, mock distances 45 m / 320 m, maxFileSizeMB 5, remarksMaxLength 300.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566928" y="2075688"/>
            <a:ext cx="1371600" cy="1371600"/>
          </a:xfrm>
          <a:prstGeom prst="ellipse">
            <a:avLst/>
          </a:prstGeom>
          <a:solidFill>
            <a:srgbClr val="D97757"/>
          </a:solidFill>
          <a:ln/>
        </p:spPr>
      </p:sp>
      <p:sp>
        <p:nvSpPr>
          <p:cNvPr id="3" name="Text 1"/>
          <p:cNvSpPr txBox="1"/>
          <p:nvPr/>
        </p:nvSpPr>
        <p:spPr>
          <a:xfrm>
            <a:off x="566928" y="2075688"/>
            <a:ext cx="1371600" cy="1371600"/>
          </a:xfrm>
          <a:prstGeom prst="rect">
            <a:avLst/>
          </a:prstGeom>
          <a:noFill/>
          <a:ln/>
        </p:spPr>
        <p:txBody>
          <a:bodyPr wrap="square" lIns="0" tIns="0" rIns="0" bIns="0" rtlCol="0" anchor="ctr"/>
          <a:lstStyle/>
          <a:p>
            <a:pPr algn="ctr" indent="0" marL="0">
              <a:buNone/>
            </a:pPr>
            <a:r>
              <a:rPr lang="en-US" sz="5200" b="1" dirty="0">
                <a:solidFill>
                  <a:srgbClr val="1C1917"/>
                </a:solidFill>
                <a:latin typeface="Cambria" pitchFamily="34" charset="0"/>
                <a:ea typeface="Cambria" pitchFamily="34" charset="-122"/>
                <a:cs typeface="Cambria" pitchFamily="34" charset="-120"/>
              </a:rPr>
              <a:t>06</a:t>
            </a:r>
            <a:endParaRPr lang="en-US" sz="5200" dirty="0"/>
          </a:p>
        </p:txBody>
      </p:sp>
      <p:sp>
        <p:nvSpPr>
          <p:cNvPr id="4" name="Text 2"/>
          <p:cNvSpPr txBox="1"/>
          <p:nvPr/>
        </p:nvSpPr>
        <p:spPr>
          <a:xfrm>
            <a:off x="2286000" y="1901952"/>
            <a:ext cx="8778240" cy="237744"/>
          </a:xfrm>
          <a:prstGeom prst="rect">
            <a:avLst/>
          </a:prstGeom>
          <a:noFill/>
          <a:ln/>
        </p:spPr>
        <p:txBody>
          <a:bodyPr wrap="square" lIns="0" tIns="0" rIns="0" bIns="0" rtlCol="0" anchor="ctr"/>
          <a:lstStyle/>
          <a:p>
            <a:pPr indent="0" marL="0">
              <a:buNone/>
            </a:pPr>
            <a:r>
              <a:rPr lang="en-US" sz="1100" b="1" spc="240" kern="0" dirty="0">
                <a:solidFill>
                  <a:srgbClr val="D97757"/>
                </a:solidFill>
                <a:latin typeface="Calibri" pitchFamily="34" charset="0"/>
                <a:ea typeface="Calibri" pitchFamily="34" charset="-122"/>
                <a:cs typeface="Calibri" pitchFamily="34" charset="-120"/>
              </a:rPr>
              <a:t>SAP</a:t>
            </a:r>
            <a:endParaRPr lang="en-US" sz="1100" dirty="0"/>
          </a:p>
        </p:txBody>
      </p:sp>
      <p:sp>
        <p:nvSpPr>
          <p:cNvPr id="5" name="Text 3"/>
          <p:cNvSpPr txBox="1"/>
          <p:nvPr/>
        </p:nvSpPr>
        <p:spPr>
          <a:xfrm>
            <a:off x="2286000" y="2176272"/>
            <a:ext cx="8778240" cy="1188720"/>
          </a:xfrm>
          <a:prstGeom prst="rect">
            <a:avLst/>
          </a:prstGeom>
          <a:noFill/>
          <a:ln/>
        </p:spPr>
        <p:txBody>
          <a:bodyPr wrap="square" lIns="0" tIns="0" rIns="0" bIns="0" rtlCol="0" anchor="t"/>
          <a:lstStyle/>
          <a:p>
            <a:pPr indent="0" marL="0">
              <a:lnSpc>
                <a:spcPts val="4000"/>
              </a:lnSpc>
              <a:buNone/>
            </a:pPr>
            <a:r>
              <a:rPr lang="en-US" sz="3400" b="1" dirty="0">
                <a:solidFill>
                  <a:srgbClr val="FAF9F7"/>
                </a:solidFill>
                <a:latin typeface="Cambria" pitchFamily="34" charset="0"/>
                <a:ea typeface="Cambria" pitchFamily="34" charset="-122"/>
                <a:cs typeface="Cambria" pitchFamily="34" charset="-120"/>
              </a:rPr>
              <a:t>Functional consulting and ABAP on BTP</a:t>
            </a:r>
            <a:endParaRPr lang="en-US" sz="3400" dirty="0"/>
          </a:p>
        </p:txBody>
      </p:sp>
      <p:sp>
        <p:nvSpPr>
          <p:cNvPr id="6" name="Text 4"/>
          <p:cNvSpPr txBox="1"/>
          <p:nvPr/>
        </p:nvSpPr>
        <p:spPr>
          <a:xfrm>
            <a:off x="2286000" y="3474720"/>
            <a:ext cx="8412480" cy="914400"/>
          </a:xfrm>
          <a:prstGeom prst="rect">
            <a:avLst/>
          </a:prstGeom>
          <a:noFill/>
          <a:ln/>
        </p:spPr>
        <p:txBody>
          <a:bodyPr wrap="square" lIns="0" tIns="0" rIns="0" bIns="0" rtlCol="0" anchor="t"/>
          <a:lstStyle/>
          <a:p>
            <a:pPr indent="0" marL="0">
              <a:lnSpc>
                <a:spcPts val="2200"/>
              </a:lnSpc>
              <a:buNone/>
            </a:pPr>
            <a:r>
              <a:rPr lang="en-US" sz="1450" dirty="0">
                <a:solidFill>
                  <a:srgbClr val="B8ADA6"/>
                </a:solidFill>
                <a:latin typeface="Calibri" pitchFamily="34" charset="0"/>
                <a:ea typeface="Calibri" pitchFamily="34" charset="-122"/>
                <a:cs typeface="Calibri" pitchFamily="34" charset="-120"/>
              </a:rPr>
              <a:t>Claude has no connection to your SAP system unless you give it one. What it does have is deep familiarity with the artefacts around the system — specs, config logic, ABAP, CDS, OData.</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FOR THE FUNCTIONAL CONSULTANT</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Where it fits across the project lifecycle</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The deliverables that consume your week are exactly the ones Claude drafts well.</a:t>
            </a:r>
            <a:endParaRPr lang="en-US" sz="1350" dirty="0"/>
          </a:p>
        </p:txBody>
      </p:sp>
      <p:sp>
        <p:nvSpPr>
          <p:cNvPr id="5" name="Shape 3"/>
          <p:cNvSpPr/>
          <p:nvPr/>
        </p:nvSpPr>
        <p:spPr>
          <a:xfrm>
            <a:off x="566928" y="1773936"/>
            <a:ext cx="3503066" cy="1883664"/>
          </a:xfrm>
          <a:prstGeom prst="roundRect">
            <a:avLst>
              <a:gd name="adj" fmla="val 4369"/>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Text 4"/>
          <p:cNvSpPr txBox="1"/>
          <p:nvPr/>
        </p:nvSpPr>
        <p:spPr>
          <a:xfrm>
            <a:off x="804672" y="1975104"/>
            <a:ext cx="3027578" cy="219456"/>
          </a:xfrm>
          <a:prstGeom prst="rect">
            <a:avLst/>
          </a:prstGeom>
          <a:noFill/>
          <a:ln/>
        </p:spPr>
        <p:txBody>
          <a:bodyPr wrap="square" lIns="0" tIns="0" rIns="0" bIns="0" rtlCol="0" anchor="ctr"/>
          <a:lstStyle/>
          <a:p>
            <a:pPr indent="0" marL="0">
              <a:buNone/>
            </a:pPr>
            <a:r>
              <a:rPr lang="en-US" sz="950" b="1" spc="160" kern="0" dirty="0">
                <a:solidFill>
                  <a:srgbClr val="D97757"/>
                </a:solidFill>
                <a:latin typeface="Calibri" pitchFamily="34" charset="0"/>
                <a:ea typeface="Calibri" pitchFamily="34" charset="-122"/>
                <a:cs typeface="Calibri" pitchFamily="34" charset="-120"/>
              </a:rPr>
              <a:t>DISCOVER</a:t>
            </a:r>
            <a:endParaRPr lang="en-US" sz="950" dirty="0"/>
          </a:p>
        </p:txBody>
      </p:sp>
      <p:sp>
        <p:nvSpPr>
          <p:cNvPr id="7" name="Text 5"/>
          <p:cNvSpPr txBox="1"/>
          <p:nvPr/>
        </p:nvSpPr>
        <p:spPr>
          <a:xfrm>
            <a:off x="804672" y="2231136"/>
            <a:ext cx="3027578" cy="292608"/>
          </a:xfrm>
          <a:prstGeom prst="rect">
            <a:avLst/>
          </a:prstGeom>
          <a:noFill/>
          <a:ln/>
        </p:spPr>
        <p:txBody>
          <a:bodyPr wrap="square" lIns="0" tIns="0" rIns="0" bIns="0" rtlCol="0" anchor="ctr"/>
          <a:lstStyle/>
          <a:p>
            <a:pPr indent="0" marL="0">
              <a:buNone/>
            </a:pPr>
            <a:r>
              <a:rPr lang="en-US" sz="1450" b="1" dirty="0">
                <a:solidFill>
                  <a:srgbClr val="1C1917"/>
                </a:solidFill>
                <a:latin typeface="Calibri" pitchFamily="34" charset="0"/>
                <a:ea typeface="Calibri" pitchFamily="34" charset="-122"/>
                <a:cs typeface="Calibri" pitchFamily="34" charset="-120"/>
              </a:rPr>
              <a:t>Fit-gap</a:t>
            </a:r>
            <a:endParaRPr lang="en-US" sz="1450" dirty="0"/>
          </a:p>
        </p:txBody>
      </p:sp>
      <p:sp>
        <p:nvSpPr>
          <p:cNvPr id="8" name="Text 6"/>
          <p:cNvSpPr txBox="1"/>
          <p:nvPr/>
        </p:nvSpPr>
        <p:spPr>
          <a:xfrm>
            <a:off x="804672" y="2578608"/>
            <a:ext cx="3027578" cy="969264"/>
          </a:xfrm>
          <a:prstGeom prst="rect">
            <a:avLst/>
          </a:prstGeom>
          <a:noFill/>
          <a:ln/>
        </p:spPr>
        <p:txBody>
          <a:bodyPr wrap="square" lIns="0" tIns="0" rIns="0" bIns="0" rtlCol="0" anchor="t"/>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Turn raw workshop notes into a structured fit-gap log: requirement, standard capability, gap, options, effort.</a:t>
            </a:r>
            <a:endParaRPr lang="en-US" sz="1150" dirty="0"/>
          </a:p>
        </p:txBody>
      </p:sp>
      <p:sp>
        <p:nvSpPr>
          <p:cNvPr id="9" name="Shape 7"/>
          <p:cNvSpPr/>
          <p:nvPr/>
        </p:nvSpPr>
        <p:spPr>
          <a:xfrm>
            <a:off x="4344314" y="1773936"/>
            <a:ext cx="3503066" cy="1883664"/>
          </a:xfrm>
          <a:prstGeom prst="roundRect">
            <a:avLst>
              <a:gd name="adj" fmla="val 4369"/>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0" name="Text 8"/>
          <p:cNvSpPr txBox="1"/>
          <p:nvPr/>
        </p:nvSpPr>
        <p:spPr>
          <a:xfrm>
            <a:off x="4582058" y="1975104"/>
            <a:ext cx="3027578" cy="219456"/>
          </a:xfrm>
          <a:prstGeom prst="rect">
            <a:avLst/>
          </a:prstGeom>
          <a:noFill/>
          <a:ln/>
        </p:spPr>
        <p:txBody>
          <a:bodyPr wrap="square" lIns="0" tIns="0" rIns="0" bIns="0" rtlCol="0" anchor="ctr"/>
          <a:lstStyle/>
          <a:p>
            <a:pPr indent="0" marL="0">
              <a:buNone/>
            </a:pPr>
            <a:r>
              <a:rPr lang="en-US" sz="950" b="1" spc="160" kern="0" dirty="0">
                <a:solidFill>
                  <a:srgbClr val="D97757"/>
                </a:solidFill>
                <a:latin typeface="Calibri" pitchFamily="34" charset="0"/>
                <a:ea typeface="Calibri" pitchFamily="34" charset="-122"/>
                <a:cs typeface="Calibri" pitchFamily="34" charset="-120"/>
              </a:rPr>
              <a:t>DESIGN</a:t>
            </a:r>
            <a:endParaRPr lang="en-US" sz="950" dirty="0"/>
          </a:p>
        </p:txBody>
      </p:sp>
      <p:sp>
        <p:nvSpPr>
          <p:cNvPr id="11" name="Text 9"/>
          <p:cNvSpPr txBox="1"/>
          <p:nvPr/>
        </p:nvSpPr>
        <p:spPr>
          <a:xfrm>
            <a:off x="4582058" y="2231136"/>
            <a:ext cx="3027578" cy="292608"/>
          </a:xfrm>
          <a:prstGeom prst="rect">
            <a:avLst/>
          </a:prstGeom>
          <a:noFill/>
          <a:ln/>
        </p:spPr>
        <p:txBody>
          <a:bodyPr wrap="square" lIns="0" tIns="0" rIns="0" bIns="0" rtlCol="0" anchor="ctr"/>
          <a:lstStyle/>
          <a:p>
            <a:pPr indent="0" marL="0">
              <a:buNone/>
            </a:pPr>
            <a:r>
              <a:rPr lang="en-US" sz="1450" b="1" dirty="0">
                <a:solidFill>
                  <a:srgbClr val="1C1917"/>
                </a:solidFill>
                <a:latin typeface="Calibri" pitchFamily="34" charset="0"/>
                <a:ea typeface="Calibri" pitchFamily="34" charset="-122"/>
                <a:cs typeface="Calibri" pitchFamily="34" charset="-120"/>
              </a:rPr>
              <a:t>Blueprint &amp; BBP</a:t>
            </a:r>
            <a:endParaRPr lang="en-US" sz="1450" dirty="0"/>
          </a:p>
        </p:txBody>
      </p:sp>
      <p:sp>
        <p:nvSpPr>
          <p:cNvPr id="12" name="Text 10"/>
          <p:cNvSpPr txBox="1"/>
          <p:nvPr/>
        </p:nvSpPr>
        <p:spPr>
          <a:xfrm>
            <a:off x="4582058" y="2578608"/>
            <a:ext cx="3027578" cy="969264"/>
          </a:xfrm>
          <a:prstGeom prst="rect">
            <a:avLst/>
          </a:prstGeom>
          <a:noFill/>
          <a:ln/>
        </p:spPr>
        <p:txBody>
          <a:bodyPr wrap="square" lIns="0" tIns="0" rIns="0" bIns="0" rtlCol="0" anchor="t"/>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Draft business process documents and to-be process descriptions from bullet notes, in your template's structure.</a:t>
            </a:r>
            <a:endParaRPr lang="en-US" sz="1150" dirty="0"/>
          </a:p>
        </p:txBody>
      </p:sp>
      <p:sp>
        <p:nvSpPr>
          <p:cNvPr id="13" name="Shape 11"/>
          <p:cNvSpPr/>
          <p:nvPr/>
        </p:nvSpPr>
        <p:spPr>
          <a:xfrm>
            <a:off x="8121701" y="1773936"/>
            <a:ext cx="3503066" cy="1883664"/>
          </a:xfrm>
          <a:prstGeom prst="roundRect">
            <a:avLst>
              <a:gd name="adj" fmla="val 4369"/>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4" name="Text 12"/>
          <p:cNvSpPr txBox="1"/>
          <p:nvPr/>
        </p:nvSpPr>
        <p:spPr>
          <a:xfrm>
            <a:off x="8359445" y="1975104"/>
            <a:ext cx="3027578" cy="219456"/>
          </a:xfrm>
          <a:prstGeom prst="rect">
            <a:avLst/>
          </a:prstGeom>
          <a:noFill/>
          <a:ln/>
        </p:spPr>
        <p:txBody>
          <a:bodyPr wrap="square" lIns="0" tIns="0" rIns="0" bIns="0" rtlCol="0" anchor="ctr"/>
          <a:lstStyle/>
          <a:p>
            <a:pPr indent="0" marL="0">
              <a:buNone/>
            </a:pPr>
            <a:r>
              <a:rPr lang="en-US" sz="950" b="1" spc="160" kern="0" dirty="0">
                <a:solidFill>
                  <a:srgbClr val="D97757"/>
                </a:solidFill>
                <a:latin typeface="Calibri" pitchFamily="34" charset="0"/>
                <a:ea typeface="Calibri" pitchFamily="34" charset="-122"/>
                <a:cs typeface="Calibri" pitchFamily="34" charset="-120"/>
              </a:rPr>
              <a:t>CONFIGURE</a:t>
            </a:r>
            <a:endParaRPr lang="en-US" sz="950" dirty="0"/>
          </a:p>
        </p:txBody>
      </p:sp>
      <p:sp>
        <p:nvSpPr>
          <p:cNvPr id="15" name="Text 13"/>
          <p:cNvSpPr txBox="1"/>
          <p:nvPr/>
        </p:nvSpPr>
        <p:spPr>
          <a:xfrm>
            <a:off x="8359445" y="2231136"/>
            <a:ext cx="3027578" cy="292608"/>
          </a:xfrm>
          <a:prstGeom prst="rect">
            <a:avLst/>
          </a:prstGeom>
          <a:noFill/>
          <a:ln/>
        </p:spPr>
        <p:txBody>
          <a:bodyPr wrap="square" lIns="0" tIns="0" rIns="0" bIns="0" rtlCol="0" anchor="ctr"/>
          <a:lstStyle/>
          <a:p>
            <a:pPr indent="0" marL="0">
              <a:buNone/>
            </a:pPr>
            <a:r>
              <a:rPr lang="en-US" sz="1450" b="1" dirty="0">
                <a:solidFill>
                  <a:srgbClr val="1C1917"/>
                </a:solidFill>
                <a:latin typeface="Calibri" pitchFamily="34" charset="0"/>
                <a:ea typeface="Calibri" pitchFamily="34" charset="-122"/>
                <a:cs typeface="Calibri" pitchFamily="34" charset="-120"/>
              </a:rPr>
              <a:t>Config rationale</a:t>
            </a:r>
            <a:endParaRPr lang="en-US" sz="1450" dirty="0"/>
          </a:p>
        </p:txBody>
      </p:sp>
      <p:sp>
        <p:nvSpPr>
          <p:cNvPr id="16" name="Text 14"/>
          <p:cNvSpPr txBox="1"/>
          <p:nvPr/>
        </p:nvSpPr>
        <p:spPr>
          <a:xfrm>
            <a:off x="8359445" y="2578608"/>
            <a:ext cx="3027578" cy="969264"/>
          </a:xfrm>
          <a:prstGeom prst="rect">
            <a:avLst/>
          </a:prstGeom>
          <a:noFill/>
          <a:ln/>
        </p:spPr>
        <p:txBody>
          <a:bodyPr wrap="square" lIns="0" tIns="0" rIns="0" bIns="0" rtlCol="0" anchor="t"/>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Explain what an IMG setting controls and its downstream effect, and write the config rationale you must document anyway.</a:t>
            </a:r>
            <a:endParaRPr lang="en-US" sz="1150" dirty="0"/>
          </a:p>
        </p:txBody>
      </p:sp>
      <p:sp>
        <p:nvSpPr>
          <p:cNvPr id="17" name="Shape 15"/>
          <p:cNvSpPr/>
          <p:nvPr/>
        </p:nvSpPr>
        <p:spPr>
          <a:xfrm>
            <a:off x="566928" y="3877056"/>
            <a:ext cx="3503066" cy="1883664"/>
          </a:xfrm>
          <a:prstGeom prst="roundRect">
            <a:avLst>
              <a:gd name="adj" fmla="val 4369"/>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8" name="Text 16"/>
          <p:cNvSpPr txBox="1"/>
          <p:nvPr/>
        </p:nvSpPr>
        <p:spPr>
          <a:xfrm>
            <a:off x="804672" y="4078224"/>
            <a:ext cx="3027578" cy="219456"/>
          </a:xfrm>
          <a:prstGeom prst="rect">
            <a:avLst/>
          </a:prstGeom>
          <a:noFill/>
          <a:ln/>
        </p:spPr>
        <p:txBody>
          <a:bodyPr wrap="square" lIns="0" tIns="0" rIns="0" bIns="0" rtlCol="0" anchor="ctr"/>
          <a:lstStyle/>
          <a:p>
            <a:pPr indent="0" marL="0">
              <a:buNone/>
            </a:pPr>
            <a:r>
              <a:rPr lang="en-US" sz="950" b="1" spc="160" kern="0" dirty="0">
                <a:solidFill>
                  <a:srgbClr val="D97757"/>
                </a:solidFill>
                <a:latin typeface="Calibri" pitchFamily="34" charset="0"/>
                <a:ea typeface="Calibri" pitchFamily="34" charset="-122"/>
                <a:cs typeface="Calibri" pitchFamily="34" charset="-120"/>
              </a:rPr>
              <a:t>BUILD</a:t>
            </a:r>
            <a:endParaRPr lang="en-US" sz="950" dirty="0"/>
          </a:p>
        </p:txBody>
      </p:sp>
      <p:sp>
        <p:nvSpPr>
          <p:cNvPr id="19" name="Text 17"/>
          <p:cNvSpPr txBox="1"/>
          <p:nvPr/>
        </p:nvSpPr>
        <p:spPr>
          <a:xfrm>
            <a:off x="804672" y="4334256"/>
            <a:ext cx="3027578" cy="292608"/>
          </a:xfrm>
          <a:prstGeom prst="rect">
            <a:avLst/>
          </a:prstGeom>
          <a:noFill/>
          <a:ln/>
        </p:spPr>
        <p:txBody>
          <a:bodyPr wrap="square" lIns="0" tIns="0" rIns="0" bIns="0" rtlCol="0" anchor="ctr"/>
          <a:lstStyle/>
          <a:p>
            <a:pPr indent="0" marL="0">
              <a:buNone/>
            </a:pPr>
            <a:r>
              <a:rPr lang="en-US" sz="1450" b="1" dirty="0">
                <a:solidFill>
                  <a:srgbClr val="1C1917"/>
                </a:solidFill>
                <a:latin typeface="Calibri" pitchFamily="34" charset="0"/>
                <a:ea typeface="Calibri" pitchFamily="34" charset="-122"/>
                <a:cs typeface="Calibri" pitchFamily="34" charset="-120"/>
              </a:rPr>
              <a:t>Functional specs</a:t>
            </a:r>
            <a:endParaRPr lang="en-US" sz="1450" dirty="0"/>
          </a:p>
        </p:txBody>
      </p:sp>
      <p:sp>
        <p:nvSpPr>
          <p:cNvPr id="20" name="Text 18"/>
          <p:cNvSpPr txBox="1"/>
          <p:nvPr/>
        </p:nvSpPr>
        <p:spPr>
          <a:xfrm>
            <a:off x="804672" y="4681728"/>
            <a:ext cx="3027578" cy="969264"/>
          </a:xfrm>
          <a:prstGeom prst="rect">
            <a:avLst/>
          </a:prstGeom>
          <a:noFill/>
          <a:ln/>
        </p:spPr>
        <p:txBody>
          <a:bodyPr wrap="square" lIns="0" tIns="0" rIns="0" bIns="0" rtlCol="0" anchor="t"/>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Convert a requirement into a WRICEF spec the ABAP team can build from: logic, fields, selection screen, error handling, authorisations.</a:t>
            </a:r>
            <a:endParaRPr lang="en-US" sz="1150" dirty="0"/>
          </a:p>
        </p:txBody>
      </p:sp>
      <p:sp>
        <p:nvSpPr>
          <p:cNvPr id="21" name="Shape 19"/>
          <p:cNvSpPr/>
          <p:nvPr/>
        </p:nvSpPr>
        <p:spPr>
          <a:xfrm>
            <a:off x="4344314" y="3877056"/>
            <a:ext cx="3503066" cy="1883664"/>
          </a:xfrm>
          <a:prstGeom prst="roundRect">
            <a:avLst>
              <a:gd name="adj" fmla="val 4369"/>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2" name="Text 20"/>
          <p:cNvSpPr txBox="1"/>
          <p:nvPr/>
        </p:nvSpPr>
        <p:spPr>
          <a:xfrm>
            <a:off x="4582058" y="4078224"/>
            <a:ext cx="3027578" cy="219456"/>
          </a:xfrm>
          <a:prstGeom prst="rect">
            <a:avLst/>
          </a:prstGeom>
          <a:noFill/>
          <a:ln/>
        </p:spPr>
        <p:txBody>
          <a:bodyPr wrap="square" lIns="0" tIns="0" rIns="0" bIns="0" rtlCol="0" anchor="ctr"/>
          <a:lstStyle/>
          <a:p>
            <a:pPr indent="0" marL="0">
              <a:buNone/>
            </a:pPr>
            <a:r>
              <a:rPr lang="en-US" sz="950" b="1" spc="160" kern="0" dirty="0">
                <a:solidFill>
                  <a:srgbClr val="D97757"/>
                </a:solidFill>
                <a:latin typeface="Calibri" pitchFamily="34" charset="0"/>
                <a:ea typeface="Calibri" pitchFamily="34" charset="-122"/>
                <a:cs typeface="Calibri" pitchFamily="34" charset="-120"/>
              </a:rPr>
              <a:t>TEST</a:t>
            </a:r>
            <a:endParaRPr lang="en-US" sz="950" dirty="0"/>
          </a:p>
        </p:txBody>
      </p:sp>
      <p:sp>
        <p:nvSpPr>
          <p:cNvPr id="23" name="Text 21"/>
          <p:cNvSpPr txBox="1"/>
          <p:nvPr/>
        </p:nvSpPr>
        <p:spPr>
          <a:xfrm>
            <a:off x="4582058" y="4334256"/>
            <a:ext cx="3027578" cy="292608"/>
          </a:xfrm>
          <a:prstGeom prst="rect">
            <a:avLst/>
          </a:prstGeom>
          <a:noFill/>
          <a:ln/>
        </p:spPr>
        <p:txBody>
          <a:bodyPr wrap="square" lIns="0" tIns="0" rIns="0" bIns="0" rtlCol="0" anchor="ctr"/>
          <a:lstStyle/>
          <a:p>
            <a:pPr indent="0" marL="0">
              <a:buNone/>
            </a:pPr>
            <a:r>
              <a:rPr lang="en-US" sz="1450" b="1" dirty="0">
                <a:solidFill>
                  <a:srgbClr val="1C1917"/>
                </a:solidFill>
                <a:latin typeface="Calibri" pitchFamily="34" charset="0"/>
                <a:ea typeface="Calibri" pitchFamily="34" charset="-122"/>
                <a:cs typeface="Calibri" pitchFamily="34" charset="-120"/>
              </a:rPr>
              <a:t>Scripts &amp; data</a:t>
            </a:r>
            <a:endParaRPr lang="en-US" sz="1450" dirty="0"/>
          </a:p>
        </p:txBody>
      </p:sp>
      <p:sp>
        <p:nvSpPr>
          <p:cNvPr id="24" name="Text 22"/>
          <p:cNvSpPr txBox="1"/>
          <p:nvPr/>
        </p:nvSpPr>
        <p:spPr>
          <a:xfrm>
            <a:off x="4582058" y="4681728"/>
            <a:ext cx="3027578" cy="969264"/>
          </a:xfrm>
          <a:prstGeom prst="rect">
            <a:avLst/>
          </a:prstGeom>
          <a:noFill/>
          <a:ln/>
        </p:spPr>
        <p:txBody>
          <a:bodyPr wrap="square" lIns="0" tIns="0" rIns="0" bIns="0" rtlCol="0" anchor="t"/>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Generate SIT and UAT scripts with step, expected result and test data, including negative and boundary cases.</a:t>
            </a:r>
            <a:endParaRPr lang="en-US" sz="1150" dirty="0"/>
          </a:p>
        </p:txBody>
      </p:sp>
      <p:sp>
        <p:nvSpPr>
          <p:cNvPr id="25" name="Shape 23"/>
          <p:cNvSpPr/>
          <p:nvPr/>
        </p:nvSpPr>
        <p:spPr>
          <a:xfrm>
            <a:off x="8121701" y="3877056"/>
            <a:ext cx="3503066" cy="1883664"/>
          </a:xfrm>
          <a:prstGeom prst="roundRect">
            <a:avLst>
              <a:gd name="adj" fmla="val 4369"/>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6" name="Text 24"/>
          <p:cNvSpPr txBox="1"/>
          <p:nvPr/>
        </p:nvSpPr>
        <p:spPr>
          <a:xfrm>
            <a:off x="8359445" y="4078224"/>
            <a:ext cx="3027578" cy="219456"/>
          </a:xfrm>
          <a:prstGeom prst="rect">
            <a:avLst/>
          </a:prstGeom>
          <a:noFill/>
          <a:ln/>
        </p:spPr>
        <p:txBody>
          <a:bodyPr wrap="square" lIns="0" tIns="0" rIns="0" bIns="0" rtlCol="0" anchor="ctr"/>
          <a:lstStyle/>
          <a:p>
            <a:pPr indent="0" marL="0">
              <a:buNone/>
            </a:pPr>
            <a:r>
              <a:rPr lang="en-US" sz="950" b="1" spc="160" kern="0" dirty="0">
                <a:solidFill>
                  <a:srgbClr val="D97757"/>
                </a:solidFill>
                <a:latin typeface="Calibri" pitchFamily="34" charset="0"/>
                <a:ea typeface="Calibri" pitchFamily="34" charset="-122"/>
                <a:cs typeface="Calibri" pitchFamily="34" charset="-120"/>
              </a:rPr>
              <a:t>DEPLOY</a:t>
            </a:r>
            <a:endParaRPr lang="en-US" sz="950" dirty="0"/>
          </a:p>
        </p:txBody>
      </p:sp>
      <p:sp>
        <p:nvSpPr>
          <p:cNvPr id="27" name="Text 25"/>
          <p:cNvSpPr txBox="1"/>
          <p:nvPr/>
        </p:nvSpPr>
        <p:spPr>
          <a:xfrm>
            <a:off x="8359445" y="4334256"/>
            <a:ext cx="3027578" cy="292608"/>
          </a:xfrm>
          <a:prstGeom prst="rect">
            <a:avLst/>
          </a:prstGeom>
          <a:noFill/>
          <a:ln/>
        </p:spPr>
        <p:txBody>
          <a:bodyPr wrap="square" lIns="0" tIns="0" rIns="0" bIns="0" rtlCol="0" anchor="ctr"/>
          <a:lstStyle/>
          <a:p>
            <a:pPr indent="0" marL="0">
              <a:buNone/>
            </a:pPr>
            <a:r>
              <a:rPr lang="en-US" sz="1450" b="1" dirty="0">
                <a:solidFill>
                  <a:srgbClr val="1C1917"/>
                </a:solidFill>
                <a:latin typeface="Calibri" pitchFamily="34" charset="0"/>
                <a:ea typeface="Calibri" pitchFamily="34" charset="-122"/>
                <a:cs typeface="Calibri" pitchFamily="34" charset="-120"/>
              </a:rPr>
              <a:t>Cutover &amp; training</a:t>
            </a:r>
            <a:endParaRPr lang="en-US" sz="1450" dirty="0"/>
          </a:p>
        </p:txBody>
      </p:sp>
      <p:sp>
        <p:nvSpPr>
          <p:cNvPr id="28" name="Text 26"/>
          <p:cNvSpPr txBox="1"/>
          <p:nvPr/>
        </p:nvSpPr>
        <p:spPr>
          <a:xfrm>
            <a:off x="8359445" y="4681728"/>
            <a:ext cx="3027578" cy="969264"/>
          </a:xfrm>
          <a:prstGeom prst="rect">
            <a:avLst/>
          </a:prstGeom>
          <a:noFill/>
          <a:ln/>
        </p:spPr>
        <p:txBody>
          <a:bodyPr wrap="square" lIns="0" tIns="0" rIns="0" bIns="0" rtlCol="0" anchor="t"/>
          <a:lstStyle/>
          <a:p>
            <a:pPr indent="0" marL="0">
              <a:lnSpc>
                <a:spcPts val="1500"/>
              </a:lnSpc>
              <a:buNone/>
            </a:pPr>
            <a:r>
              <a:rPr lang="en-US" sz="1150" dirty="0">
                <a:solidFill>
                  <a:srgbClr val="6E635C"/>
                </a:solidFill>
                <a:latin typeface="Calibri" pitchFamily="34" charset="0"/>
                <a:ea typeface="Calibri" pitchFamily="34" charset="-122"/>
                <a:cs typeface="Calibri" pitchFamily="34" charset="-120"/>
              </a:rPr>
              <a:t>Cutover checklists, end-user training material, and SOPs written at the right level for the audience.</a:t>
            </a:r>
            <a:endParaRPr lang="en-US" sz="1150" dirty="0"/>
          </a:p>
        </p:txBody>
      </p:sp>
      <p:sp>
        <p:nvSpPr>
          <p:cNvPr id="29" name="Shape 27"/>
          <p:cNvSpPr/>
          <p:nvPr/>
        </p:nvSpPr>
        <p:spPr>
          <a:xfrm>
            <a:off x="566928" y="5888736"/>
            <a:ext cx="11057839" cy="457200"/>
          </a:xfrm>
          <a:prstGeom prst="roundRect">
            <a:avLst>
              <a:gd name="adj" fmla="val 18000"/>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30" name="Text 28"/>
          <p:cNvSpPr txBox="1"/>
          <p:nvPr/>
        </p:nvSpPr>
        <p:spPr>
          <a:xfrm>
            <a:off x="841248" y="5989320"/>
            <a:ext cx="10509199" cy="274320"/>
          </a:xfrm>
          <a:prstGeom prst="rect">
            <a:avLst/>
          </a:prstGeom>
          <a:noFill/>
          <a:ln/>
        </p:spPr>
        <p:txBody>
          <a:bodyPr wrap="square" lIns="0" tIns="0" rIns="0" bIns="0" rtlCol="0" anchor="t"/>
          <a:lstStyle/>
          <a:p>
            <a:pPr indent="0" marL="0">
              <a:lnSpc>
                <a:spcPts val="1900"/>
              </a:lnSpc>
              <a:buNone/>
            </a:pPr>
            <a:r>
              <a:rPr lang="en-US" sz="1200" dirty="0">
                <a:solidFill>
                  <a:srgbClr val="1C1917"/>
                </a:solidFill>
                <a:latin typeface="Calibri" pitchFamily="34" charset="0"/>
                <a:ea typeface="Calibri" pitchFamily="34" charset="-122"/>
                <a:cs typeface="Calibri" pitchFamily="34" charset="-120"/>
              </a:rPr>
              <a:t>Claude produces the draft; you supply the client reality and you sign it off. Verify every config path in your own system.</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PLAYBOOK</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Four prompts you can use tomorrow</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Each one follows the five-part structure: role, task, inputs, constraints, output shape.</a:t>
            </a:r>
            <a:endParaRPr lang="en-US" sz="1350" dirty="0"/>
          </a:p>
        </p:txBody>
      </p:sp>
      <p:sp>
        <p:nvSpPr>
          <p:cNvPr id="5" name="Shape 3"/>
          <p:cNvSpPr/>
          <p:nvPr/>
        </p:nvSpPr>
        <p:spPr>
          <a:xfrm>
            <a:off x="566928" y="1773936"/>
            <a:ext cx="5382616" cy="2157984"/>
          </a:xfrm>
          <a:prstGeom prst="roundRect">
            <a:avLst>
              <a:gd name="adj" fmla="val 3814"/>
            </a:avLst>
          </a:prstGeom>
          <a:solidFill>
            <a:srgbClr val="FFFFFF"/>
          </a:solidFill>
          <a:ln w="12700">
            <a:solidFill>
              <a:srgbClr val="E6E0DA"/>
            </a:solidFill>
            <a:prstDash val="solid"/>
          </a:ln>
        </p:spPr>
      </p:sp>
      <p:sp>
        <p:nvSpPr>
          <p:cNvPr id="6" name="Shape 4"/>
          <p:cNvSpPr/>
          <p:nvPr/>
        </p:nvSpPr>
        <p:spPr>
          <a:xfrm>
            <a:off x="786384" y="1938528"/>
            <a:ext cx="365760" cy="365760"/>
          </a:xfrm>
          <a:prstGeom prst="ellipse">
            <a:avLst/>
          </a:prstGeom>
          <a:solidFill>
            <a:srgbClr val="D97757"/>
          </a:solidFill>
          <a:ln w="12700">
            <a:solidFill>
              <a:srgbClr val="D97757"/>
            </a:solidFill>
            <a:prstDash val="solid"/>
          </a:ln>
        </p:spPr>
      </p:sp>
      <p:sp>
        <p:nvSpPr>
          <p:cNvPr id="7" name="Text 5"/>
          <p:cNvSpPr txBox="1"/>
          <p:nvPr/>
        </p:nvSpPr>
        <p:spPr>
          <a:xfrm>
            <a:off x="78638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261872" y="1965960"/>
            <a:ext cx="4486504" cy="274320"/>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Fit-gap from workshop notes</a:t>
            </a:r>
            <a:endParaRPr lang="en-US" sz="1350" dirty="0"/>
          </a:p>
        </p:txBody>
      </p:sp>
      <p:sp>
        <p:nvSpPr>
          <p:cNvPr id="9" name="Shape 7"/>
          <p:cNvSpPr/>
          <p:nvPr/>
        </p:nvSpPr>
        <p:spPr>
          <a:xfrm>
            <a:off x="786384" y="2340864"/>
            <a:ext cx="4943704" cy="1426464"/>
          </a:xfrm>
          <a:prstGeom prst="roundRect">
            <a:avLst>
              <a:gd name="adj" fmla="val 5769"/>
            </a:avLst>
          </a:prstGeom>
          <a:solidFill>
            <a:srgbClr val="2B2320"/>
          </a:solidFill>
          <a:ln w="12700">
            <a:solidFill>
              <a:srgbClr val="2B2320"/>
            </a:solidFill>
            <a:prstDash val="solid"/>
          </a:ln>
        </p:spPr>
      </p:sp>
      <p:sp>
        <p:nvSpPr>
          <p:cNvPr id="10" name="Text 8"/>
          <p:cNvSpPr txBox="1"/>
          <p:nvPr/>
        </p:nvSpPr>
        <p:spPr>
          <a:xfrm>
            <a:off x="950976" y="2468880"/>
            <a:ext cx="4614520" cy="1170432"/>
          </a:xfrm>
          <a:prstGeom prst="rect">
            <a:avLst/>
          </a:prstGeom>
          <a:noFill/>
          <a:ln/>
        </p:spPr>
        <p:txBody>
          <a:bodyPr wrap="square" lIns="0" tIns="0" rIns="0" bIns="0" rtlCol="0" anchor="t"/>
          <a:lstStyle/>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I am an SD consultant on an S/4HANA 2023</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greenfield rollout. Below are raw notes from</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a pricing workshop.</a:t>
            </a:r>
            <a:endParaRPr lang="en-US" sz="900" dirty="0"/>
          </a:p>
          <a:p>
            <a:pPr indent="0" marL="0">
              <a:lnSpc>
                <a:spcPts val="1200"/>
              </a:lnSpc>
              <a:buNone/>
            </a:pP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Produce a fit-gap table: requirement, standard</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S/4 capability, fit / gap / partial, proposed</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solution, WRICEF type, rough effort. Flag</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anything needing a business decision.</a:t>
            </a:r>
            <a:endParaRPr lang="en-US" sz="900" dirty="0"/>
          </a:p>
        </p:txBody>
      </p:sp>
      <p:sp>
        <p:nvSpPr>
          <p:cNvPr id="11" name="Shape 9"/>
          <p:cNvSpPr/>
          <p:nvPr/>
        </p:nvSpPr>
        <p:spPr>
          <a:xfrm>
            <a:off x="6242152" y="1773936"/>
            <a:ext cx="5382616" cy="2157984"/>
          </a:xfrm>
          <a:prstGeom prst="roundRect">
            <a:avLst>
              <a:gd name="adj" fmla="val 3814"/>
            </a:avLst>
          </a:prstGeom>
          <a:solidFill>
            <a:srgbClr val="FFFFFF"/>
          </a:solidFill>
          <a:ln w="12700">
            <a:solidFill>
              <a:srgbClr val="E6E0DA"/>
            </a:solidFill>
            <a:prstDash val="solid"/>
          </a:ln>
        </p:spPr>
      </p:sp>
      <p:sp>
        <p:nvSpPr>
          <p:cNvPr id="12" name="Shape 10"/>
          <p:cNvSpPr/>
          <p:nvPr/>
        </p:nvSpPr>
        <p:spPr>
          <a:xfrm>
            <a:off x="6461608" y="1938528"/>
            <a:ext cx="365760" cy="365760"/>
          </a:xfrm>
          <a:prstGeom prst="ellipse">
            <a:avLst/>
          </a:prstGeom>
          <a:solidFill>
            <a:srgbClr val="D97757"/>
          </a:solidFill>
          <a:ln w="12700">
            <a:solidFill>
              <a:srgbClr val="D97757"/>
            </a:solidFill>
            <a:prstDash val="solid"/>
          </a:ln>
        </p:spPr>
      </p:sp>
      <p:sp>
        <p:nvSpPr>
          <p:cNvPr id="13" name="Text 11"/>
          <p:cNvSpPr txBox="1"/>
          <p:nvPr/>
        </p:nvSpPr>
        <p:spPr>
          <a:xfrm>
            <a:off x="6461608"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6937096" y="1965960"/>
            <a:ext cx="4486504" cy="274320"/>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Functional specification</a:t>
            </a:r>
            <a:endParaRPr lang="en-US" sz="1350" dirty="0"/>
          </a:p>
        </p:txBody>
      </p:sp>
      <p:sp>
        <p:nvSpPr>
          <p:cNvPr id="15" name="Shape 13"/>
          <p:cNvSpPr/>
          <p:nvPr/>
        </p:nvSpPr>
        <p:spPr>
          <a:xfrm>
            <a:off x="6461608" y="2340864"/>
            <a:ext cx="4943704" cy="1426464"/>
          </a:xfrm>
          <a:prstGeom prst="roundRect">
            <a:avLst>
              <a:gd name="adj" fmla="val 5769"/>
            </a:avLst>
          </a:prstGeom>
          <a:solidFill>
            <a:srgbClr val="2B2320"/>
          </a:solidFill>
          <a:ln w="12700">
            <a:solidFill>
              <a:srgbClr val="2B2320"/>
            </a:solidFill>
            <a:prstDash val="solid"/>
          </a:ln>
        </p:spPr>
      </p:sp>
      <p:sp>
        <p:nvSpPr>
          <p:cNvPr id="16" name="Text 14"/>
          <p:cNvSpPr txBox="1"/>
          <p:nvPr/>
        </p:nvSpPr>
        <p:spPr>
          <a:xfrm>
            <a:off x="6626200" y="2468880"/>
            <a:ext cx="4614520" cy="1170432"/>
          </a:xfrm>
          <a:prstGeom prst="rect">
            <a:avLst/>
          </a:prstGeom>
          <a:noFill/>
          <a:ln/>
        </p:spPr>
        <p:txBody>
          <a:bodyPr wrap="square" lIns="0" tIns="0" rIns="0" bIns="0" rtlCol="0" anchor="t"/>
          <a:lstStyle/>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Write a functional spec for a report listing</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open sales orders past their confirmed</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delivery date.</a:t>
            </a:r>
            <a:endParaRPr lang="en-US" sz="900" dirty="0"/>
          </a:p>
          <a:p>
            <a:pPr indent="0" marL="0">
              <a:lnSpc>
                <a:spcPts val="1200"/>
              </a:lnSpc>
              <a:buNone/>
            </a:pP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Cover: purpose, selection screen fields, source</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tables and key fields, output layout, selection</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logic, error handling, authorisation objects,</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and the test cases the developer must satisfy.</a:t>
            </a:r>
            <a:endParaRPr lang="en-US" sz="900" dirty="0"/>
          </a:p>
        </p:txBody>
      </p:sp>
      <p:sp>
        <p:nvSpPr>
          <p:cNvPr id="17" name="Shape 15"/>
          <p:cNvSpPr/>
          <p:nvPr/>
        </p:nvSpPr>
        <p:spPr>
          <a:xfrm>
            <a:off x="566928" y="4151376"/>
            <a:ext cx="5382616" cy="2157984"/>
          </a:xfrm>
          <a:prstGeom prst="roundRect">
            <a:avLst>
              <a:gd name="adj" fmla="val 3814"/>
            </a:avLst>
          </a:prstGeom>
          <a:solidFill>
            <a:srgbClr val="FFFFFF"/>
          </a:solidFill>
          <a:ln w="12700">
            <a:solidFill>
              <a:srgbClr val="E6E0DA"/>
            </a:solidFill>
            <a:prstDash val="solid"/>
          </a:ln>
        </p:spPr>
      </p:sp>
      <p:sp>
        <p:nvSpPr>
          <p:cNvPr id="18" name="Shape 16"/>
          <p:cNvSpPr/>
          <p:nvPr/>
        </p:nvSpPr>
        <p:spPr>
          <a:xfrm>
            <a:off x="786384" y="4315968"/>
            <a:ext cx="365760" cy="365760"/>
          </a:xfrm>
          <a:prstGeom prst="ellipse">
            <a:avLst/>
          </a:prstGeom>
          <a:solidFill>
            <a:srgbClr val="D97757"/>
          </a:solidFill>
          <a:ln w="12700">
            <a:solidFill>
              <a:srgbClr val="D97757"/>
            </a:solidFill>
            <a:prstDash val="solid"/>
          </a:ln>
        </p:spPr>
      </p:sp>
      <p:sp>
        <p:nvSpPr>
          <p:cNvPr id="19" name="Text 17"/>
          <p:cNvSpPr txBox="1"/>
          <p:nvPr/>
        </p:nvSpPr>
        <p:spPr>
          <a:xfrm>
            <a:off x="786384" y="43159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261872" y="4343400"/>
            <a:ext cx="4486504" cy="274320"/>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Config rationale</a:t>
            </a:r>
            <a:endParaRPr lang="en-US" sz="1350" dirty="0"/>
          </a:p>
        </p:txBody>
      </p:sp>
      <p:sp>
        <p:nvSpPr>
          <p:cNvPr id="21" name="Shape 19"/>
          <p:cNvSpPr/>
          <p:nvPr/>
        </p:nvSpPr>
        <p:spPr>
          <a:xfrm>
            <a:off x="786384" y="4718304"/>
            <a:ext cx="4943704" cy="1426464"/>
          </a:xfrm>
          <a:prstGeom prst="roundRect">
            <a:avLst>
              <a:gd name="adj" fmla="val 5769"/>
            </a:avLst>
          </a:prstGeom>
          <a:solidFill>
            <a:srgbClr val="2B2320"/>
          </a:solidFill>
          <a:ln w="12700">
            <a:solidFill>
              <a:srgbClr val="2B2320"/>
            </a:solidFill>
            <a:prstDash val="solid"/>
          </a:ln>
        </p:spPr>
      </p:sp>
      <p:sp>
        <p:nvSpPr>
          <p:cNvPr id="22" name="Text 20"/>
          <p:cNvSpPr txBox="1"/>
          <p:nvPr/>
        </p:nvSpPr>
        <p:spPr>
          <a:xfrm>
            <a:off x="950976" y="4846320"/>
            <a:ext cx="4614520" cy="1170432"/>
          </a:xfrm>
          <a:prstGeom prst="rect">
            <a:avLst/>
          </a:prstGeom>
          <a:noFill/>
          <a:ln/>
        </p:spPr>
        <p:txBody>
          <a:bodyPr wrap="square" lIns="0" tIns="0" rIns="0" bIns="0" rtlCol="0" anchor="t"/>
          <a:lstStyle/>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Explain the copy control setting for quotation</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to sales order at item level: what each field</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in the routine group controls, and what breaks</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downstream if it is wrong.</a:t>
            </a:r>
            <a:endParaRPr lang="en-US" sz="900" dirty="0"/>
          </a:p>
          <a:p>
            <a:pPr indent="0" marL="0">
              <a:lnSpc>
                <a:spcPts val="1200"/>
              </a:lnSpc>
              <a:buNone/>
            </a:pP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Then write two paragraphs of config rationale</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for a blueprint, and list what I must verify</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in my own system.</a:t>
            </a:r>
            <a:endParaRPr lang="en-US" sz="900" dirty="0"/>
          </a:p>
        </p:txBody>
      </p:sp>
      <p:sp>
        <p:nvSpPr>
          <p:cNvPr id="23" name="Shape 21"/>
          <p:cNvSpPr/>
          <p:nvPr/>
        </p:nvSpPr>
        <p:spPr>
          <a:xfrm>
            <a:off x="6242152" y="4151376"/>
            <a:ext cx="5382616" cy="2157984"/>
          </a:xfrm>
          <a:prstGeom prst="roundRect">
            <a:avLst>
              <a:gd name="adj" fmla="val 3814"/>
            </a:avLst>
          </a:prstGeom>
          <a:solidFill>
            <a:srgbClr val="FFFFFF"/>
          </a:solidFill>
          <a:ln w="12700">
            <a:solidFill>
              <a:srgbClr val="E6E0DA"/>
            </a:solidFill>
            <a:prstDash val="solid"/>
          </a:ln>
        </p:spPr>
      </p:sp>
      <p:sp>
        <p:nvSpPr>
          <p:cNvPr id="24" name="Shape 22"/>
          <p:cNvSpPr/>
          <p:nvPr/>
        </p:nvSpPr>
        <p:spPr>
          <a:xfrm>
            <a:off x="6461608" y="4315968"/>
            <a:ext cx="365760" cy="365760"/>
          </a:xfrm>
          <a:prstGeom prst="ellipse">
            <a:avLst/>
          </a:prstGeom>
          <a:solidFill>
            <a:srgbClr val="D97757"/>
          </a:solidFill>
          <a:ln w="12700">
            <a:solidFill>
              <a:srgbClr val="D97757"/>
            </a:solidFill>
            <a:prstDash val="solid"/>
          </a:ln>
        </p:spPr>
      </p:sp>
      <p:sp>
        <p:nvSpPr>
          <p:cNvPr id="25" name="Text 23"/>
          <p:cNvSpPr txBox="1"/>
          <p:nvPr/>
        </p:nvSpPr>
        <p:spPr>
          <a:xfrm>
            <a:off x="6461608" y="43159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6937096" y="4343400"/>
            <a:ext cx="4486504" cy="274320"/>
          </a:xfrm>
          <a:prstGeom prst="rect">
            <a:avLst/>
          </a:prstGeom>
          <a:noFill/>
          <a:ln/>
        </p:spPr>
        <p:txBody>
          <a:bodyPr wrap="square" lIns="0" tIns="0" rIns="0" bIns="0" rtlCol="0" anchor="ctr"/>
          <a:lstStyle/>
          <a:p>
            <a:pPr indent="0" marL="0">
              <a:buNone/>
            </a:pPr>
            <a:r>
              <a:rPr lang="en-US" sz="1350" b="1" dirty="0">
                <a:solidFill>
                  <a:srgbClr val="1C1917"/>
                </a:solidFill>
                <a:latin typeface="Calibri" pitchFamily="34" charset="0"/>
                <a:ea typeface="Calibri" pitchFamily="34" charset="-122"/>
                <a:cs typeface="Calibri" pitchFamily="34" charset="-120"/>
              </a:rPr>
              <a:t>UAT script</a:t>
            </a:r>
            <a:endParaRPr lang="en-US" sz="1350" dirty="0"/>
          </a:p>
        </p:txBody>
      </p:sp>
      <p:sp>
        <p:nvSpPr>
          <p:cNvPr id="27" name="Shape 25"/>
          <p:cNvSpPr/>
          <p:nvPr/>
        </p:nvSpPr>
        <p:spPr>
          <a:xfrm>
            <a:off x="6461608" y="4718304"/>
            <a:ext cx="4943704" cy="1426464"/>
          </a:xfrm>
          <a:prstGeom prst="roundRect">
            <a:avLst>
              <a:gd name="adj" fmla="val 5769"/>
            </a:avLst>
          </a:prstGeom>
          <a:solidFill>
            <a:srgbClr val="2B2320"/>
          </a:solidFill>
          <a:ln w="12700">
            <a:solidFill>
              <a:srgbClr val="2B2320"/>
            </a:solidFill>
            <a:prstDash val="solid"/>
          </a:ln>
        </p:spPr>
      </p:sp>
      <p:sp>
        <p:nvSpPr>
          <p:cNvPr id="28" name="Text 26"/>
          <p:cNvSpPr txBox="1"/>
          <p:nvPr/>
        </p:nvSpPr>
        <p:spPr>
          <a:xfrm>
            <a:off x="6626200" y="4846320"/>
            <a:ext cx="4614520" cy="1170432"/>
          </a:xfrm>
          <a:prstGeom prst="rect">
            <a:avLst/>
          </a:prstGeom>
          <a:noFill/>
          <a:ln/>
        </p:spPr>
        <p:txBody>
          <a:bodyPr wrap="square" lIns="0" tIns="0" rIns="0" bIns="0" rtlCol="0" anchor="t"/>
          <a:lstStyle/>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Generate a UAT script for order-to-cash credit</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blocking. Columns: step, action, test data,</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expected result, actual, pass/fail.</a:t>
            </a:r>
            <a:endParaRPr lang="en-US" sz="900" dirty="0"/>
          </a:p>
          <a:p>
            <a:pPr indent="0" marL="0">
              <a:lnSpc>
                <a:spcPts val="1200"/>
              </a:lnSpc>
              <a:buNone/>
            </a:pP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Include the boundary case exactly at the credit</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limit, one release path, one rejection path.</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Write it for a business user, not a consultant.</a:t>
            </a:r>
            <a:endParaRPr lang="en-US" sz="900" dirty="0"/>
          </a:p>
          <a:p>
            <a:pPr indent="0" marL="0">
              <a:lnSpc>
                <a:spcPts val="1200"/>
              </a:lnSpc>
              <a:buNone/>
            </a:pPr>
            <a:r>
              <a:rPr lang="en-US" sz="900" dirty="0">
                <a:solidFill>
                  <a:srgbClr val="E8DFD8"/>
                </a:solidFill>
                <a:latin typeface="Consolas" pitchFamily="34" charset="0"/>
                <a:ea typeface="Consolas" pitchFamily="34" charset="-122"/>
                <a:cs typeface="Consolas" pitchFamily="34" charset="-120"/>
              </a:rPr>
              <a:t>Fifteen steps maximum.</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FOR THE DEVELOPER</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ABAP, BTP and OData services</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Claude Code works on files in a repository, so the first job is getting your objects into one.</a:t>
            </a:r>
            <a:endParaRPr lang="en-US" sz="1350" dirty="0"/>
          </a:p>
        </p:txBody>
      </p:sp>
      <p:sp>
        <p:nvSpPr>
          <p:cNvPr id="5" name="Shape 3"/>
          <p:cNvSpPr/>
          <p:nvPr/>
        </p:nvSpPr>
        <p:spPr>
          <a:xfrm>
            <a:off x="566928" y="1755648"/>
            <a:ext cx="11057839"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768096" y="1911096"/>
            <a:ext cx="1517904" cy="420624"/>
          </a:xfrm>
          <a:prstGeom prst="roundRect">
            <a:avLst>
              <a:gd name="adj" fmla="val 17391"/>
            </a:avLst>
          </a:prstGeom>
          <a:solidFill>
            <a:srgbClr val="D97757"/>
          </a:solidFill>
          <a:ln/>
        </p:spPr>
      </p:sp>
      <p:sp>
        <p:nvSpPr>
          <p:cNvPr id="7" name="Text 5"/>
          <p:cNvSpPr txBox="1"/>
          <p:nvPr/>
        </p:nvSpPr>
        <p:spPr>
          <a:xfrm>
            <a:off x="768096" y="1911096"/>
            <a:ext cx="151790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ABAP</a:t>
            </a:r>
            <a:endParaRPr lang="en-US" sz="1100" dirty="0"/>
          </a:p>
        </p:txBody>
      </p:sp>
      <p:sp>
        <p:nvSpPr>
          <p:cNvPr id="8" name="Text 6"/>
          <p:cNvSpPr txBox="1"/>
          <p:nvPr/>
        </p:nvSpPr>
        <p:spPr>
          <a:xfrm>
            <a:off x="2450592" y="1874520"/>
            <a:ext cx="8936431" cy="493776"/>
          </a:xfrm>
          <a:prstGeom prst="rect">
            <a:avLst/>
          </a:prstGeom>
          <a:noFill/>
          <a:ln/>
        </p:spPr>
        <p:txBody>
          <a:bodyPr wrap="square" lIns="0" tIns="0" rIns="0" bIns="0" rtlCol="0" anchor="ctr"/>
          <a:lstStyle/>
          <a:p>
            <a:pPr indent="0" marL="0">
              <a:lnSpc>
                <a:spcPts val="1450"/>
              </a:lnSpc>
              <a:buNone/>
            </a:pPr>
            <a:r>
              <a:rPr lang="en-US" sz="1100" dirty="0">
                <a:solidFill>
                  <a:srgbClr val="1C1917"/>
                </a:solidFill>
                <a:latin typeface="Calibri" pitchFamily="34" charset="0"/>
                <a:ea typeface="Calibri" pitchFamily="34" charset="-122"/>
                <a:cs typeface="Calibri" pitchFamily="34" charset="-120"/>
              </a:rPr>
              <a:t>Classes, reports, BAdI implementations, AMDP, ABAP Unit tests. Strong at review: SELECT inside LOOP, missing AUTHORITY-CHECK, internal table performance.</a:t>
            </a:r>
            <a:endParaRPr lang="en-US" sz="1100" dirty="0"/>
          </a:p>
        </p:txBody>
      </p:sp>
      <p:sp>
        <p:nvSpPr>
          <p:cNvPr id="9" name="Shape 7"/>
          <p:cNvSpPr/>
          <p:nvPr/>
        </p:nvSpPr>
        <p:spPr>
          <a:xfrm>
            <a:off x="566928" y="2578608"/>
            <a:ext cx="11057839"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0" name="Shape 8"/>
          <p:cNvSpPr/>
          <p:nvPr/>
        </p:nvSpPr>
        <p:spPr>
          <a:xfrm>
            <a:off x="768096" y="2734056"/>
            <a:ext cx="1517904" cy="420624"/>
          </a:xfrm>
          <a:prstGeom prst="roundRect">
            <a:avLst>
              <a:gd name="adj" fmla="val 17391"/>
            </a:avLst>
          </a:prstGeom>
          <a:solidFill>
            <a:srgbClr val="4A6B5D"/>
          </a:solidFill>
          <a:ln/>
        </p:spPr>
      </p:sp>
      <p:sp>
        <p:nvSpPr>
          <p:cNvPr id="11" name="Text 9"/>
          <p:cNvSpPr txBox="1"/>
          <p:nvPr/>
        </p:nvSpPr>
        <p:spPr>
          <a:xfrm>
            <a:off x="768096" y="2734056"/>
            <a:ext cx="151790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CDS</a:t>
            </a:r>
            <a:endParaRPr lang="en-US" sz="1100" dirty="0"/>
          </a:p>
        </p:txBody>
      </p:sp>
      <p:sp>
        <p:nvSpPr>
          <p:cNvPr id="12" name="Text 10"/>
          <p:cNvSpPr txBox="1"/>
          <p:nvPr/>
        </p:nvSpPr>
        <p:spPr>
          <a:xfrm>
            <a:off x="2450592" y="2697480"/>
            <a:ext cx="8936431" cy="493776"/>
          </a:xfrm>
          <a:prstGeom prst="rect">
            <a:avLst/>
          </a:prstGeom>
          <a:noFill/>
          <a:ln/>
        </p:spPr>
        <p:txBody>
          <a:bodyPr wrap="square" lIns="0" tIns="0" rIns="0" bIns="0" rtlCol="0" anchor="ctr"/>
          <a:lstStyle/>
          <a:p>
            <a:pPr indent="0" marL="0">
              <a:lnSpc>
                <a:spcPts val="1450"/>
              </a:lnSpc>
              <a:buNone/>
            </a:pPr>
            <a:r>
              <a:rPr lang="en-US" sz="1100" dirty="0">
                <a:solidFill>
                  <a:srgbClr val="1C1917"/>
                </a:solidFill>
                <a:latin typeface="Calibri" pitchFamily="34" charset="0"/>
                <a:ea typeface="Calibri" pitchFamily="34" charset="-122"/>
                <a:cs typeface="Calibri" pitchFamily="34" charset="-120"/>
              </a:rPr>
              <a:t>View entities, associations and annotations — @UI, @Search, @Consumption. Good at explaining why a Fiori Elements list rendered the way it did.</a:t>
            </a:r>
            <a:endParaRPr lang="en-US" sz="1100" dirty="0"/>
          </a:p>
        </p:txBody>
      </p:sp>
      <p:sp>
        <p:nvSpPr>
          <p:cNvPr id="13" name="Shape 11"/>
          <p:cNvSpPr/>
          <p:nvPr/>
        </p:nvSpPr>
        <p:spPr>
          <a:xfrm>
            <a:off x="566928" y="3401568"/>
            <a:ext cx="11057839"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4" name="Shape 12"/>
          <p:cNvSpPr/>
          <p:nvPr/>
        </p:nvSpPr>
        <p:spPr>
          <a:xfrm>
            <a:off x="768096" y="3557016"/>
            <a:ext cx="1517904" cy="420624"/>
          </a:xfrm>
          <a:prstGeom prst="roundRect">
            <a:avLst>
              <a:gd name="adj" fmla="val 17391"/>
            </a:avLst>
          </a:prstGeom>
          <a:solidFill>
            <a:srgbClr val="A64B2A"/>
          </a:solidFill>
          <a:ln/>
        </p:spPr>
      </p:sp>
      <p:sp>
        <p:nvSpPr>
          <p:cNvPr id="15" name="Text 13"/>
          <p:cNvSpPr txBox="1"/>
          <p:nvPr/>
        </p:nvSpPr>
        <p:spPr>
          <a:xfrm>
            <a:off x="768096" y="3557016"/>
            <a:ext cx="151790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RAP</a:t>
            </a:r>
            <a:endParaRPr lang="en-US" sz="1100" dirty="0"/>
          </a:p>
        </p:txBody>
      </p:sp>
      <p:sp>
        <p:nvSpPr>
          <p:cNvPr id="16" name="Text 14"/>
          <p:cNvSpPr txBox="1"/>
          <p:nvPr/>
        </p:nvSpPr>
        <p:spPr>
          <a:xfrm>
            <a:off x="2450592" y="3520440"/>
            <a:ext cx="8936431" cy="493776"/>
          </a:xfrm>
          <a:prstGeom prst="rect">
            <a:avLst/>
          </a:prstGeom>
          <a:noFill/>
          <a:ln/>
        </p:spPr>
        <p:txBody>
          <a:bodyPr wrap="square" lIns="0" tIns="0" rIns="0" bIns="0" rtlCol="0" anchor="ctr"/>
          <a:lstStyle/>
          <a:p>
            <a:pPr indent="0" marL="0">
              <a:lnSpc>
                <a:spcPts val="1450"/>
              </a:lnSpc>
              <a:buNone/>
            </a:pPr>
            <a:r>
              <a:rPr lang="en-US" sz="1100" dirty="0">
                <a:solidFill>
                  <a:srgbClr val="1C1917"/>
                </a:solidFill>
                <a:latin typeface="Calibri" pitchFamily="34" charset="0"/>
                <a:ea typeface="Calibri" pitchFamily="34" charset="-122"/>
                <a:cs typeface="Calibri" pitchFamily="34" charset="-120"/>
              </a:rPr>
              <a:t>Behaviour definitions and implementations, managed vs unmanaged, draft handling, determinations, validations, actions, and OData V4 service binding.</a:t>
            </a:r>
            <a:endParaRPr lang="en-US" sz="1100" dirty="0"/>
          </a:p>
        </p:txBody>
      </p:sp>
      <p:sp>
        <p:nvSpPr>
          <p:cNvPr id="17" name="Shape 15"/>
          <p:cNvSpPr/>
          <p:nvPr/>
        </p:nvSpPr>
        <p:spPr>
          <a:xfrm>
            <a:off x="566928" y="4224528"/>
            <a:ext cx="11057839"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8" name="Shape 16"/>
          <p:cNvSpPr/>
          <p:nvPr/>
        </p:nvSpPr>
        <p:spPr>
          <a:xfrm>
            <a:off x="768096" y="4379976"/>
            <a:ext cx="1517904" cy="420624"/>
          </a:xfrm>
          <a:prstGeom prst="roundRect">
            <a:avLst>
              <a:gd name="adj" fmla="val 17391"/>
            </a:avLst>
          </a:prstGeom>
          <a:solidFill>
            <a:srgbClr val="B08324"/>
          </a:solidFill>
          <a:ln/>
        </p:spPr>
      </p:sp>
      <p:sp>
        <p:nvSpPr>
          <p:cNvPr id="19" name="Text 17"/>
          <p:cNvSpPr txBox="1"/>
          <p:nvPr/>
        </p:nvSpPr>
        <p:spPr>
          <a:xfrm>
            <a:off x="768096" y="4379976"/>
            <a:ext cx="151790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Gateway (V2)</a:t>
            </a:r>
            <a:endParaRPr lang="en-US" sz="1100" dirty="0"/>
          </a:p>
        </p:txBody>
      </p:sp>
      <p:sp>
        <p:nvSpPr>
          <p:cNvPr id="20" name="Text 18"/>
          <p:cNvSpPr txBox="1"/>
          <p:nvPr/>
        </p:nvSpPr>
        <p:spPr>
          <a:xfrm>
            <a:off x="2450592" y="4343400"/>
            <a:ext cx="8936431" cy="493776"/>
          </a:xfrm>
          <a:prstGeom prst="rect">
            <a:avLst/>
          </a:prstGeom>
          <a:noFill/>
          <a:ln/>
        </p:spPr>
        <p:txBody>
          <a:bodyPr wrap="square" lIns="0" tIns="0" rIns="0" bIns="0" rtlCol="0" anchor="ctr"/>
          <a:lstStyle/>
          <a:p>
            <a:pPr indent="0" marL="0">
              <a:lnSpc>
                <a:spcPts val="1450"/>
              </a:lnSpc>
              <a:buNone/>
            </a:pPr>
            <a:r>
              <a:rPr lang="en-US" sz="1100" dirty="0">
                <a:solidFill>
                  <a:srgbClr val="1C1917"/>
                </a:solidFill>
                <a:latin typeface="Calibri" pitchFamily="34" charset="0"/>
                <a:ea typeface="Calibri" pitchFamily="34" charset="-122"/>
                <a:cs typeface="Calibri" pitchFamily="34" charset="-120"/>
              </a:rPr>
              <a:t>SEGW projects and DPC_EXT redefinitions — GET_ENTITYSET, CREATE_ENTITY, deep insert — plus handling of $filter, $expand and paging.</a:t>
            </a:r>
            <a:endParaRPr lang="en-US" sz="1100" dirty="0"/>
          </a:p>
        </p:txBody>
      </p:sp>
      <p:sp>
        <p:nvSpPr>
          <p:cNvPr id="21" name="Shape 19"/>
          <p:cNvSpPr/>
          <p:nvPr/>
        </p:nvSpPr>
        <p:spPr>
          <a:xfrm>
            <a:off x="566928" y="5047488"/>
            <a:ext cx="11057839" cy="731520"/>
          </a:xfrm>
          <a:prstGeom prst="roundRect">
            <a:avLst>
              <a:gd name="adj" fmla="val 1125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2" name="Shape 20"/>
          <p:cNvSpPr/>
          <p:nvPr/>
        </p:nvSpPr>
        <p:spPr>
          <a:xfrm>
            <a:off x="768096" y="5202936"/>
            <a:ext cx="1517904" cy="420624"/>
          </a:xfrm>
          <a:prstGeom prst="roundRect">
            <a:avLst>
              <a:gd name="adj" fmla="val 17391"/>
            </a:avLst>
          </a:prstGeom>
          <a:solidFill>
            <a:srgbClr val="4A6B5D"/>
          </a:solidFill>
          <a:ln/>
        </p:spPr>
      </p:sp>
      <p:sp>
        <p:nvSpPr>
          <p:cNvPr id="23" name="Text 21"/>
          <p:cNvSpPr txBox="1"/>
          <p:nvPr/>
        </p:nvSpPr>
        <p:spPr>
          <a:xfrm>
            <a:off x="768096" y="5202936"/>
            <a:ext cx="151790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BTP / CAP</a:t>
            </a:r>
            <a:endParaRPr lang="en-US" sz="1100" dirty="0"/>
          </a:p>
        </p:txBody>
      </p:sp>
      <p:sp>
        <p:nvSpPr>
          <p:cNvPr id="24" name="Text 22"/>
          <p:cNvSpPr txBox="1"/>
          <p:nvPr/>
        </p:nvSpPr>
        <p:spPr>
          <a:xfrm>
            <a:off x="2450592" y="5166360"/>
            <a:ext cx="8936431" cy="493776"/>
          </a:xfrm>
          <a:prstGeom prst="rect">
            <a:avLst/>
          </a:prstGeom>
          <a:noFill/>
          <a:ln/>
        </p:spPr>
        <p:txBody>
          <a:bodyPr wrap="square" lIns="0" tIns="0" rIns="0" bIns="0" rtlCol="0" anchor="ctr"/>
          <a:lstStyle/>
          <a:p>
            <a:pPr indent="0" marL="0">
              <a:lnSpc>
                <a:spcPts val="1450"/>
              </a:lnSpc>
              <a:buNone/>
            </a:pPr>
            <a:r>
              <a:rPr lang="en-US" sz="1100" dirty="0">
                <a:solidFill>
                  <a:srgbClr val="1C1917"/>
                </a:solidFill>
                <a:latin typeface="Calibri" pitchFamily="34" charset="0"/>
                <a:ea typeface="Calibri" pitchFamily="34" charset="-122"/>
                <a:cs typeface="Calibri" pitchFamily="34" charset="-120"/>
              </a:rPr>
              <a:t>CAP services in Node or Java: .cds models, service handlers, xs-security.json, mta.yaml, approuter and destination config, CF deployment.</a:t>
            </a:r>
            <a:endParaRPr lang="en-US" sz="1100" dirty="0"/>
          </a:p>
        </p:txBody>
      </p:sp>
      <p:sp>
        <p:nvSpPr>
          <p:cNvPr id="25" name="Shape 23"/>
          <p:cNvSpPr/>
          <p:nvPr/>
        </p:nvSpPr>
        <p:spPr>
          <a:xfrm>
            <a:off x="566928" y="5870448"/>
            <a:ext cx="11057839" cy="475488"/>
          </a:xfrm>
          <a:prstGeom prst="roundRect">
            <a:avLst>
              <a:gd name="adj" fmla="val 17308"/>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6" name="Text 24"/>
          <p:cNvSpPr txBox="1"/>
          <p:nvPr/>
        </p:nvSpPr>
        <p:spPr>
          <a:xfrm>
            <a:off x="841248" y="5971032"/>
            <a:ext cx="10509199" cy="292608"/>
          </a:xfrm>
          <a:prstGeom prst="rect">
            <a:avLst/>
          </a:prstGeom>
          <a:noFill/>
          <a:ln/>
        </p:spPr>
        <p:txBody>
          <a:bodyPr wrap="square" lIns="0" tIns="0" rIns="0" bIns="0" rtlCol="0" anchor="t"/>
          <a:lstStyle/>
          <a:p>
            <a:pPr indent="0" marL="0">
              <a:lnSpc>
                <a:spcPts val="1900"/>
              </a:lnSpc>
              <a:buNone/>
            </a:pPr>
            <a:r>
              <a:rPr lang="en-US" sz="1200" b="1" dirty="0">
                <a:solidFill>
                  <a:srgbClr val="1C1917"/>
                </a:solidFill>
                <a:latin typeface="Calibri" pitchFamily="34" charset="0"/>
                <a:ea typeface="Calibri" pitchFamily="34" charset="-122"/>
                <a:cs typeface="Calibri" pitchFamily="34" charset="-120"/>
              </a:rPr>
              <a:t>Claude cannot log into your system or run a transport. Everything it writes is a draft you activate, test and transport yourself.</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A WORKING LOOP FOR ODATA</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From abapGit to a working OData service</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On-stack ABAP needs a bridge; anything on BTP is already a normal Git repository.</a:t>
            </a:r>
            <a:endParaRPr lang="en-US" sz="1350" dirty="0"/>
          </a:p>
        </p:txBody>
      </p:sp>
      <p:sp>
        <p:nvSpPr>
          <p:cNvPr id="5" name="Text 3"/>
          <p:cNvSpPr txBox="1"/>
          <p:nvPr/>
        </p:nvSpPr>
        <p:spPr>
          <a:xfrm>
            <a:off x="566928" y="1810512"/>
            <a:ext cx="5943600" cy="274320"/>
          </a:xfrm>
          <a:prstGeom prst="rect">
            <a:avLst/>
          </a:prstGeom>
          <a:noFill/>
          <a:ln/>
        </p:spPr>
        <p:txBody>
          <a:bodyPr wrap="square" lIns="0" tIns="0" rIns="0" bIns="0" rtlCol="0" anchor="ctr"/>
          <a:lstStyle/>
          <a:p>
            <a:pPr indent="0" marL="0">
              <a:buNone/>
            </a:pPr>
            <a:r>
              <a:rPr lang="en-US" sz="1400" b="1" dirty="0">
                <a:solidFill>
                  <a:srgbClr val="1C1917"/>
                </a:solidFill>
                <a:latin typeface="Calibri" pitchFamily="34" charset="0"/>
                <a:ea typeface="Calibri" pitchFamily="34" charset="-122"/>
                <a:cs typeface="Calibri" pitchFamily="34" charset="-120"/>
              </a:rPr>
              <a:t>On-stack ABAP (S/4 or ECC)</a:t>
            </a:r>
            <a:endParaRPr lang="en-US" sz="1400" dirty="0"/>
          </a:p>
        </p:txBody>
      </p:sp>
      <p:sp>
        <p:nvSpPr>
          <p:cNvPr id="6" name="Shape 4"/>
          <p:cNvSpPr/>
          <p:nvPr/>
        </p:nvSpPr>
        <p:spPr>
          <a:xfrm>
            <a:off x="585216" y="2176272"/>
            <a:ext cx="384048" cy="384048"/>
          </a:xfrm>
          <a:prstGeom prst="ellipse">
            <a:avLst/>
          </a:prstGeom>
          <a:solidFill>
            <a:srgbClr val="D97757"/>
          </a:solidFill>
          <a:ln w="12700">
            <a:solidFill>
              <a:srgbClr val="D97757"/>
            </a:solidFill>
            <a:prstDash val="solid"/>
          </a:ln>
        </p:spPr>
      </p:sp>
      <p:sp>
        <p:nvSpPr>
          <p:cNvPr id="7" name="Text 5"/>
          <p:cNvSpPr txBox="1"/>
          <p:nvPr/>
        </p:nvSpPr>
        <p:spPr>
          <a:xfrm>
            <a:off x="585216" y="217627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133856" y="2203704"/>
            <a:ext cx="5340096" cy="512064"/>
          </a:xfrm>
          <a:prstGeom prst="rect">
            <a:avLst/>
          </a:prstGeom>
          <a:noFill/>
          <a:ln/>
        </p:spPr>
        <p:txBody>
          <a:bodyPr wrap="square" lIns="0" tIns="0" rIns="0" bIns="0" rtlCol="0" anchor="t"/>
          <a:lstStyle/>
          <a:p>
            <a:pPr indent="0" marL="0">
              <a:lnSpc>
                <a:spcPts val="1600"/>
              </a:lnSpc>
              <a:buNone/>
            </a:pPr>
            <a:r>
              <a:rPr lang="en-US" sz="1200" dirty="0">
                <a:solidFill>
                  <a:srgbClr val="1C1917"/>
                </a:solidFill>
                <a:latin typeface="Calibri" pitchFamily="34" charset="0"/>
                <a:ea typeface="Calibri" pitchFamily="34" charset="-122"/>
                <a:cs typeface="Calibri" pitchFamily="34" charset="-120"/>
              </a:rPr>
              <a:t>Export the package with abapGit into a Git repository</a:t>
            </a:r>
            <a:endParaRPr lang="en-US" sz="1200" dirty="0"/>
          </a:p>
        </p:txBody>
      </p:sp>
      <p:sp>
        <p:nvSpPr>
          <p:cNvPr id="9" name="Shape 7"/>
          <p:cNvSpPr/>
          <p:nvPr/>
        </p:nvSpPr>
        <p:spPr>
          <a:xfrm>
            <a:off x="585216" y="2798064"/>
            <a:ext cx="384048" cy="384048"/>
          </a:xfrm>
          <a:prstGeom prst="ellipse">
            <a:avLst/>
          </a:prstGeom>
          <a:solidFill>
            <a:srgbClr val="D97757"/>
          </a:solidFill>
          <a:ln w="12700">
            <a:solidFill>
              <a:srgbClr val="D97757"/>
            </a:solidFill>
            <a:prstDash val="solid"/>
          </a:ln>
        </p:spPr>
      </p:sp>
      <p:sp>
        <p:nvSpPr>
          <p:cNvPr id="10" name="Text 8"/>
          <p:cNvSpPr txBox="1"/>
          <p:nvPr/>
        </p:nvSpPr>
        <p:spPr>
          <a:xfrm>
            <a:off x="585216" y="27980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133856" y="2825496"/>
            <a:ext cx="5340096" cy="512064"/>
          </a:xfrm>
          <a:prstGeom prst="rect">
            <a:avLst/>
          </a:prstGeom>
          <a:noFill/>
          <a:ln/>
        </p:spPr>
        <p:txBody>
          <a:bodyPr wrap="square" lIns="0" tIns="0" rIns="0" bIns="0" rtlCol="0" anchor="t"/>
          <a:lstStyle/>
          <a:p>
            <a:pPr indent="0" marL="0">
              <a:lnSpc>
                <a:spcPts val="1600"/>
              </a:lnSpc>
              <a:buNone/>
            </a:pPr>
            <a:r>
              <a:rPr lang="en-US" sz="1200" dirty="0">
                <a:solidFill>
                  <a:srgbClr val="1C1917"/>
                </a:solidFill>
                <a:latin typeface="Calibri" pitchFamily="34" charset="0"/>
                <a:ea typeface="Calibri" pitchFamily="34" charset="-122"/>
                <a:cs typeface="Calibri" pitchFamily="34" charset="-120"/>
              </a:rPr>
              <a:t>Run Claude Code against that repository — it can now read every object</a:t>
            </a:r>
            <a:endParaRPr lang="en-US" sz="1200" dirty="0"/>
          </a:p>
        </p:txBody>
      </p:sp>
      <p:sp>
        <p:nvSpPr>
          <p:cNvPr id="12" name="Shape 10"/>
          <p:cNvSpPr/>
          <p:nvPr/>
        </p:nvSpPr>
        <p:spPr>
          <a:xfrm>
            <a:off x="585216" y="3419856"/>
            <a:ext cx="384048" cy="384048"/>
          </a:xfrm>
          <a:prstGeom prst="ellipse">
            <a:avLst/>
          </a:prstGeom>
          <a:solidFill>
            <a:srgbClr val="D97757"/>
          </a:solidFill>
          <a:ln w="12700">
            <a:solidFill>
              <a:srgbClr val="D97757"/>
            </a:solidFill>
            <a:prstDash val="solid"/>
          </a:ln>
        </p:spPr>
      </p:sp>
      <p:sp>
        <p:nvSpPr>
          <p:cNvPr id="13" name="Text 11"/>
          <p:cNvSpPr txBox="1"/>
          <p:nvPr/>
        </p:nvSpPr>
        <p:spPr>
          <a:xfrm>
            <a:off x="585216" y="34198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1133856" y="3447288"/>
            <a:ext cx="5340096" cy="512064"/>
          </a:xfrm>
          <a:prstGeom prst="rect">
            <a:avLst/>
          </a:prstGeom>
          <a:noFill/>
          <a:ln/>
        </p:spPr>
        <p:txBody>
          <a:bodyPr wrap="square" lIns="0" tIns="0" rIns="0" bIns="0" rtlCol="0" anchor="t"/>
          <a:lstStyle/>
          <a:p>
            <a:pPr indent="0" marL="0">
              <a:lnSpc>
                <a:spcPts val="1600"/>
              </a:lnSpc>
              <a:buNone/>
            </a:pPr>
            <a:r>
              <a:rPr lang="en-US" sz="1200" dirty="0">
                <a:solidFill>
                  <a:srgbClr val="1C1917"/>
                </a:solidFill>
                <a:latin typeface="Calibri" pitchFamily="34" charset="0"/>
                <a:ea typeface="Calibri" pitchFamily="34" charset="-122"/>
                <a:cs typeface="Calibri" pitchFamily="34" charset="-120"/>
              </a:rPr>
              <a:t>Ask for the CDS view entity and annotations first, then the behaviour definition</a:t>
            </a:r>
            <a:endParaRPr lang="en-US" sz="1200" dirty="0"/>
          </a:p>
        </p:txBody>
      </p:sp>
      <p:sp>
        <p:nvSpPr>
          <p:cNvPr id="15" name="Shape 13"/>
          <p:cNvSpPr/>
          <p:nvPr/>
        </p:nvSpPr>
        <p:spPr>
          <a:xfrm>
            <a:off x="585216" y="4041648"/>
            <a:ext cx="384048" cy="384048"/>
          </a:xfrm>
          <a:prstGeom prst="ellipse">
            <a:avLst/>
          </a:prstGeom>
          <a:solidFill>
            <a:srgbClr val="D97757"/>
          </a:solidFill>
          <a:ln w="12700">
            <a:solidFill>
              <a:srgbClr val="D97757"/>
            </a:solidFill>
            <a:prstDash val="solid"/>
          </a:ln>
        </p:spPr>
      </p:sp>
      <p:sp>
        <p:nvSpPr>
          <p:cNvPr id="16" name="Text 14"/>
          <p:cNvSpPr txBox="1"/>
          <p:nvPr/>
        </p:nvSpPr>
        <p:spPr>
          <a:xfrm>
            <a:off x="585216" y="4041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txBox="1"/>
          <p:nvPr/>
        </p:nvSpPr>
        <p:spPr>
          <a:xfrm>
            <a:off x="1133856" y="4069080"/>
            <a:ext cx="5340096" cy="512064"/>
          </a:xfrm>
          <a:prstGeom prst="rect">
            <a:avLst/>
          </a:prstGeom>
          <a:noFill/>
          <a:ln/>
        </p:spPr>
        <p:txBody>
          <a:bodyPr wrap="square" lIns="0" tIns="0" rIns="0" bIns="0" rtlCol="0" anchor="t"/>
          <a:lstStyle/>
          <a:p>
            <a:pPr indent="0" marL="0">
              <a:lnSpc>
                <a:spcPts val="1600"/>
              </a:lnSpc>
              <a:buNone/>
            </a:pPr>
            <a:r>
              <a:rPr lang="en-US" sz="1200" dirty="0">
                <a:solidFill>
                  <a:srgbClr val="1C1917"/>
                </a:solidFill>
                <a:latin typeface="Calibri" pitchFamily="34" charset="0"/>
                <a:ea typeface="Calibri" pitchFamily="34" charset="-122"/>
                <a:cs typeface="Calibri" pitchFamily="34" charset="-120"/>
              </a:rPr>
              <a:t>Review the diff, pull back through abapGit, activate in ADT</a:t>
            </a:r>
            <a:endParaRPr lang="en-US" sz="1200" dirty="0"/>
          </a:p>
        </p:txBody>
      </p:sp>
      <p:sp>
        <p:nvSpPr>
          <p:cNvPr id="18" name="Shape 16"/>
          <p:cNvSpPr/>
          <p:nvPr/>
        </p:nvSpPr>
        <p:spPr>
          <a:xfrm>
            <a:off x="585216" y="4663440"/>
            <a:ext cx="384048" cy="384048"/>
          </a:xfrm>
          <a:prstGeom prst="ellipse">
            <a:avLst/>
          </a:prstGeom>
          <a:solidFill>
            <a:srgbClr val="D97757"/>
          </a:solidFill>
          <a:ln w="12700">
            <a:solidFill>
              <a:srgbClr val="D97757"/>
            </a:solidFill>
            <a:prstDash val="solid"/>
          </a:ln>
        </p:spPr>
      </p:sp>
      <p:sp>
        <p:nvSpPr>
          <p:cNvPr id="19" name="Text 17"/>
          <p:cNvSpPr txBox="1"/>
          <p:nvPr/>
        </p:nvSpPr>
        <p:spPr>
          <a:xfrm>
            <a:off x="585216" y="46634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8"/>
          <p:cNvSpPr txBox="1"/>
          <p:nvPr/>
        </p:nvSpPr>
        <p:spPr>
          <a:xfrm>
            <a:off x="1133856" y="4690872"/>
            <a:ext cx="5340096" cy="512064"/>
          </a:xfrm>
          <a:prstGeom prst="rect">
            <a:avLst/>
          </a:prstGeom>
          <a:noFill/>
          <a:ln/>
        </p:spPr>
        <p:txBody>
          <a:bodyPr wrap="square" lIns="0" tIns="0" rIns="0" bIns="0" rtlCol="0" anchor="t"/>
          <a:lstStyle/>
          <a:p>
            <a:pPr indent="0" marL="0">
              <a:lnSpc>
                <a:spcPts val="1600"/>
              </a:lnSpc>
              <a:buNone/>
            </a:pPr>
            <a:r>
              <a:rPr lang="en-US" sz="1200" dirty="0">
                <a:solidFill>
                  <a:srgbClr val="1C1917"/>
                </a:solidFill>
                <a:latin typeface="Calibri" pitchFamily="34" charset="0"/>
                <a:ea typeface="Calibri" pitchFamily="34" charset="-122"/>
                <a:cs typeface="Calibri" pitchFamily="34" charset="-120"/>
              </a:rPr>
              <a:t>Run ABAP Unit, then bind the service and test in the gateway client</a:t>
            </a:r>
            <a:endParaRPr lang="en-US" sz="1200" dirty="0"/>
          </a:p>
        </p:txBody>
      </p:sp>
      <p:sp>
        <p:nvSpPr>
          <p:cNvPr id="21" name="Shape 19"/>
          <p:cNvSpPr/>
          <p:nvPr/>
        </p:nvSpPr>
        <p:spPr>
          <a:xfrm>
            <a:off x="585216" y="5285232"/>
            <a:ext cx="384048" cy="384048"/>
          </a:xfrm>
          <a:prstGeom prst="ellipse">
            <a:avLst/>
          </a:prstGeom>
          <a:solidFill>
            <a:srgbClr val="D97757"/>
          </a:solidFill>
          <a:ln w="12700">
            <a:solidFill>
              <a:srgbClr val="D97757"/>
            </a:solidFill>
            <a:prstDash val="solid"/>
          </a:ln>
        </p:spPr>
      </p:sp>
      <p:sp>
        <p:nvSpPr>
          <p:cNvPr id="22" name="Text 20"/>
          <p:cNvSpPr txBox="1"/>
          <p:nvPr/>
        </p:nvSpPr>
        <p:spPr>
          <a:xfrm>
            <a:off x="585216" y="52852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3" name="Text 21"/>
          <p:cNvSpPr txBox="1"/>
          <p:nvPr/>
        </p:nvSpPr>
        <p:spPr>
          <a:xfrm>
            <a:off x="1133856" y="5312664"/>
            <a:ext cx="5340096" cy="512064"/>
          </a:xfrm>
          <a:prstGeom prst="rect">
            <a:avLst/>
          </a:prstGeom>
          <a:noFill/>
          <a:ln/>
        </p:spPr>
        <p:txBody>
          <a:bodyPr wrap="square" lIns="0" tIns="0" rIns="0" bIns="0" rtlCol="0" anchor="t"/>
          <a:lstStyle/>
          <a:p>
            <a:pPr indent="0" marL="0">
              <a:lnSpc>
                <a:spcPts val="1600"/>
              </a:lnSpc>
              <a:buNone/>
            </a:pPr>
            <a:r>
              <a:rPr lang="en-US" sz="1200" dirty="0">
                <a:solidFill>
                  <a:srgbClr val="1C1917"/>
                </a:solidFill>
                <a:latin typeface="Calibri" pitchFamily="34" charset="0"/>
                <a:ea typeface="Calibri" pitchFamily="34" charset="-122"/>
                <a:cs typeface="Calibri" pitchFamily="34" charset="-120"/>
              </a:rPr>
              <a:t>Attach to a transport yourself — never automate that step</a:t>
            </a:r>
            <a:endParaRPr lang="en-US" sz="1200" dirty="0"/>
          </a:p>
        </p:txBody>
      </p:sp>
      <p:sp>
        <p:nvSpPr>
          <p:cNvPr id="24" name="Text 22"/>
          <p:cNvSpPr txBox="1"/>
          <p:nvPr/>
        </p:nvSpPr>
        <p:spPr>
          <a:xfrm>
            <a:off x="6839712" y="1810512"/>
            <a:ext cx="4785055" cy="274320"/>
          </a:xfrm>
          <a:prstGeom prst="rect">
            <a:avLst/>
          </a:prstGeom>
          <a:noFill/>
          <a:ln/>
        </p:spPr>
        <p:txBody>
          <a:bodyPr wrap="square" lIns="0" tIns="0" rIns="0" bIns="0" rtlCol="0" anchor="ctr"/>
          <a:lstStyle/>
          <a:p>
            <a:pPr indent="0" marL="0">
              <a:buNone/>
            </a:pPr>
            <a:r>
              <a:rPr lang="en-US" sz="1400" b="1" dirty="0">
                <a:solidFill>
                  <a:srgbClr val="1C1917"/>
                </a:solidFill>
                <a:latin typeface="Calibri" pitchFamily="34" charset="0"/>
                <a:ea typeface="Calibri" pitchFamily="34" charset="-122"/>
                <a:cs typeface="Calibri" pitchFamily="34" charset="-120"/>
              </a:rPr>
              <a:t>A prompt that works</a:t>
            </a:r>
            <a:endParaRPr lang="en-US" sz="1400" dirty="0"/>
          </a:p>
        </p:txBody>
      </p:sp>
      <p:sp>
        <p:nvSpPr>
          <p:cNvPr id="25" name="Shape 23"/>
          <p:cNvSpPr/>
          <p:nvPr/>
        </p:nvSpPr>
        <p:spPr>
          <a:xfrm>
            <a:off x="6839712" y="2176272"/>
            <a:ext cx="4785055" cy="3200400"/>
          </a:xfrm>
          <a:prstGeom prst="roundRect">
            <a:avLst>
              <a:gd name="adj" fmla="val 2571"/>
            </a:avLst>
          </a:prstGeom>
          <a:solidFill>
            <a:srgbClr val="2B2320"/>
          </a:solidFill>
          <a:ln w="12700">
            <a:solidFill>
              <a:srgbClr val="2B2320"/>
            </a:solidFill>
            <a:prstDash val="solid"/>
          </a:ln>
        </p:spPr>
      </p:sp>
      <p:sp>
        <p:nvSpPr>
          <p:cNvPr id="26" name="Text 24"/>
          <p:cNvSpPr txBox="1"/>
          <p:nvPr/>
        </p:nvSpPr>
        <p:spPr>
          <a:xfrm>
            <a:off x="7004304" y="2304288"/>
            <a:ext cx="4455871" cy="2944368"/>
          </a:xfrm>
          <a:prstGeom prst="rect">
            <a:avLst/>
          </a:prstGeom>
          <a:noFill/>
          <a:ln/>
        </p:spPr>
        <p:txBody>
          <a:bodyPr wrap="square" lIns="0" tIns="0" rIns="0" bIns="0" rtlCol="0" anchor="t"/>
          <a:lstStyle/>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Read src/zcds_visit_plan.ddls.asddls</a:t>
            </a: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and its behaviour definition.</a:t>
            </a:r>
            <a:endParaRPr lang="en-US" sz="900" dirty="0"/>
          </a:p>
          <a:p>
            <a:pPr indent="0" marL="0">
              <a:lnSpc>
                <a:spcPts val="1250"/>
              </a:lnSpc>
              <a:buNone/>
            </a:pP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Expose it as a read-write OData V4</a:t>
            </a: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service using RAP, managed with draft.</a:t>
            </a: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Required:</a:t>
            </a: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 validation: planned date not in past</a:t>
            </a: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 determination: default status OPEN</a:t>
            </a: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 action: Complete, sets status and</a:t>
            </a: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  stamps the completion time</a:t>
            </a: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 @UI annotations for a list report</a:t>
            </a:r>
            <a:endParaRPr lang="en-US" sz="900" dirty="0"/>
          </a:p>
          <a:p>
            <a:pPr indent="0" marL="0">
              <a:lnSpc>
                <a:spcPts val="1250"/>
              </a:lnSpc>
              <a:buNone/>
            </a:pP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Constraints: ABAP for Cloud syntax, no</a:t>
            </a: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direct table access outside the</a:t>
            </a: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behaviour pool, ABAP Unit tests for</a:t>
            </a: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the validation and the action.</a:t>
            </a:r>
            <a:endParaRPr lang="en-US" sz="900" dirty="0"/>
          </a:p>
          <a:p>
            <a:pPr indent="0" marL="0">
              <a:lnSpc>
                <a:spcPts val="1250"/>
              </a:lnSpc>
              <a:buNone/>
            </a:pPr>
            <a:endParaRPr lang="en-US" sz="900" dirty="0"/>
          </a:p>
          <a:p>
            <a:pPr indent="0" marL="0">
              <a:lnSpc>
                <a:spcPts val="1250"/>
              </a:lnSpc>
              <a:buNone/>
            </a:pPr>
            <a:r>
              <a:rPr lang="en-US" sz="900" dirty="0">
                <a:solidFill>
                  <a:srgbClr val="E8DFD8"/>
                </a:solidFill>
                <a:latin typeface="Consolas" pitchFamily="34" charset="0"/>
                <a:ea typeface="Consolas" pitchFamily="34" charset="-122"/>
                <a:cs typeface="Consolas" pitchFamily="34" charset="-120"/>
              </a:rPr>
              <a:t>Show me the plan before writing code.</a:t>
            </a:r>
            <a:endParaRPr lang="en-US" sz="900" dirty="0"/>
          </a:p>
        </p:txBody>
      </p:sp>
      <p:sp>
        <p:nvSpPr>
          <p:cNvPr id="27" name="Shape 25"/>
          <p:cNvSpPr/>
          <p:nvPr/>
        </p:nvSpPr>
        <p:spPr>
          <a:xfrm>
            <a:off x="6839712" y="5504688"/>
            <a:ext cx="4785055" cy="713232"/>
          </a:xfrm>
          <a:prstGeom prst="roundRect">
            <a:avLst>
              <a:gd name="adj" fmla="val 11538"/>
            </a:avLst>
          </a:prstGeom>
          <a:solidFill>
            <a:srgbClr val="F4EDE7"/>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8" name="Text 26"/>
          <p:cNvSpPr txBox="1"/>
          <p:nvPr/>
        </p:nvSpPr>
        <p:spPr>
          <a:xfrm>
            <a:off x="7059168" y="5650992"/>
            <a:ext cx="4346143" cy="457200"/>
          </a:xfrm>
          <a:prstGeom prst="rect">
            <a:avLst/>
          </a:prstGeom>
          <a:noFill/>
          <a:ln/>
        </p:spPr>
        <p:txBody>
          <a:bodyPr wrap="square" lIns="0" tIns="0" rIns="0" bIns="0" rtlCol="0" anchor="t"/>
          <a:lstStyle/>
          <a:p>
            <a:pPr indent="0" marL="0">
              <a:lnSpc>
                <a:spcPts val="1900"/>
              </a:lnSpc>
              <a:buNone/>
            </a:pPr>
            <a:r>
              <a:rPr lang="en-US" sz="1100" b="1" dirty="0">
                <a:solidFill>
                  <a:srgbClr val="1C1917"/>
                </a:solidFill>
                <a:latin typeface="Calibri" pitchFamily="34" charset="0"/>
                <a:ea typeface="Calibri" pitchFamily="34" charset="-122"/>
                <a:cs typeface="Calibri" pitchFamily="34" charset="-120"/>
              </a:rPr>
              <a:t>Note the last line. On anything touching a released service, always ask for the plan first.</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GUARDRAILS</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What to check, and what never to paste</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These apply to every example in this deck, and they are non-negotiable on client work.</a:t>
            </a:r>
            <a:endParaRPr lang="en-US" sz="1350" dirty="0"/>
          </a:p>
        </p:txBody>
      </p:sp>
      <p:sp>
        <p:nvSpPr>
          <p:cNvPr id="5" name="Shape 3"/>
          <p:cNvSpPr/>
          <p:nvPr/>
        </p:nvSpPr>
        <p:spPr>
          <a:xfrm>
            <a:off x="566928" y="1792224"/>
            <a:ext cx="5373472" cy="4114800"/>
          </a:xfrm>
          <a:prstGeom prst="roundRect">
            <a:avLst>
              <a:gd name="adj" fmla="val 200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822960" y="1993392"/>
            <a:ext cx="2286000" cy="420624"/>
          </a:xfrm>
          <a:prstGeom prst="roundRect">
            <a:avLst>
              <a:gd name="adj" fmla="val 19565"/>
            </a:avLst>
          </a:prstGeom>
          <a:solidFill>
            <a:srgbClr val="C0392B"/>
          </a:solidFill>
          <a:ln/>
        </p:spPr>
      </p:sp>
      <p:sp>
        <p:nvSpPr>
          <p:cNvPr id="7" name="Text 5"/>
          <p:cNvSpPr txBox="1"/>
          <p:nvPr/>
        </p:nvSpPr>
        <p:spPr>
          <a:xfrm>
            <a:off x="822960" y="1993392"/>
            <a:ext cx="2286000" cy="42062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NEVER PASTE</a:t>
            </a:r>
            <a:endParaRPr lang="en-US" sz="1100" dirty="0"/>
          </a:p>
        </p:txBody>
      </p:sp>
      <p:sp>
        <p:nvSpPr>
          <p:cNvPr id="8" name="Text 6"/>
          <p:cNvSpPr txBox="1"/>
          <p:nvPr/>
        </p:nvSpPr>
        <p:spPr>
          <a:xfrm>
            <a:off x="822960" y="2542032"/>
            <a:ext cx="4861408" cy="2139696"/>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150" dirty="0">
                <a:solidFill>
                  <a:srgbClr val="6E635C"/>
                </a:solidFill>
                <a:latin typeface="Calibri" pitchFamily="34" charset="0"/>
                <a:ea typeface="Calibri" pitchFamily="34" charset="-122"/>
                <a:cs typeface="Calibri" pitchFamily="34" charset="-120"/>
              </a:rPr>
              <a:t>Production extracts with customer or employee personal data</a:t>
            </a:r>
            <a:endParaRPr lang="en-US" sz="1150" dirty="0"/>
          </a:p>
          <a:p>
            <a:pPr marL="342900" indent="-342900">
              <a:lnSpc>
                <a:spcPts val="1800"/>
              </a:lnSpc>
              <a:spcAft>
                <a:spcPts val="1100"/>
              </a:spcAft>
              <a:buSzPct val="100000"/>
              <a:buChar char="•"/>
            </a:pPr>
            <a:r>
              <a:rPr lang="en-US" sz="1150" dirty="0">
                <a:solidFill>
                  <a:srgbClr val="6E635C"/>
                </a:solidFill>
                <a:latin typeface="Calibri" pitchFamily="34" charset="0"/>
                <a:ea typeface="Calibri" pitchFamily="34" charset="-122"/>
                <a:cs typeface="Calibri" pitchFamily="34" charset="-120"/>
              </a:rPr>
              <a:t>Bank details, tax identifiers, salary or payroll data</a:t>
            </a:r>
            <a:endParaRPr lang="en-US" sz="1150" dirty="0"/>
          </a:p>
          <a:p>
            <a:pPr marL="342900" indent="-342900">
              <a:lnSpc>
                <a:spcPts val="1800"/>
              </a:lnSpc>
              <a:spcAft>
                <a:spcPts val="1100"/>
              </a:spcAft>
              <a:buSzPct val="100000"/>
              <a:buChar char="•"/>
            </a:pPr>
            <a:r>
              <a:rPr lang="en-US" sz="1150" dirty="0">
                <a:solidFill>
                  <a:srgbClr val="6E635C"/>
                </a:solidFill>
                <a:latin typeface="Calibri" pitchFamily="34" charset="0"/>
                <a:ea typeface="Calibri" pitchFamily="34" charset="-122"/>
                <a:cs typeface="Calibri" pitchFamily="34" charset="-120"/>
              </a:rPr>
              <a:t>Credentials, service keys, destination secrets, API tokens</a:t>
            </a:r>
            <a:endParaRPr lang="en-US" sz="1150" dirty="0"/>
          </a:p>
          <a:p>
            <a:pPr marL="342900" indent="-342900">
              <a:lnSpc>
                <a:spcPts val="1800"/>
              </a:lnSpc>
              <a:spcAft>
                <a:spcPts val="1100"/>
              </a:spcAft>
              <a:buSzPct val="100000"/>
              <a:buChar char="•"/>
            </a:pPr>
            <a:r>
              <a:rPr lang="en-US" sz="1150" dirty="0">
                <a:solidFill>
                  <a:srgbClr val="6E635C"/>
                </a:solidFill>
                <a:latin typeface="Calibri" pitchFamily="34" charset="0"/>
                <a:ea typeface="Calibri" pitchFamily="34" charset="-122"/>
                <a:cs typeface="Calibri" pitchFamily="34" charset="-120"/>
              </a:rPr>
              <a:t>Client documents your NDA or your organisation's AI policy does not cover</a:t>
            </a:r>
            <a:endParaRPr lang="en-US" sz="1150" dirty="0"/>
          </a:p>
        </p:txBody>
      </p:sp>
      <p:sp>
        <p:nvSpPr>
          <p:cNvPr id="9" name="Shape 7"/>
          <p:cNvSpPr/>
          <p:nvPr/>
        </p:nvSpPr>
        <p:spPr>
          <a:xfrm>
            <a:off x="822960" y="4773168"/>
            <a:ext cx="4861408" cy="932688"/>
          </a:xfrm>
          <a:prstGeom prst="roundRect">
            <a:avLst>
              <a:gd name="adj" fmla="val 8824"/>
            </a:avLst>
          </a:prstGeom>
          <a:solidFill>
            <a:srgbClr val="F4EDE7"/>
          </a:solidFill>
          <a:ln w="12700">
            <a:solidFill>
              <a:srgbClr val="E6E0DA"/>
            </a:solidFill>
            <a:prstDash val="solid"/>
          </a:ln>
        </p:spPr>
      </p:sp>
      <p:sp>
        <p:nvSpPr>
          <p:cNvPr id="10" name="Text 8"/>
          <p:cNvSpPr txBox="1"/>
          <p:nvPr/>
        </p:nvSpPr>
        <p:spPr>
          <a:xfrm>
            <a:off x="1024128" y="4919472"/>
            <a:ext cx="4459072" cy="658368"/>
          </a:xfrm>
          <a:prstGeom prst="rect">
            <a:avLst/>
          </a:prstGeom>
          <a:noFill/>
          <a:ln/>
        </p:spPr>
        <p:txBody>
          <a:bodyPr wrap="square" lIns="0" tIns="0" rIns="0" bIns="0" rtlCol="0" anchor="t"/>
          <a:lstStyle/>
          <a:p>
            <a:pPr indent="0" marL="0">
              <a:lnSpc>
                <a:spcPts val="1500"/>
              </a:lnSpc>
              <a:buNone/>
            </a:pPr>
            <a:r>
              <a:rPr lang="en-US" sz="1150" dirty="0">
                <a:solidFill>
                  <a:srgbClr val="1C1917"/>
                </a:solidFill>
                <a:latin typeface="Calibri" pitchFamily="34" charset="0"/>
                <a:ea typeface="Calibri" pitchFamily="34" charset="-122"/>
                <a:cs typeface="Calibri" pitchFamily="34" charset="-120"/>
              </a:rPr>
              <a:t>Use anonymised or synthetic samples instead. Two or three fabricated rows convey a structure — you rarely need the real data.</a:t>
            </a:r>
            <a:endParaRPr lang="en-US" sz="1150" dirty="0"/>
          </a:p>
        </p:txBody>
      </p:sp>
      <p:sp>
        <p:nvSpPr>
          <p:cNvPr id="11" name="Shape 9"/>
          <p:cNvSpPr/>
          <p:nvPr/>
        </p:nvSpPr>
        <p:spPr>
          <a:xfrm>
            <a:off x="6251296" y="1792224"/>
            <a:ext cx="5373472" cy="4114800"/>
          </a:xfrm>
          <a:prstGeom prst="roundRect">
            <a:avLst>
              <a:gd name="adj" fmla="val 2000"/>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2" name="Shape 10"/>
          <p:cNvSpPr/>
          <p:nvPr/>
        </p:nvSpPr>
        <p:spPr>
          <a:xfrm>
            <a:off x="6507328" y="1993392"/>
            <a:ext cx="2286000" cy="420624"/>
          </a:xfrm>
          <a:prstGeom prst="roundRect">
            <a:avLst>
              <a:gd name="adj" fmla="val 19565"/>
            </a:avLst>
          </a:prstGeom>
          <a:solidFill>
            <a:srgbClr val="4A6B5D"/>
          </a:solidFill>
          <a:ln/>
        </p:spPr>
      </p:sp>
      <p:sp>
        <p:nvSpPr>
          <p:cNvPr id="13" name="Text 11"/>
          <p:cNvSpPr txBox="1"/>
          <p:nvPr/>
        </p:nvSpPr>
        <p:spPr>
          <a:xfrm>
            <a:off x="6507328" y="1993392"/>
            <a:ext cx="2286000" cy="42062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ALWAYS VERIFY</a:t>
            </a:r>
            <a:endParaRPr lang="en-US" sz="1100" dirty="0"/>
          </a:p>
        </p:txBody>
      </p:sp>
      <p:sp>
        <p:nvSpPr>
          <p:cNvPr id="14" name="Text 12"/>
          <p:cNvSpPr txBox="1"/>
          <p:nvPr/>
        </p:nvSpPr>
        <p:spPr>
          <a:xfrm>
            <a:off x="6507328" y="2542032"/>
            <a:ext cx="4861408" cy="2139696"/>
          </a:xfrm>
          <a:prstGeom prst="rect">
            <a:avLst/>
          </a:prstGeom>
          <a:noFill/>
          <a:ln/>
        </p:spPr>
        <p:txBody>
          <a:bodyPr wrap="square" lIns="0" tIns="0" rIns="0" bIns="0" rtlCol="0" anchor="ctr"/>
          <a:lstStyle/>
          <a:p>
            <a:pPr marL="342900" indent="-342900">
              <a:lnSpc>
                <a:spcPts val="1800"/>
              </a:lnSpc>
              <a:spcAft>
                <a:spcPts val="1100"/>
              </a:spcAft>
              <a:buSzPct val="100000"/>
              <a:buChar char="•"/>
            </a:pPr>
            <a:r>
              <a:rPr lang="en-US" sz="1150" dirty="0">
                <a:solidFill>
                  <a:srgbClr val="6E635C"/>
                </a:solidFill>
                <a:latin typeface="Calibri" pitchFamily="34" charset="0"/>
                <a:ea typeface="Calibri" pitchFamily="34" charset="-122"/>
                <a:cs typeface="Calibri" pitchFamily="34" charset="-120"/>
              </a:rPr>
              <a:t>IMG paths, transaction codes, table and field names — against your own system</a:t>
            </a:r>
            <a:endParaRPr lang="en-US" sz="1150" dirty="0"/>
          </a:p>
          <a:p>
            <a:pPr marL="342900" indent="-342900">
              <a:lnSpc>
                <a:spcPts val="1800"/>
              </a:lnSpc>
              <a:spcAft>
                <a:spcPts val="1100"/>
              </a:spcAft>
              <a:buSzPct val="100000"/>
              <a:buChar char="•"/>
            </a:pPr>
            <a:r>
              <a:rPr lang="en-US" sz="1150" dirty="0">
                <a:solidFill>
                  <a:srgbClr val="6E635C"/>
                </a:solidFill>
                <a:latin typeface="Calibri" pitchFamily="34" charset="0"/>
                <a:ea typeface="Calibri" pitchFamily="34" charset="-122"/>
                <a:cs typeface="Calibri" pitchFamily="34" charset="-120"/>
              </a:rPr>
              <a:t>Generated ABAP for performance and authorisation, before any transport</a:t>
            </a:r>
            <a:endParaRPr lang="en-US" sz="1150" dirty="0"/>
          </a:p>
          <a:p>
            <a:pPr marL="342900" indent="-342900">
              <a:lnSpc>
                <a:spcPts val="1800"/>
              </a:lnSpc>
              <a:spcAft>
                <a:spcPts val="1100"/>
              </a:spcAft>
              <a:buSzPct val="100000"/>
              <a:buChar char="•"/>
            </a:pPr>
            <a:r>
              <a:rPr lang="en-US" sz="1150" dirty="0">
                <a:solidFill>
                  <a:srgbClr val="6E635C"/>
                </a:solidFill>
                <a:latin typeface="Calibri" pitchFamily="34" charset="0"/>
                <a:ea typeface="Calibri" pitchFamily="34" charset="-122"/>
                <a:cs typeface="Calibri" pitchFamily="34" charset="-120"/>
              </a:rPr>
              <a:t>That a quoted note, standard object or release actually exists</a:t>
            </a:r>
            <a:endParaRPr lang="en-US" sz="1150" dirty="0"/>
          </a:p>
          <a:p>
            <a:pPr marL="342900" indent="-342900">
              <a:lnSpc>
                <a:spcPts val="1800"/>
              </a:lnSpc>
              <a:spcAft>
                <a:spcPts val="1100"/>
              </a:spcAft>
              <a:buSzPct val="100000"/>
              <a:buChar char="•"/>
            </a:pPr>
            <a:r>
              <a:rPr lang="en-US" sz="1150" dirty="0">
                <a:solidFill>
                  <a:srgbClr val="6E635C"/>
                </a:solidFill>
                <a:latin typeface="Calibri" pitchFamily="34" charset="0"/>
                <a:ea typeface="Calibri" pitchFamily="34" charset="-122"/>
                <a:cs typeface="Calibri" pitchFamily="34" charset="-120"/>
              </a:rPr>
              <a:t>The diff line by line, and the test results, with your own eyes</a:t>
            </a:r>
            <a:endParaRPr lang="en-US" sz="1150" dirty="0"/>
          </a:p>
        </p:txBody>
      </p:sp>
      <p:sp>
        <p:nvSpPr>
          <p:cNvPr id="15" name="Shape 13"/>
          <p:cNvSpPr/>
          <p:nvPr/>
        </p:nvSpPr>
        <p:spPr>
          <a:xfrm>
            <a:off x="6507328" y="4773168"/>
            <a:ext cx="4861408" cy="932688"/>
          </a:xfrm>
          <a:prstGeom prst="roundRect">
            <a:avLst>
              <a:gd name="adj" fmla="val 8824"/>
            </a:avLst>
          </a:prstGeom>
          <a:solidFill>
            <a:srgbClr val="F4EDE7"/>
          </a:solidFill>
          <a:ln w="12700">
            <a:solidFill>
              <a:srgbClr val="E6E0DA"/>
            </a:solidFill>
            <a:prstDash val="solid"/>
          </a:ln>
        </p:spPr>
      </p:sp>
      <p:sp>
        <p:nvSpPr>
          <p:cNvPr id="16" name="Text 14"/>
          <p:cNvSpPr txBox="1"/>
          <p:nvPr/>
        </p:nvSpPr>
        <p:spPr>
          <a:xfrm>
            <a:off x="6708496" y="4919472"/>
            <a:ext cx="4459072" cy="658368"/>
          </a:xfrm>
          <a:prstGeom prst="rect">
            <a:avLst/>
          </a:prstGeom>
          <a:noFill/>
          <a:ln/>
        </p:spPr>
        <p:txBody>
          <a:bodyPr wrap="square" lIns="0" tIns="0" rIns="0" bIns="0" rtlCol="0" anchor="t"/>
          <a:lstStyle/>
          <a:p>
            <a:pPr indent="0" marL="0">
              <a:lnSpc>
                <a:spcPts val="1500"/>
              </a:lnSpc>
              <a:buNone/>
            </a:pPr>
            <a:r>
              <a:rPr lang="en-US" sz="1150" dirty="0">
                <a:solidFill>
                  <a:srgbClr val="1C1917"/>
                </a:solidFill>
                <a:latin typeface="Calibri" pitchFamily="34" charset="0"/>
                <a:ea typeface="Calibri" pitchFamily="34" charset="-122"/>
                <a:cs typeface="Calibri" pitchFamily="34" charset="-120"/>
              </a:rPr>
              <a:t>Claude is confident by default. Confidence is not evidence — ask what it is unsure about, and what it assumed.</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9F7"/>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050" b="1" spc="200" kern="0" dirty="0">
                <a:solidFill>
                  <a:srgbClr val="A64B2A"/>
                </a:solidFill>
                <a:latin typeface="Calibri" pitchFamily="34" charset="0"/>
                <a:ea typeface="Calibri" pitchFamily="34" charset="-122"/>
                <a:cs typeface="Calibri" pitchFamily="34" charset="-120"/>
              </a:rPr>
              <a:t>PUTTING IT INTO PRACTICE</a:t>
            </a:r>
            <a:endParaRPr lang="en-US" sz="1050" dirty="0"/>
          </a:p>
        </p:txBody>
      </p:sp>
      <p:sp>
        <p:nvSpPr>
          <p:cNvPr id="3" name="Text 1"/>
          <p:cNvSpPr txBox="1"/>
          <p:nvPr/>
        </p:nvSpPr>
        <p:spPr>
          <a:xfrm>
            <a:off x="566928" y="640080"/>
            <a:ext cx="11057839" cy="566928"/>
          </a:xfrm>
          <a:prstGeom prst="rect">
            <a:avLst/>
          </a:prstGeom>
          <a:noFill/>
          <a:ln/>
        </p:spPr>
        <p:txBody>
          <a:bodyPr wrap="square" lIns="0" tIns="0" rIns="0" bIns="0" rtlCol="0" anchor="t"/>
          <a:lstStyle/>
          <a:p>
            <a:pPr indent="0" marL="0">
              <a:buNone/>
            </a:pPr>
            <a:r>
              <a:rPr lang="en-US" sz="3100" b="1" dirty="0">
                <a:solidFill>
                  <a:srgbClr val="1C1917"/>
                </a:solidFill>
                <a:latin typeface="Cambria" pitchFamily="34" charset="0"/>
                <a:ea typeface="Cambria" pitchFamily="34" charset="-122"/>
                <a:cs typeface="Cambria" pitchFamily="34" charset="-120"/>
              </a:rPr>
              <a:t>A thirty-day adoption plan</a:t>
            </a:r>
            <a:endParaRPr lang="en-US" sz="3100" dirty="0"/>
          </a:p>
        </p:txBody>
      </p:sp>
      <p:sp>
        <p:nvSpPr>
          <p:cNvPr id="4" name="Text 2"/>
          <p:cNvSpPr txBox="1"/>
          <p:nvPr/>
        </p:nvSpPr>
        <p:spPr>
          <a:xfrm>
            <a:off x="566928" y="1225296"/>
            <a:ext cx="11057839" cy="310896"/>
          </a:xfrm>
          <a:prstGeom prst="rect">
            <a:avLst/>
          </a:prstGeom>
          <a:noFill/>
          <a:ln/>
        </p:spPr>
        <p:txBody>
          <a:bodyPr wrap="square" lIns="0" tIns="0" rIns="0" bIns="0" rtlCol="0" anchor="ctr"/>
          <a:lstStyle/>
          <a:p>
            <a:pPr indent="0" marL="0">
              <a:buNone/>
            </a:pPr>
            <a:r>
              <a:rPr lang="en-US" sz="1350" dirty="0">
                <a:solidFill>
                  <a:srgbClr val="6E635C"/>
                </a:solidFill>
                <a:latin typeface="Calibri" pitchFamily="34" charset="0"/>
                <a:ea typeface="Calibri" pitchFamily="34" charset="-122"/>
                <a:cs typeface="Calibri" pitchFamily="34" charset="-120"/>
              </a:rPr>
              <a:t>Habits, in the order that compounds fastest.</a:t>
            </a:r>
            <a:endParaRPr lang="en-US" sz="1350" dirty="0"/>
          </a:p>
        </p:txBody>
      </p:sp>
      <p:sp>
        <p:nvSpPr>
          <p:cNvPr id="5" name="Shape 3"/>
          <p:cNvSpPr/>
          <p:nvPr/>
        </p:nvSpPr>
        <p:spPr>
          <a:xfrm>
            <a:off x="566928" y="1847088"/>
            <a:ext cx="2558720" cy="3566160"/>
          </a:xfrm>
          <a:prstGeom prst="roundRect">
            <a:avLst>
              <a:gd name="adj" fmla="val 3216"/>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786384" y="2066544"/>
            <a:ext cx="1298448" cy="402336"/>
          </a:xfrm>
          <a:prstGeom prst="roundRect">
            <a:avLst>
              <a:gd name="adj" fmla="val 18182"/>
            </a:avLst>
          </a:prstGeom>
          <a:solidFill>
            <a:srgbClr val="D97757"/>
          </a:solidFill>
          <a:ln/>
        </p:spPr>
      </p:sp>
      <p:sp>
        <p:nvSpPr>
          <p:cNvPr id="7" name="Text 5"/>
          <p:cNvSpPr txBox="1"/>
          <p:nvPr/>
        </p:nvSpPr>
        <p:spPr>
          <a:xfrm>
            <a:off x="786384" y="2066544"/>
            <a:ext cx="1298448"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Week 1</a:t>
            </a:r>
            <a:endParaRPr lang="en-US" sz="1100" dirty="0"/>
          </a:p>
        </p:txBody>
      </p:sp>
      <p:sp>
        <p:nvSpPr>
          <p:cNvPr id="8" name="Text 6"/>
          <p:cNvSpPr txBox="1"/>
          <p:nvPr/>
        </p:nvSpPr>
        <p:spPr>
          <a:xfrm>
            <a:off x="786384" y="2615184"/>
            <a:ext cx="2119808" cy="292608"/>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Instrument</a:t>
            </a:r>
            <a:endParaRPr lang="en-US" sz="1700" dirty="0"/>
          </a:p>
        </p:txBody>
      </p:sp>
      <p:sp>
        <p:nvSpPr>
          <p:cNvPr id="9" name="Text 7"/>
          <p:cNvSpPr txBox="1"/>
          <p:nvPr/>
        </p:nvSpPr>
        <p:spPr>
          <a:xfrm>
            <a:off x="786384" y="2999232"/>
            <a:ext cx="2119808" cy="2231136"/>
          </a:xfrm>
          <a:prstGeom prst="rect">
            <a:avLst/>
          </a:prstGeom>
          <a:noFill/>
          <a:ln/>
        </p:spPr>
        <p:txBody>
          <a:bodyPr wrap="square" lIns="0" tIns="0" rIns="0" bIns="0" rtlCol="0" anchor="t"/>
          <a:lstStyle/>
          <a:p>
            <a:pPr indent="0" marL="0">
              <a:lnSpc>
                <a:spcPts val="1600"/>
              </a:lnSpc>
              <a:buNone/>
            </a:pPr>
            <a:r>
              <a:rPr lang="en-US" sz="1150" dirty="0">
                <a:solidFill>
                  <a:srgbClr val="6E635C"/>
                </a:solidFill>
                <a:latin typeface="Calibri" pitchFamily="34" charset="0"/>
                <a:ea typeface="Calibri" pitchFamily="34" charset="-122"/>
                <a:cs typeface="Calibri" pitchFamily="34" charset="-120"/>
              </a:rPr>
              <a:t>Run /usage and /context daily until you can predict them. Write a CLAUDE.md with /init and cut it to under 200 lines. Start using /clear between tasks.</a:t>
            </a:r>
            <a:endParaRPr lang="en-US" sz="1150" dirty="0"/>
          </a:p>
        </p:txBody>
      </p:sp>
      <p:sp>
        <p:nvSpPr>
          <p:cNvPr id="10" name="Shape 8"/>
          <p:cNvSpPr/>
          <p:nvPr/>
        </p:nvSpPr>
        <p:spPr>
          <a:xfrm>
            <a:off x="3399968" y="1847088"/>
            <a:ext cx="2558720" cy="3566160"/>
          </a:xfrm>
          <a:prstGeom prst="roundRect">
            <a:avLst>
              <a:gd name="adj" fmla="val 3216"/>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1" name="Shape 9"/>
          <p:cNvSpPr/>
          <p:nvPr/>
        </p:nvSpPr>
        <p:spPr>
          <a:xfrm>
            <a:off x="3619424" y="2066544"/>
            <a:ext cx="1298448" cy="402336"/>
          </a:xfrm>
          <a:prstGeom prst="roundRect">
            <a:avLst>
              <a:gd name="adj" fmla="val 18182"/>
            </a:avLst>
          </a:prstGeom>
          <a:solidFill>
            <a:srgbClr val="4A6B5D"/>
          </a:solidFill>
          <a:ln/>
        </p:spPr>
      </p:sp>
      <p:sp>
        <p:nvSpPr>
          <p:cNvPr id="12" name="Text 10"/>
          <p:cNvSpPr txBox="1"/>
          <p:nvPr/>
        </p:nvSpPr>
        <p:spPr>
          <a:xfrm>
            <a:off x="3619424" y="2066544"/>
            <a:ext cx="1298448"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Week 2</a:t>
            </a:r>
            <a:endParaRPr lang="en-US" sz="1100" dirty="0"/>
          </a:p>
        </p:txBody>
      </p:sp>
      <p:sp>
        <p:nvSpPr>
          <p:cNvPr id="13" name="Text 11"/>
          <p:cNvSpPr txBox="1"/>
          <p:nvPr/>
        </p:nvSpPr>
        <p:spPr>
          <a:xfrm>
            <a:off x="3619424" y="2615184"/>
            <a:ext cx="2119808" cy="292608"/>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Prompt</a:t>
            </a:r>
            <a:endParaRPr lang="en-US" sz="1700" dirty="0"/>
          </a:p>
        </p:txBody>
      </p:sp>
      <p:sp>
        <p:nvSpPr>
          <p:cNvPr id="14" name="Text 12"/>
          <p:cNvSpPr txBox="1"/>
          <p:nvPr/>
        </p:nvSpPr>
        <p:spPr>
          <a:xfrm>
            <a:off x="3619424" y="2999232"/>
            <a:ext cx="2119808" cy="2231136"/>
          </a:xfrm>
          <a:prstGeom prst="rect">
            <a:avLst/>
          </a:prstGeom>
          <a:noFill/>
          <a:ln/>
        </p:spPr>
        <p:txBody>
          <a:bodyPr wrap="square" lIns="0" tIns="0" rIns="0" bIns="0" rtlCol="0" anchor="t"/>
          <a:lstStyle/>
          <a:p>
            <a:pPr indent="0" marL="0">
              <a:lnSpc>
                <a:spcPts val="1600"/>
              </a:lnSpc>
              <a:buNone/>
            </a:pPr>
            <a:r>
              <a:rPr lang="en-US" sz="1150" dirty="0">
                <a:solidFill>
                  <a:srgbClr val="6E635C"/>
                </a:solidFill>
                <a:latin typeface="Calibri" pitchFamily="34" charset="0"/>
                <a:ea typeface="Calibri" pitchFamily="34" charset="-122"/>
                <a:cs typeface="Calibri" pitchFamily="34" charset="-120"/>
              </a:rPr>
              <a:t>Use the five-part structure on every non-trivial request. Enter plan mode before any multi-file change. Keep a note of the prompts that worked.</a:t>
            </a:r>
            <a:endParaRPr lang="en-US" sz="1150" dirty="0"/>
          </a:p>
        </p:txBody>
      </p:sp>
      <p:sp>
        <p:nvSpPr>
          <p:cNvPr id="15" name="Shape 13"/>
          <p:cNvSpPr/>
          <p:nvPr/>
        </p:nvSpPr>
        <p:spPr>
          <a:xfrm>
            <a:off x="6233008" y="1847088"/>
            <a:ext cx="2558720" cy="3566160"/>
          </a:xfrm>
          <a:prstGeom prst="roundRect">
            <a:avLst>
              <a:gd name="adj" fmla="val 3216"/>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16" name="Shape 14"/>
          <p:cNvSpPr/>
          <p:nvPr/>
        </p:nvSpPr>
        <p:spPr>
          <a:xfrm>
            <a:off x="6452464" y="2066544"/>
            <a:ext cx="1298448" cy="402336"/>
          </a:xfrm>
          <a:prstGeom prst="roundRect">
            <a:avLst>
              <a:gd name="adj" fmla="val 18182"/>
            </a:avLst>
          </a:prstGeom>
          <a:solidFill>
            <a:srgbClr val="D97757"/>
          </a:solidFill>
          <a:ln/>
        </p:spPr>
      </p:sp>
      <p:sp>
        <p:nvSpPr>
          <p:cNvPr id="17" name="Text 15"/>
          <p:cNvSpPr txBox="1"/>
          <p:nvPr/>
        </p:nvSpPr>
        <p:spPr>
          <a:xfrm>
            <a:off x="6452464" y="2066544"/>
            <a:ext cx="1298448"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Week 3</a:t>
            </a:r>
            <a:endParaRPr lang="en-US" sz="1100" dirty="0"/>
          </a:p>
        </p:txBody>
      </p:sp>
      <p:sp>
        <p:nvSpPr>
          <p:cNvPr id="18" name="Text 16"/>
          <p:cNvSpPr txBox="1"/>
          <p:nvPr/>
        </p:nvSpPr>
        <p:spPr>
          <a:xfrm>
            <a:off x="6452464" y="2615184"/>
            <a:ext cx="2119808" cy="292608"/>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Test</a:t>
            </a:r>
            <a:endParaRPr lang="en-US" sz="1700" dirty="0"/>
          </a:p>
        </p:txBody>
      </p:sp>
      <p:sp>
        <p:nvSpPr>
          <p:cNvPr id="19" name="Text 17"/>
          <p:cNvSpPr txBox="1"/>
          <p:nvPr/>
        </p:nvSpPr>
        <p:spPr>
          <a:xfrm>
            <a:off x="6452464" y="2999232"/>
            <a:ext cx="2119808" cy="2231136"/>
          </a:xfrm>
          <a:prstGeom prst="rect">
            <a:avLst/>
          </a:prstGeom>
          <a:noFill/>
          <a:ln/>
        </p:spPr>
        <p:txBody>
          <a:bodyPr wrap="square" lIns="0" tIns="0" rIns="0" bIns="0" rtlCol="0" anchor="t"/>
          <a:lstStyle/>
          <a:p>
            <a:pPr indent="0" marL="0">
              <a:lnSpc>
                <a:spcPts val="1600"/>
              </a:lnSpc>
              <a:buNone/>
            </a:pPr>
            <a:r>
              <a:rPr lang="en-US" sz="1150" dirty="0">
                <a:solidFill>
                  <a:srgbClr val="6E635C"/>
                </a:solidFill>
                <a:latin typeface="Calibri" pitchFamily="34" charset="0"/>
                <a:ea typeface="Calibri" pitchFamily="34" charset="-122"/>
                <a:cs typeface="Calibri" pitchFamily="34" charset="-120"/>
              </a:rPr>
              <a:t>Close the gap in this repo: a plan table first, then failing tests for the geofence and KYC rules, then the implementation. Never the other way round.</a:t>
            </a:r>
            <a:endParaRPr lang="en-US" sz="1150" dirty="0"/>
          </a:p>
        </p:txBody>
      </p:sp>
      <p:sp>
        <p:nvSpPr>
          <p:cNvPr id="20" name="Shape 18"/>
          <p:cNvSpPr/>
          <p:nvPr/>
        </p:nvSpPr>
        <p:spPr>
          <a:xfrm>
            <a:off x="9066047" y="1847088"/>
            <a:ext cx="2558720" cy="3566160"/>
          </a:xfrm>
          <a:prstGeom prst="roundRect">
            <a:avLst>
              <a:gd name="adj" fmla="val 3216"/>
            </a:avLst>
          </a:prstGeom>
          <a:solidFill>
            <a:srgbClr val="FFFFFF"/>
          </a:solidFill>
          <a:ln w="12700">
            <a:solidFill>
              <a:srgbClr val="E6E0DA"/>
            </a:solidFill>
            <a:prstDash val="solid"/>
          </a:ln>
          <a:effectLst>
            <a:outerShdw sx="100000" sy="100000" kx="0" ky="0" algn="bl" rotWithShape="0" blurRad="114300" dist="445" dir="5400000">
              <a:srgbClr val="000000">
                <a:alpha val="7000"/>
              </a:srgbClr>
            </a:outerShdw>
          </a:effectLst>
        </p:spPr>
      </p:sp>
      <p:sp>
        <p:nvSpPr>
          <p:cNvPr id="21" name="Shape 19"/>
          <p:cNvSpPr/>
          <p:nvPr/>
        </p:nvSpPr>
        <p:spPr>
          <a:xfrm>
            <a:off x="9285503" y="2066544"/>
            <a:ext cx="1298448" cy="402336"/>
          </a:xfrm>
          <a:prstGeom prst="roundRect">
            <a:avLst>
              <a:gd name="adj" fmla="val 18182"/>
            </a:avLst>
          </a:prstGeom>
          <a:solidFill>
            <a:srgbClr val="4A6B5D"/>
          </a:solidFill>
          <a:ln/>
        </p:spPr>
      </p:sp>
      <p:sp>
        <p:nvSpPr>
          <p:cNvPr id="22" name="Text 20"/>
          <p:cNvSpPr txBox="1"/>
          <p:nvPr/>
        </p:nvSpPr>
        <p:spPr>
          <a:xfrm>
            <a:off x="9285503" y="2066544"/>
            <a:ext cx="1298448"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Week 4</a:t>
            </a:r>
            <a:endParaRPr lang="en-US" sz="1100" dirty="0"/>
          </a:p>
        </p:txBody>
      </p:sp>
      <p:sp>
        <p:nvSpPr>
          <p:cNvPr id="23" name="Text 21"/>
          <p:cNvSpPr txBox="1"/>
          <p:nvPr/>
        </p:nvSpPr>
        <p:spPr>
          <a:xfrm>
            <a:off x="9285503" y="2615184"/>
            <a:ext cx="2119808" cy="292608"/>
          </a:xfrm>
          <a:prstGeom prst="rect">
            <a:avLst/>
          </a:prstGeom>
          <a:noFill/>
          <a:ln/>
        </p:spPr>
        <p:txBody>
          <a:bodyPr wrap="square" lIns="0" tIns="0" rIns="0" bIns="0" rtlCol="0" anchor="ctr"/>
          <a:lstStyle/>
          <a:p>
            <a:pPr indent="0" marL="0">
              <a:buNone/>
            </a:pPr>
            <a:r>
              <a:rPr lang="en-US" sz="1700" b="1" dirty="0">
                <a:solidFill>
                  <a:srgbClr val="1C1917"/>
                </a:solidFill>
                <a:latin typeface="Cambria" pitchFamily="34" charset="0"/>
                <a:ea typeface="Cambria" pitchFamily="34" charset="-122"/>
                <a:cs typeface="Cambria" pitchFamily="34" charset="-120"/>
              </a:rPr>
              <a:t>Systematise</a:t>
            </a:r>
            <a:endParaRPr lang="en-US" sz="1700" dirty="0"/>
          </a:p>
        </p:txBody>
      </p:sp>
      <p:sp>
        <p:nvSpPr>
          <p:cNvPr id="24" name="Text 22"/>
          <p:cNvSpPr txBox="1"/>
          <p:nvPr/>
        </p:nvSpPr>
        <p:spPr>
          <a:xfrm>
            <a:off x="9285503" y="2999232"/>
            <a:ext cx="2119808" cy="2231136"/>
          </a:xfrm>
          <a:prstGeom prst="rect">
            <a:avLst/>
          </a:prstGeom>
          <a:noFill/>
          <a:ln/>
        </p:spPr>
        <p:txBody>
          <a:bodyPr wrap="square" lIns="0" tIns="0" rIns="0" bIns="0" rtlCol="0" anchor="t"/>
          <a:lstStyle/>
          <a:p>
            <a:pPr indent="0" marL="0">
              <a:lnSpc>
                <a:spcPts val="1600"/>
              </a:lnSpc>
              <a:buNone/>
            </a:pPr>
            <a:r>
              <a:rPr lang="en-US" sz="1150" dirty="0">
                <a:solidFill>
                  <a:srgbClr val="6E635C"/>
                </a:solidFill>
                <a:latin typeface="Calibri" pitchFamily="34" charset="0"/>
                <a:ea typeface="Calibri" pitchFamily="34" charset="-122"/>
                <a:cs typeface="Calibri" pitchFamily="34" charset="-120"/>
              </a:rPr>
              <a:t>Turn your best prompts into skills or slash commands. Add a compaction instruction to CLAUDE.md. Review your /usage attribution and drop what is not earning its context.</a:t>
            </a:r>
            <a:endParaRPr lang="en-US" sz="1150" dirty="0"/>
          </a:p>
        </p:txBody>
      </p:sp>
      <p:sp>
        <p:nvSpPr>
          <p:cNvPr id="25" name="Shape 23"/>
          <p:cNvSpPr/>
          <p:nvPr/>
        </p:nvSpPr>
        <p:spPr>
          <a:xfrm>
            <a:off x="566928" y="5577840"/>
            <a:ext cx="11057839" cy="640080"/>
          </a:xfrm>
          <a:prstGeom prst="roundRect">
            <a:avLst>
              <a:gd name="adj" fmla="val 12857"/>
            </a:avLst>
          </a:prstGeom>
          <a:solidFill>
            <a:srgbClr val="1C1917"/>
          </a:solidFill>
          <a:ln w="12700">
            <a:solidFill>
              <a:srgbClr val="1C1917"/>
            </a:solidFill>
            <a:prstDash val="solid"/>
          </a:ln>
          <a:effectLst>
            <a:outerShdw sx="100000" sy="100000" kx="0" ky="0" algn="bl" rotWithShape="0" blurRad="114300" dist="445" dir="5400000">
              <a:srgbClr val="000000">
                <a:alpha val="7000"/>
              </a:srgbClr>
            </a:outerShdw>
          </a:effectLst>
        </p:spPr>
      </p:sp>
      <p:sp>
        <p:nvSpPr>
          <p:cNvPr id="26" name="Text 24"/>
          <p:cNvSpPr txBox="1"/>
          <p:nvPr/>
        </p:nvSpPr>
        <p:spPr>
          <a:xfrm>
            <a:off x="859536" y="5687568"/>
            <a:ext cx="10472623" cy="420624"/>
          </a:xfrm>
          <a:prstGeom prst="rect">
            <a:avLst/>
          </a:prstGeom>
          <a:noFill/>
          <a:ln/>
        </p:spPr>
        <p:txBody>
          <a:bodyPr wrap="square" lIns="0" tIns="0" rIns="0" bIns="0" rtlCol="0" anchor="ctr"/>
          <a:lstStyle/>
          <a:p>
            <a:pPr indent="0" marL="0">
              <a:buNone/>
            </a:pPr>
            <a:r>
              <a:rPr lang="en-US" sz="1400" b="1" dirty="0">
                <a:solidFill>
                  <a:srgbClr val="FAF9F7"/>
                </a:solidFill>
                <a:latin typeface="Calibri" pitchFamily="34" charset="0"/>
                <a:ea typeface="Calibri" pitchFamily="34" charset="-122"/>
                <a:cs typeface="Calibri" pitchFamily="34" charset="-120"/>
              </a:rPr>
              <a:t>Pick one habit per week. Four kept habits beat twelve read once.</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9509760" y="-1828800"/>
            <a:ext cx="5120640" cy="5120640"/>
          </a:xfrm>
          <a:prstGeom prst="ellipse">
            <a:avLst/>
          </a:prstGeom>
          <a:solidFill>
            <a:srgbClr val="2B2320"/>
          </a:solidFill>
          <a:ln/>
        </p:spPr>
      </p:sp>
      <p:sp>
        <p:nvSpPr>
          <p:cNvPr id="3" name="Text 1"/>
          <p:cNvSpPr txBox="1"/>
          <p:nvPr/>
        </p:nvSpPr>
        <p:spPr>
          <a:xfrm>
            <a:off x="566928" y="658368"/>
            <a:ext cx="11057839" cy="274320"/>
          </a:xfrm>
          <a:prstGeom prst="rect">
            <a:avLst/>
          </a:prstGeom>
          <a:noFill/>
          <a:ln/>
        </p:spPr>
        <p:txBody>
          <a:bodyPr wrap="square" lIns="0" tIns="0" rIns="0" bIns="0" rtlCol="0" anchor="ctr"/>
          <a:lstStyle/>
          <a:p>
            <a:pPr indent="0" marL="0">
              <a:buNone/>
            </a:pPr>
            <a:r>
              <a:rPr lang="en-US" sz="1100" b="1" spc="240" kern="0" dirty="0">
                <a:solidFill>
                  <a:srgbClr val="D97757"/>
                </a:solidFill>
                <a:latin typeface="Calibri" pitchFamily="34" charset="0"/>
                <a:ea typeface="Calibri" pitchFamily="34" charset="-122"/>
                <a:cs typeface="Calibri" pitchFamily="34" charset="-120"/>
              </a:rPr>
              <a:t>IN CLOSING</a:t>
            </a:r>
            <a:endParaRPr lang="en-US" sz="1100" dirty="0"/>
          </a:p>
        </p:txBody>
      </p:sp>
      <p:sp>
        <p:nvSpPr>
          <p:cNvPr id="4" name="Text 2"/>
          <p:cNvSpPr txBox="1"/>
          <p:nvPr/>
        </p:nvSpPr>
        <p:spPr>
          <a:xfrm>
            <a:off x="566928" y="950976"/>
            <a:ext cx="8686800" cy="640080"/>
          </a:xfrm>
          <a:prstGeom prst="rect">
            <a:avLst/>
          </a:prstGeom>
          <a:noFill/>
          <a:ln/>
        </p:spPr>
        <p:txBody>
          <a:bodyPr wrap="square" lIns="0" tIns="0" rIns="0" bIns="0" rtlCol="0" anchor="ctr"/>
          <a:lstStyle/>
          <a:p>
            <a:pPr indent="0" marL="0">
              <a:buNone/>
            </a:pPr>
            <a:r>
              <a:rPr lang="en-US" sz="3400" b="1" dirty="0">
                <a:solidFill>
                  <a:srgbClr val="FAF9F7"/>
                </a:solidFill>
                <a:latin typeface="Cambria" pitchFamily="34" charset="0"/>
                <a:ea typeface="Cambria" pitchFamily="34" charset="-122"/>
                <a:cs typeface="Cambria" pitchFamily="34" charset="-120"/>
              </a:rPr>
              <a:t>Six things worth remembering</a:t>
            </a:r>
            <a:endParaRPr lang="en-US" sz="3400" dirty="0"/>
          </a:p>
        </p:txBody>
      </p:sp>
      <p:sp>
        <p:nvSpPr>
          <p:cNvPr id="5" name="Shape 3"/>
          <p:cNvSpPr/>
          <p:nvPr/>
        </p:nvSpPr>
        <p:spPr>
          <a:xfrm>
            <a:off x="566928" y="2048256"/>
            <a:ext cx="3503066" cy="1700784"/>
          </a:xfrm>
          <a:prstGeom prst="roundRect">
            <a:avLst>
              <a:gd name="adj" fmla="val 4839"/>
            </a:avLst>
          </a:prstGeom>
          <a:solidFill>
            <a:srgbClr val="2B2320"/>
          </a:solidFill>
          <a:ln w="12700">
            <a:solidFill>
              <a:srgbClr val="3A312D"/>
            </a:solidFill>
            <a:prstDash val="solid"/>
          </a:ln>
          <a:effectLst>
            <a:outerShdw sx="100000" sy="100000" kx="0" ky="0" algn="bl" rotWithShape="0" blurRad="114300" dist="445" dir="5400000">
              <a:srgbClr val="000000">
                <a:alpha val="7000"/>
              </a:srgbClr>
            </a:outerShdw>
          </a:effectLst>
        </p:spPr>
      </p:sp>
      <p:sp>
        <p:nvSpPr>
          <p:cNvPr id="6" name="Shape 4"/>
          <p:cNvSpPr/>
          <p:nvPr/>
        </p:nvSpPr>
        <p:spPr>
          <a:xfrm>
            <a:off x="804672" y="2286000"/>
            <a:ext cx="365760" cy="365760"/>
          </a:xfrm>
          <a:prstGeom prst="ellipse">
            <a:avLst/>
          </a:prstGeom>
          <a:solidFill>
            <a:srgbClr val="D97757"/>
          </a:solidFill>
          <a:ln w="12700">
            <a:solidFill>
              <a:srgbClr val="D97757"/>
            </a:solidFill>
            <a:prstDash val="solid"/>
          </a:ln>
        </p:spPr>
      </p:sp>
      <p:sp>
        <p:nvSpPr>
          <p:cNvPr id="7" name="Text 5"/>
          <p:cNvSpPr txBox="1"/>
          <p:nvPr/>
        </p:nvSpPr>
        <p:spPr>
          <a:xfrm>
            <a:off x="804672" y="2286000"/>
            <a:ext cx="365760" cy="365760"/>
          </a:xfrm>
          <a:prstGeom prst="rect">
            <a:avLst/>
          </a:prstGeom>
          <a:noFill/>
          <a:ln/>
        </p:spPr>
        <p:txBody>
          <a:bodyPr wrap="square" lIns="0" tIns="0" rIns="0" bIns="0" rtlCol="0" anchor="ctr"/>
          <a:lstStyle/>
          <a:p>
            <a:pPr algn="ctr" indent="0" marL="0">
              <a:buNone/>
            </a:pPr>
            <a:r>
              <a:rPr lang="en-US" sz="1200" b="1" dirty="0">
                <a:solidFill>
                  <a:srgbClr val="1C1917"/>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804672" y="2761488"/>
            <a:ext cx="3027578" cy="274320"/>
          </a:xfrm>
          <a:prstGeom prst="rect">
            <a:avLst/>
          </a:prstGeom>
          <a:noFill/>
          <a:ln/>
        </p:spPr>
        <p:txBody>
          <a:bodyPr wrap="square" lIns="0" tIns="0" rIns="0" bIns="0" rtlCol="0" anchor="ctr"/>
          <a:lstStyle/>
          <a:p>
            <a:pPr indent="0" marL="0">
              <a:buNone/>
            </a:pPr>
            <a:r>
              <a:rPr lang="en-US" sz="1350" b="1" dirty="0">
                <a:solidFill>
                  <a:srgbClr val="D97757"/>
                </a:solidFill>
                <a:latin typeface="Calibri" pitchFamily="34" charset="0"/>
                <a:ea typeface="Calibri" pitchFamily="34" charset="-122"/>
                <a:cs typeface="Calibri" pitchFamily="34" charset="-120"/>
              </a:rPr>
              <a:t>Context is the cost</a:t>
            </a:r>
            <a:endParaRPr lang="en-US" sz="1350" dirty="0"/>
          </a:p>
        </p:txBody>
      </p:sp>
      <p:sp>
        <p:nvSpPr>
          <p:cNvPr id="9" name="Text 7"/>
          <p:cNvSpPr txBox="1"/>
          <p:nvPr/>
        </p:nvSpPr>
        <p:spPr>
          <a:xfrm>
            <a:off x="804672" y="3054096"/>
            <a:ext cx="3027578" cy="566928"/>
          </a:xfrm>
          <a:prstGeom prst="rect">
            <a:avLst/>
          </a:prstGeom>
          <a:noFill/>
          <a:ln/>
        </p:spPr>
        <p:txBody>
          <a:bodyPr wrap="square" lIns="0" tIns="0" rIns="0" bIns="0" rtlCol="0" anchor="ctr"/>
          <a:lstStyle/>
          <a:p>
            <a:pPr indent="0" marL="0">
              <a:lnSpc>
                <a:spcPts val="1500"/>
              </a:lnSpc>
              <a:buNone/>
            </a:pPr>
            <a:r>
              <a:rPr lang="en-US" sz="1150" dirty="0">
                <a:solidFill>
                  <a:srgbClr val="CFC4BC"/>
                </a:solidFill>
                <a:latin typeface="Calibri" pitchFamily="34" charset="0"/>
                <a:ea typeface="Calibri" pitchFamily="34" charset="-122"/>
                <a:cs typeface="Calibri" pitchFamily="34" charset="-120"/>
              </a:rPr>
              <a:t>You pay for the whole conversation on every turn — not for the message you typed.</a:t>
            </a:r>
            <a:endParaRPr lang="en-US" sz="1150" dirty="0"/>
          </a:p>
        </p:txBody>
      </p:sp>
      <p:sp>
        <p:nvSpPr>
          <p:cNvPr id="10" name="Shape 8"/>
          <p:cNvSpPr/>
          <p:nvPr/>
        </p:nvSpPr>
        <p:spPr>
          <a:xfrm>
            <a:off x="4344314" y="2048256"/>
            <a:ext cx="3503066" cy="1700784"/>
          </a:xfrm>
          <a:prstGeom prst="roundRect">
            <a:avLst>
              <a:gd name="adj" fmla="val 4839"/>
            </a:avLst>
          </a:prstGeom>
          <a:solidFill>
            <a:srgbClr val="2B2320"/>
          </a:solidFill>
          <a:ln w="12700">
            <a:solidFill>
              <a:srgbClr val="3A312D"/>
            </a:solidFill>
            <a:prstDash val="solid"/>
          </a:ln>
          <a:effectLst>
            <a:outerShdw sx="100000" sy="100000" kx="0" ky="0" algn="bl" rotWithShape="0" blurRad="114300" dist="445" dir="5400000">
              <a:srgbClr val="000000">
                <a:alpha val="7000"/>
              </a:srgbClr>
            </a:outerShdw>
          </a:effectLst>
        </p:spPr>
      </p:sp>
      <p:sp>
        <p:nvSpPr>
          <p:cNvPr id="11" name="Shape 9"/>
          <p:cNvSpPr/>
          <p:nvPr/>
        </p:nvSpPr>
        <p:spPr>
          <a:xfrm>
            <a:off x="4582058" y="2286000"/>
            <a:ext cx="365760" cy="365760"/>
          </a:xfrm>
          <a:prstGeom prst="ellipse">
            <a:avLst/>
          </a:prstGeom>
          <a:solidFill>
            <a:srgbClr val="D97757"/>
          </a:solidFill>
          <a:ln w="12700">
            <a:solidFill>
              <a:srgbClr val="D97757"/>
            </a:solidFill>
            <a:prstDash val="solid"/>
          </a:ln>
        </p:spPr>
      </p:sp>
      <p:sp>
        <p:nvSpPr>
          <p:cNvPr id="12" name="Text 10"/>
          <p:cNvSpPr txBox="1"/>
          <p:nvPr/>
        </p:nvSpPr>
        <p:spPr>
          <a:xfrm>
            <a:off x="4582058" y="2286000"/>
            <a:ext cx="365760" cy="365760"/>
          </a:xfrm>
          <a:prstGeom prst="rect">
            <a:avLst/>
          </a:prstGeom>
          <a:noFill/>
          <a:ln/>
        </p:spPr>
        <p:txBody>
          <a:bodyPr wrap="square" lIns="0" tIns="0" rIns="0" bIns="0" rtlCol="0" anchor="ctr"/>
          <a:lstStyle/>
          <a:p>
            <a:pPr algn="ctr" indent="0" marL="0">
              <a:buNone/>
            </a:pPr>
            <a:r>
              <a:rPr lang="en-US" sz="1200" b="1" dirty="0">
                <a:solidFill>
                  <a:srgbClr val="1C1917"/>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4582058" y="2761488"/>
            <a:ext cx="3027578" cy="274320"/>
          </a:xfrm>
          <a:prstGeom prst="rect">
            <a:avLst/>
          </a:prstGeom>
          <a:noFill/>
          <a:ln/>
        </p:spPr>
        <p:txBody>
          <a:bodyPr wrap="square" lIns="0" tIns="0" rIns="0" bIns="0" rtlCol="0" anchor="ctr"/>
          <a:lstStyle/>
          <a:p>
            <a:pPr indent="0" marL="0">
              <a:buNone/>
            </a:pPr>
            <a:r>
              <a:rPr lang="en-US" sz="1350" b="1" dirty="0">
                <a:solidFill>
                  <a:srgbClr val="D97757"/>
                </a:solidFill>
                <a:latin typeface="Calibri" pitchFamily="34" charset="0"/>
                <a:ea typeface="Calibri" pitchFamily="34" charset="-122"/>
                <a:cs typeface="Calibri" pitchFamily="34" charset="-120"/>
              </a:rPr>
              <a:t>Clear between tasks</a:t>
            </a:r>
            <a:endParaRPr lang="en-US" sz="1350" dirty="0"/>
          </a:p>
        </p:txBody>
      </p:sp>
      <p:sp>
        <p:nvSpPr>
          <p:cNvPr id="14" name="Text 12"/>
          <p:cNvSpPr txBox="1"/>
          <p:nvPr/>
        </p:nvSpPr>
        <p:spPr>
          <a:xfrm>
            <a:off x="4582058" y="3054096"/>
            <a:ext cx="3027578" cy="566928"/>
          </a:xfrm>
          <a:prstGeom prst="rect">
            <a:avLst/>
          </a:prstGeom>
          <a:noFill/>
          <a:ln/>
        </p:spPr>
        <p:txBody>
          <a:bodyPr wrap="square" lIns="0" tIns="0" rIns="0" bIns="0" rtlCol="0" anchor="ctr"/>
          <a:lstStyle/>
          <a:p>
            <a:pPr indent="0" marL="0">
              <a:lnSpc>
                <a:spcPts val="1500"/>
              </a:lnSpc>
              <a:buNone/>
            </a:pPr>
            <a:r>
              <a:rPr lang="en-US" sz="1150" dirty="0">
                <a:solidFill>
                  <a:srgbClr val="CFC4BC"/>
                </a:solidFill>
                <a:latin typeface="Calibri" pitchFamily="34" charset="0"/>
                <a:ea typeface="Calibri" pitchFamily="34" charset="-122"/>
                <a:cs typeface="Calibri" pitchFamily="34" charset="-120"/>
              </a:rPr>
              <a:t>The cheapest habit with the largest effect. /compact keeps continuity; /clear is free.</a:t>
            </a:r>
            <a:endParaRPr lang="en-US" sz="1150" dirty="0"/>
          </a:p>
        </p:txBody>
      </p:sp>
      <p:sp>
        <p:nvSpPr>
          <p:cNvPr id="15" name="Shape 13"/>
          <p:cNvSpPr/>
          <p:nvPr/>
        </p:nvSpPr>
        <p:spPr>
          <a:xfrm>
            <a:off x="8121701" y="2048256"/>
            <a:ext cx="3503066" cy="1700784"/>
          </a:xfrm>
          <a:prstGeom prst="roundRect">
            <a:avLst>
              <a:gd name="adj" fmla="val 4839"/>
            </a:avLst>
          </a:prstGeom>
          <a:solidFill>
            <a:srgbClr val="2B2320"/>
          </a:solidFill>
          <a:ln w="12700">
            <a:solidFill>
              <a:srgbClr val="3A312D"/>
            </a:solidFill>
            <a:prstDash val="solid"/>
          </a:ln>
          <a:effectLst>
            <a:outerShdw sx="100000" sy="100000" kx="0" ky="0" algn="bl" rotWithShape="0" blurRad="114300" dist="445" dir="5400000">
              <a:srgbClr val="000000">
                <a:alpha val="7000"/>
              </a:srgbClr>
            </a:outerShdw>
          </a:effectLst>
        </p:spPr>
      </p:sp>
      <p:sp>
        <p:nvSpPr>
          <p:cNvPr id="16" name="Shape 14"/>
          <p:cNvSpPr/>
          <p:nvPr/>
        </p:nvSpPr>
        <p:spPr>
          <a:xfrm>
            <a:off x="8359445" y="2286000"/>
            <a:ext cx="365760" cy="365760"/>
          </a:xfrm>
          <a:prstGeom prst="ellipse">
            <a:avLst/>
          </a:prstGeom>
          <a:solidFill>
            <a:srgbClr val="D97757"/>
          </a:solidFill>
          <a:ln w="12700">
            <a:solidFill>
              <a:srgbClr val="D97757"/>
            </a:solidFill>
            <a:prstDash val="solid"/>
          </a:ln>
        </p:spPr>
      </p:sp>
      <p:sp>
        <p:nvSpPr>
          <p:cNvPr id="17" name="Text 15"/>
          <p:cNvSpPr txBox="1"/>
          <p:nvPr/>
        </p:nvSpPr>
        <p:spPr>
          <a:xfrm>
            <a:off x="8359445" y="2286000"/>
            <a:ext cx="365760" cy="365760"/>
          </a:xfrm>
          <a:prstGeom prst="rect">
            <a:avLst/>
          </a:prstGeom>
          <a:noFill/>
          <a:ln/>
        </p:spPr>
        <p:txBody>
          <a:bodyPr wrap="square" lIns="0" tIns="0" rIns="0" bIns="0" rtlCol="0" anchor="ctr"/>
          <a:lstStyle/>
          <a:p>
            <a:pPr algn="ctr" indent="0" marL="0">
              <a:buNone/>
            </a:pPr>
            <a:r>
              <a:rPr lang="en-US" sz="1200" b="1" dirty="0">
                <a:solidFill>
                  <a:srgbClr val="1C1917"/>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8359445" y="2761488"/>
            <a:ext cx="3027578" cy="274320"/>
          </a:xfrm>
          <a:prstGeom prst="rect">
            <a:avLst/>
          </a:prstGeom>
          <a:noFill/>
          <a:ln/>
        </p:spPr>
        <p:txBody>
          <a:bodyPr wrap="square" lIns="0" tIns="0" rIns="0" bIns="0" rtlCol="0" anchor="ctr"/>
          <a:lstStyle/>
          <a:p>
            <a:pPr indent="0" marL="0">
              <a:buNone/>
            </a:pPr>
            <a:r>
              <a:rPr lang="en-US" sz="1350" b="1" dirty="0">
                <a:solidFill>
                  <a:srgbClr val="D97757"/>
                </a:solidFill>
                <a:latin typeface="Calibri" pitchFamily="34" charset="0"/>
                <a:ea typeface="Calibri" pitchFamily="34" charset="-122"/>
                <a:cs typeface="Calibri" pitchFamily="34" charset="-120"/>
              </a:rPr>
              <a:t>Room, not brains</a:t>
            </a:r>
            <a:endParaRPr lang="en-US" sz="1350" dirty="0"/>
          </a:p>
        </p:txBody>
      </p:sp>
      <p:sp>
        <p:nvSpPr>
          <p:cNvPr id="19" name="Text 17"/>
          <p:cNvSpPr txBox="1"/>
          <p:nvPr/>
        </p:nvSpPr>
        <p:spPr>
          <a:xfrm>
            <a:off x="8359445" y="3054096"/>
            <a:ext cx="3027578" cy="566928"/>
          </a:xfrm>
          <a:prstGeom prst="rect">
            <a:avLst/>
          </a:prstGeom>
          <a:noFill/>
          <a:ln/>
        </p:spPr>
        <p:txBody>
          <a:bodyPr wrap="square" lIns="0" tIns="0" rIns="0" bIns="0" rtlCol="0" anchor="ctr"/>
          <a:lstStyle/>
          <a:p>
            <a:pPr indent="0" marL="0">
              <a:lnSpc>
                <a:spcPts val="1500"/>
              </a:lnSpc>
              <a:buNone/>
            </a:pPr>
            <a:r>
              <a:rPr lang="en-US" sz="1150" dirty="0">
                <a:solidFill>
                  <a:srgbClr val="CFC4BC"/>
                </a:solidFill>
                <a:latin typeface="Calibri" pitchFamily="34" charset="0"/>
                <a:ea typeface="Calibri" pitchFamily="34" charset="-122"/>
                <a:cs typeface="Calibri" pitchFamily="34" charset="-120"/>
              </a:rPr>
              <a:t>Premium seats reach the same models and windows. More capacity delays the ceiling; discipline removes it.</a:t>
            </a:r>
            <a:endParaRPr lang="en-US" sz="1150" dirty="0"/>
          </a:p>
        </p:txBody>
      </p:sp>
      <p:sp>
        <p:nvSpPr>
          <p:cNvPr id="20" name="Shape 18"/>
          <p:cNvSpPr/>
          <p:nvPr/>
        </p:nvSpPr>
        <p:spPr>
          <a:xfrm>
            <a:off x="566928" y="4023360"/>
            <a:ext cx="3503066" cy="1700784"/>
          </a:xfrm>
          <a:prstGeom prst="roundRect">
            <a:avLst>
              <a:gd name="adj" fmla="val 4839"/>
            </a:avLst>
          </a:prstGeom>
          <a:solidFill>
            <a:srgbClr val="2B2320"/>
          </a:solidFill>
          <a:ln w="12700">
            <a:solidFill>
              <a:srgbClr val="3A312D"/>
            </a:solidFill>
            <a:prstDash val="solid"/>
          </a:ln>
          <a:effectLst>
            <a:outerShdw sx="100000" sy="100000" kx="0" ky="0" algn="bl" rotWithShape="0" blurRad="114300" dist="445" dir="5400000">
              <a:srgbClr val="000000">
                <a:alpha val="7000"/>
              </a:srgbClr>
            </a:outerShdw>
          </a:effectLst>
        </p:spPr>
      </p:sp>
      <p:sp>
        <p:nvSpPr>
          <p:cNvPr id="21" name="Shape 19"/>
          <p:cNvSpPr/>
          <p:nvPr/>
        </p:nvSpPr>
        <p:spPr>
          <a:xfrm>
            <a:off x="804672" y="4261104"/>
            <a:ext cx="365760" cy="365760"/>
          </a:xfrm>
          <a:prstGeom prst="ellipse">
            <a:avLst/>
          </a:prstGeom>
          <a:solidFill>
            <a:srgbClr val="D97757"/>
          </a:solidFill>
          <a:ln w="12700">
            <a:solidFill>
              <a:srgbClr val="D97757"/>
            </a:solidFill>
            <a:prstDash val="solid"/>
          </a:ln>
        </p:spPr>
      </p:sp>
      <p:sp>
        <p:nvSpPr>
          <p:cNvPr id="22" name="Text 20"/>
          <p:cNvSpPr txBox="1"/>
          <p:nvPr/>
        </p:nvSpPr>
        <p:spPr>
          <a:xfrm>
            <a:off x="804672" y="4261104"/>
            <a:ext cx="365760" cy="365760"/>
          </a:xfrm>
          <a:prstGeom prst="rect">
            <a:avLst/>
          </a:prstGeom>
          <a:noFill/>
          <a:ln/>
        </p:spPr>
        <p:txBody>
          <a:bodyPr wrap="square" lIns="0" tIns="0" rIns="0" bIns="0" rtlCol="0" anchor="ctr"/>
          <a:lstStyle/>
          <a:p>
            <a:pPr algn="ctr" indent="0" marL="0">
              <a:buNone/>
            </a:pPr>
            <a:r>
              <a:rPr lang="en-US" sz="1200" b="1" dirty="0">
                <a:solidFill>
                  <a:srgbClr val="1C1917"/>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804672" y="4736592"/>
            <a:ext cx="3027578" cy="274320"/>
          </a:xfrm>
          <a:prstGeom prst="rect">
            <a:avLst/>
          </a:prstGeom>
          <a:noFill/>
          <a:ln/>
        </p:spPr>
        <p:txBody>
          <a:bodyPr wrap="square" lIns="0" tIns="0" rIns="0" bIns="0" rtlCol="0" anchor="ctr"/>
          <a:lstStyle/>
          <a:p>
            <a:pPr indent="0" marL="0">
              <a:buNone/>
            </a:pPr>
            <a:r>
              <a:rPr lang="en-US" sz="1350" b="1" dirty="0">
                <a:solidFill>
                  <a:srgbClr val="D97757"/>
                </a:solidFill>
                <a:latin typeface="Calibri" pitchFamily="34" charset="0"/>
                <a:ea typeface="Calibri" pitchFamily="34" charset="-122"/>
                <a:cs typeface="Calibri" pitchFamily="34" charset="-120"/>
              </a:rPr>
              <a:t>Specific beats clever</a:t>
            </a:r>
            <a:endParaRPr lang="en-US" sz="1350" dirty="0"/>
          </a:p>
        </p:txBody>
      </p:sp>
      <p:sp>
        <p:nvSpPr>
          <p:cNvPr id="24" name="Text 22"/>
          <p:cNvSpPr txBox="1"/>
          <p:nvPr/>
        </p:nvSpPr>
        <p:spPr>
          <a:xfrm>
            <a:off x="804672" y="5029200"/>
            <a:ext cx="3027578" cy="566928"/>
          </a:xfrm>
          <a:prstGeom prst="rect">
            <a:avLst/>
          </a:prstGeom>
          <a:noFill/>
          <a:ln/>
        </p:spPr>
        <p:txBody>
          <a:bodyPr wrap="square" lIns="0" tIns="0" rIns="0" bIns="0" rtlCol="0" anchor="ctr"/>
          <a:lstStyle/>
          <a:p>
            <a:pPr indent="0" marL="0">
              <a:lnSpc>
                <a:spcPts val="1500"/>
              </a:lnSpc>
              <a:buNone/>
            </a:pPr>
            <a:r>
              <a:rPr lang="en-US" sz="1150" dirty="0">
                <a:solidFill>
                  <a:srgbClr val="CFC4BC"/>
                </a:solidFill>
                <a:latin typeface="Calibri" pitchFamily="34" charset="0"/>
                <a:ea typeface="Calibri" pitchFamily="34" charset="-122"/>
                <a:cs typeface="Calibri" pitchFamily="34" charset="-120"/>
              </a:rPr>
              <a:t>Name the files, state the constraint, describe the output shape. Then let it work.</a:t>
            </a:r>
            <a:endParaRPr lang="en-US" sz="1150" dirty="0"/>
          </a:p>
        </p:txBody>
      </p:sp>
      <p:sp>
        <p:nvSpPr>
          <p:cNvPr id="25" name="Shape 23"/>
          <p:cNvSpPr/>
          <p:nvPr/>
        </p:nvSpPr>
        <p:spPr>
          <a:xfrm>
            <a:off x="4344314" y="4023360"/>
            <a:ext cx="3503066" cy="1700784"/>
          </a:xfrm>
          <a:prstGeom prst="roundRect">
            <a:avLst>
              <a:gd name="adj" fmla="val 4839"/>
            </a:avLst>
          </a:prstGeom>
          <a:solidFill>
            <a:srgbClr val="2B2320"/>
          </a:solidFill>
          <a:ln w="12700">
            <a:solidFill>
              <a:srgbClr val="3A312D"/>
            </a:solidFill>
            <a:prstDash val="solid"/>
          </a:ln>
          <a:effectLst>
            <a:outerShdw sx="100000" sy="100000" kx="0" ky="0" algn="bl" rotWithShape="0" blurRad="114300" dist="445" dir="5400000">
              <a:srgbClr val="000000">
                <a:alpha val="7000"/>
              </a:srgbClr>
            </a:outerShdw>
          </a:effectLst>
        </p:spPr>
      </p:sp>
      <p:sp>
        <p:nvSpPr>
          <p:cNvPr id="26" name="Shape 24"/>
          <p:cNvSpPr/>
          <p:nvPr/>
        </p:nvSpPr>
        <p:spPr>
          <a:xfrm>
            <a:off x="4582058" y="4261104"/>
            <a:ext cx="365760" cy="365760"/>
          </a:xfrm>
          <a:prstGeom prst="ellipse">
            <a:avLst/>
          </a:prstGeom>
          <a:solidFill>
            <a:srgbClr val="D97757"/>
          </a:solidFill>
          <a:ln w="12700">
            <a:solidFill>
              <a:srgbClr val="D97757"/>
            </a:solidFill>
            <a:prstDash val="solid"/>
          </a:ln>
        </p:spPr>
      </p:sp>
      <p:sp>
        <p:nvSpPr>
          <p:cNvPr id="27" name="Text 25"/>
          <p:cNvSpPr txBox="1"/>
          <p:nvPr/>
        </p:nvSpPr>
        <p:spPr>
          <a:xfrm>
            <a:off x="4582058" y="4261104"/>
            <a:ext cx="365760" cy="365760"/>
          </a:xfrm>
          <a:prstGeom prst="rect">
            <a:avLst/>
          </a:prstGeom>
          <a:noFill/>
          <a:ln/>
        </p:spPr>
        <p:txBody>
          <a:bodyPr wrap="square" lIns="0" tIns="0" rIns="0" bIns="0" rtlCol="0" anchor="ctr"/>
          <a:lstStyle/>
          <a:p>
            <a:pPr algn="ctr" indent="0" marL="0">
              <a:buNone/>
            </a:pPr>
            <a:r>
              <a:rPr lang="en-US" sz="1200" b="1" dirty="0">
                <a:solidFill>
                  <a:srgbClr val="1C1917"/>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4582058" y="4736592"/>
            <a:ext cx="3027578" cy="274320"/>
          </a:xfrm>
          <a:prstGeom prst="rect">
            <a:avLst/>
          </a:prstGeom>
          <a:noFill/>
          <a:ln/>
        </p:spPr>
        <p:txBody>
          <a:bodyPr wrap="square" lIns="0" tIns="0" rIns="0" bIns="0" rtlCol="0" anchor="ctr"/>
          <a:lstStyle/>
          <a:p>
            <a:pPr indent="0" marL="0">
              <a:buNone/>
            </a:pPr>
            <a:r>
              <a:rPr lang="en-US" sz="1350" b="1" dirty="0">
                <a:solidFill>
                  <a:srgbClr val="D97757"/>
                </a:solidFill>
                <a:latin typeface="Calibri" pitchFamily="34" charset="0"/>
                <a:ea typeface="Calibri" pitchFamily="34" charset="-122"/>
                <a:cs typeface="Calibri" pitchFamily="34" charset="-120"/>
              </a:rPr>
              <a:t>Plan, then build</a:t>
            </a:r>
            <a:endParaRPr lang="en-US" sz="1350" dirty="0"/>
          </a:p>
        </p:txBody>
      </p:sp>
      <p:sp>
        <p:nvSpPr>
          <p:cNvPr id="29" name="Text 27"/>
          <p:cNvSpPr txBox="1"/>
          <p:nvPr/>
        </p:nvSpPr>
        <p:spPr>
          <a:xfrm>
            <a:off x="4582058" y="5029200"/>
            <a:ext cx="3027578" cy="566928"/>
          </a:xfrm>
          <a:prstGeom prst="rect">
            <a:avLst/>
          </a:prstGeom>
          <a:noFill/>
          <a:ln/>
        </p:spPr>
        <p:txBody>
          <a:bodyPr wrap="square" lIns="0" tIns="0" rIns="0" bIns="0" rtlCol="0" anchor="ctr"/>
          <a:lstStyle/>
          <a:p>
            <a:pPr indent="0" marL="0">
              <a:lnSpc>
                <a:spcPts val="1500"/>
              </a:lnSpc>
              <a:buNone/>
            </a:pPr>
            <a:r>
              <a:rPr lang="en-US" sz="1150" dirty="0">
                <a:solidFill>
                  <a:srgbClr val="CFC4BC"/>
                </a:solidFill>
                <a:latin typeface="Calibri" pitchFamily="34" charset="0"/>
                <a:ea typeface="Calibri" pitchFamily="34" charset="-122"/>
                <a:cs typeface="Calibri" pitchFamily="34" charset="-120"/>
              </a:rPr>
              <a:t>Plan mode before any multi-file change. Rejecting a plan costs one turn; rejecting a build costs ten.</a:t>
            </a:r>
            <a:endParaRPr lang="en-US" sz="1150" dirty="0"/>
          </a:p>
        </p:txBody>
      </p:sp>
      <p:sp>
        <p:nvSpPr>
          <p:cNvPr id="30" name="Shape 28"/>
          <p:cNvSpPr/>
          <p:nvPr/>
        </p:nvSpPr>
        <p:spPr>
          <a:xfrm>
            <a:off x="8121701" y="4023360"/>
            <a:ext cx="3503066" cy="1700784"/>
          </a:xfrm>
          <a:prstGeom prst="roundRect">
            <a:avLst>
              <a:gd name="adj" fmla="val 4839"/>
            </a:avLst>
          </a:prstGeom>
          <a:solidFill>
            <a:srgbClr val="2B2320"/>
          </a:solidFill>
          <a:ln w="12700">
            <a:solidFill>
              <a:srgbClr val="3A312D"/>
            </a:solidFill>
            <a:prstDash val="solid"/>
          </a:ln>
          <a:effectLst>
            <a:outerShdw sx="100000" sy="100000" kx="0" ky="0" algn="bl" rotWithShape="0" blurRad="114300" dist="445" dir="5400000">
              <a:srgbClr val="000000">
                <a:alpha val="7000"/>
              </a:srgbClr>
            </a:outerShdw>
          </a:effectLst>
        </p:spPr>
      </p:sp>
      <p:sp>
        <p:nvSpPr>
          <p:cNvPr id="31" name="Shape 29"/>
          <p:cNvSpPr/>
          <p:nvPr/>
        </p:nvSpPr>
        <p:spPr>
          <a:xfrm>
            <a:off x="8359445" y="4261104"/>
            <a:ext cx="365760" cy="365760"/>
          </a:xfrm>
          <a:prstGeom prst="ellipse">
            <a:avLst/>
          </a:prstGeom>
          <a:solidFill>
            <a:srgbClr val="D97757"/>
          </a:solidFill>
          <a:ln w="12700">
            <a:solidFill>
              <a:srgbClr val="D97757"/>
            </a:solidFill>
            <a:prstDash val="solid"/>
          </a:ln>
        </p:spPr>
      </p:sp>
      <p:sp>
        <p:nvSpPr>
          <p:cNvPr id="32" name="Text 30"/>
          <p:cNvSpPr txBox="1"/>
          <p:nvPr/>
        </p:nvSpPr>
        <p:spPr>
          <a:xfrm>
            <a:off x="8359445" y="4261104"/>
            <a:ext cx="365760" cy="365760"/>
          </a:xfrm>
          <a:prstGeom prst="rect">
            <a:avLst/>
          </a:prstGeom>
          <a:noFill/>
          <a:ln/>
        </p:spPr>
        <p:txBody>
          <a:bodyPr wrap="square" lIns="0" tIns="0" rIns="0" bIns="0" rtlCol="0" anchor="ctr"/>
          <a:lstStyle/>
          <a:p>
            <a:pPr algn="ctr" indent="0" marL="0">
              <a:buNone/>
            </a:pPr>
            <a:r>
              <a:rPr lang="en-US" sz="1200" b="1" dirty="0">
                <a:solidFill>
                  <a:srgbClr val="1C1917"/>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8359445" y="4736592"/>
            <a:ext cx="3027578" cy="274320"/>
          </a:xfrm>
          <a:prstGeom prst="rect">
            <a:avLst/>
          </a:prstGeom>
          <a:noFill/>
          <a:ln/>
        </p:spPr>
        <p:txBody>
          <a:bodyPr wrap="square" lIns="0" tIns="0" rIns="0" bIns="0" rtlCol="0" anchor="ctr"/>
          <a:lstStyle/>
          <a:p>
            <a:pPr indent="0" marL="0">
              <a:buNone/>
            </a:pPr>
            <a:r>
              <a:rPr lang="en-US" sz="1350" b="1" dirty="0">
                <a:solidFill>
                  <a:srgbClr val="D97757"/>
                </a:solidFill>
                <a:latin typeface="Calibri" pitchFamily="34" charset="0"/>
                <a:ea typeface="Calibri" pitchFamily="34" charset="-122"/>
                <a:cs typeface="Calibri" pitchFamily="34" charset="-120"/>
              </a:rPr>
              <a:t>You still sign it off</a:t>
            </a:r>
            <a:endParaRPr lang="en-US" sz="1350" dirty="0"/>
          </a:p>
        </p:txBody>
      </p:sp>
      <p:sp>
        <p:nvSpPr>
          <p:cNvPr id="34" name="Text 32"/>
          <p:cNvSpPr txBox="1"/>
          <p:nvPr/>
        </p:nvSpPr>
        <p:spPr>
          <a:xfrm>
            <a:off x="8359445" y="5029200"/>
            <a:ext cx="3027578" cy="566928"/>
          </a:xfrm>
          <a:prstGeom prst="rect">
            <a:avLst/>
          </a:prstGeom>
          <a:noFill/>
          <a:ln/>
        </p:spPr>
        <p:txBody>
          <a:bodyPr wrap="square" lIns="0" tIns="0" rIns="0" bIns="0" rtlCol="0" anchor="ctr"/>
          <a:lstStyle/>
          <a:p>
            <a:pPr indent="0" marL="0">
              <a:lnSpc>
                <a:spcPts val="1500"/>
              </a:lnSpc>
              <a:buNone/>
            </a:pPr>
            <a:r>
              <a:rPr lang="en-US" sz="1150" dirty="0">
                <a:solidFill>
                  <a:srgbClr val="CFC4BC"/>
                </a:solidFill>
                <a:latin typeface="Calibri" pitchFamily="34" charset="0"/>
                <a:ea typeface="Calibri" pitchFamily="34" charset="-122"/>
                <a:cs typeface="Calibri" pitchFamily="34" charset="-120"/>
              </a:rPr>
              <a:t>Read the diff. Verify the config path. Run the tests yourself. Accountability does not transfer.</a:t>
            </a:r>
            <a:endParaRPr lang="en-US" sz="1150" dirty="0"/>
          </a:p>
        </p:txBody>
      </p:sp>
      <p:sp>
        <p:nvSpPr>
          <p:cNvPr id="35" name="Text 33"/>
          <p:cNvSpPr txBox="1"/>
          <p:nvPr/>
        </p:nvSpPr>
        <p:spPr>
          <a:xfrm>
            <a:off x="566928" y="6108192"/>
            <a:ext cx="11057839" cy="274320"/>
          </a:xfrm>
          <a:prstGeom prst="rect">
            <a:avLst/>
          </a:prstGeom>
          <a:noFill/>
          <a:ln/>
        </p:spPr>
        <p:txBody>
          <a:bodyPr wrap="square" lIns="0" tIns="0" rIns="0" bIns="0" rtlCol="0" anchor="ctr"/>
          <a:lstStyle/>
          <a:p>
            <a:pPr indent="0" marL="0">
              <a:buNone/>
            </a:pPr>
            <a:r>
              <a:rPr lang="en-US" sz="950" i="1" dirty="0">
                <a:solidFill>
                  <a:srgbClr val="7A6E67"/>
                </a:solidFill>
                <a:latin typeface="Calibri" pitchFamily="34" charset="0"/>
                <a:ea typeface="Calibri" pitchFamily="34" charset="-122"/>
                <a:cs typeface="Calibri" pitchFamily="34" charset="-120"/>
              </a:rPr>
              <a:t>Prepared 31 August 2026  ·  Figures on plans and pricing were current at that date — confirm your own with /usage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with Claude and Claude Code</dc:title>
  <dc:subject>PptxGenJS Presentation</dc:subject>
  <dc:creator>Suthishan</dc:creator>
  <cp:lastModifiedBy>Suthishan</cp:lastModifiedBy>
  <cp:revision>1</cp:revision>
  <dcterms:created xsi:type="dcterms:W3CDTF">2026-08-31T19:17:49Z</dcterms:created>
  <dcterms:modified xsi:type="dcterms:W3CDTF">2026-08-31T19:17:49Z</dcterms:modified>
</cp:coreProperties>
</file>